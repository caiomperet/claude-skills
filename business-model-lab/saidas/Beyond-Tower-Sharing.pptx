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76e8d5-3e82-a974-4ea5-43b5436eccae}">
          <p14:sldIdLst>
            <p14:sldId id="256"/>
            <p14:sldId id="257"/>
          </p14:sldIdLst>
        </p14:section>
        <p14:section name="Why tower growth is slowing" id="{dab822b2-376a-2dc8-8d39-c80299efbba0}">
          <p14:sldIdLst>
            <p14:sldId id="258"/>
            <p14:sldId id="259"/>
            <p14:sldId id="260"/>
            <p14:sldId id="261"/>
            <p14:sldId id="262"/>
            <p14:sldId id="263"/>
          </p14:sldIdLst>
        </p14:section>
        <p14:section name="The growth ambition" id="{470db02c-f0ee-4742-f93c-ec3191de9f1a}">
          <p14:sldIdLst>
            <p14:sldId id="264"/>
            <p14:sldId id="265"/>
            <p14:sldId id="266"/>
          </p14:sldIdLst>
        </p14:section>
        <p14:section name="Ideas with transformative potential" id="{501844c2-53bb-c488-856e-5f530f028073}">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Next steps" id="{4186c2e7-f0ae-4ccd-d0ed-3669ed5894cb}">
          <p14:sldIdLst>
            <p14:sldId id="290"/>
            <p14:sldId id="291"/>
            <p14:sldId id="292"/>
            <p14:sldId id="293"/>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Illustrative tower ROI by number of tenants (%)</a:t>
            </a:r>
          </a:p>
        </c:rich>
      </c:tx>
      <c:layout/>
      <c:overlay val="0"/>
    </c:title>
    <c:autoTitleDeleted val="0"/>
    <c:plotArea>
      <c:layout/>
      <c:barChart>
        <c:barDir val="col"/>
        <c:grouping val="clustered"/>
        <c:varyColors val="0"/>
        <c:ser>
          <c:idx val="0"/>
          <c:order val="0"/>
          <c:tx>
            <c:strRef>
              <c:f>Sheet1!$B$1</c:f>
              <c:strCache>
                <c:ptCount val="1"/>
                <c:pt idx="0">
                  <c:v>Tower ROI</c:v>
                </c:pt>
              </c:strCache>
            </c:strRef>
          </c:tx>
          <c:spPr>
            <a:solidFill>
              <a:srgbClr val="F4A300"/>
            </a:solidFill>
            <a:effectLst/>
          </c:spPr>
          <c:invertIfNegative val="0"/>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cat>
            <c:multiLvlStrRef>
              <c:f>Sheet1!$A$2:$A$4</c:f>
              <c:multiLvlStrCache>
                <c:ptCount val="3"/>
                <c:lvl>
                  <c:pt idx="0">
                    <c:v>1 tenant</c:v>
                  </c:pt>
                  <c:pt idx="1">
                    <c:v>2 tenants</c:v>
                  </c:pt>
                  <c:pt idx="2">
                    <c:v>3 tenants</c:v>
                  </c:pt>
                </c:lvl>
              </c:multiLvlStrCache>
            </c:multiLvlStrRef>
          </c:cat>
          <c:val>
            <c:numRef>
              <c:f>Sheet1!$B$2:$B$4</c:f>
              <c:numCache>
                <c:formatCode>General</c:formatCode>
                <c:ptCount val="3"/>
                <c:pt idx="0">
                  <c:v>3</c:v>
                </c:pt>
                <c:pt idx="1">
                  <c:v>13</c:v>
                </c:pt>
                <c:pt idx="2">
                  <c:v>24</c:v>
                </c:pt>
              </c:numCache>
            </c:numRef>
          </c:val>
        </c:ser>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A"/>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DC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Tower REIT share price change since end of 2022 (%)</a:t>
            </a:r>
          </a:p>
        </c:rich>
      </c:tx>
      <c:layout/>
      <c:overlay val="0"/>
    </c:title>
    <c:autoTitleDeleted val="0"/>
    <c:plotArea>
      <c:layout/>
      <c:barChart>
        <c:barDir val="bar"/>
        <c:grouping val="clustered"/>
        <c:varyColors val="0"/>
        <c:ser>
          <c:idx val="0"/>
          <c:order val="0"/>
          <c:tx>
            <c:strRef>
              <c:f>Sheet1!$B$1</c:f>
              <c:strCache>
                <c:ptCount val="1"/>
                <c:pt idx="0">
                  <c:v>Share price change</c:v>
                </c:pt>
              </c:strCache>
            </c:strRef>
          </c:tx>
          <c:spPr>
            <a:solidFill>
              <a:srgbClr val="C8553D"/>
            </a:solidFill>
            <a:effectLst/>
          </c:spPr>
          <c:invertIfNegative val="0"/>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cat>
            <c:multiLvlStrRef>
              <c:f>Sheet1!$A$2:$A$4</c:f>
              <c:multiLvlStrCache>
                <c:ptCount val="3"/>
                <c:lvl>
                  <c:pt idx="0">
                    <c:v>American Tower</c:v>
                  </c:pt>
                  <c:pt idx="1">
                    <c:v>Crown Castle</c:v>
                  </c:pt>
                  <c:pt idx="2">
                    <c:v>SBA</c:v>
                  </c:pt>
                </c:lvl>
              </c:multiLvlStrCache>
            </c:multiLvlStrRef>
          </c:cat>
          <c:val>
            <c:numRef>
              <c:f>Sheet1!$B$2:$B$4</c:f>
              <c:numCache>
                <c:formatCode>General</c:formatCode>
                <c:ptCount val="3"/>
                <c:pt idx="0">
                  <c:v>-2</c:v>
                </c:pt>
                <c:pt idx="1">
                  <c:v>-22</c:v>
                </c:pt>
                <c:pt idx="2">
                  <c:v>-29</c:v>
                </c:pt>
              </c:numCache>
            </c:numRef>
          </c:val>
        </c:ser>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l"/>
        <c:numFmt formatCode="General" sourceLinked="1"/>
        <c:majorTickMark val="out"/>
        <c:minorTickMark val="none"/>
        <c:tickLblPos val="high"/>
        <c:spPr>
          <a:ln w="12700" cap="flat">
            <a:solidFill>
              <a:srgbClr val="888888"/>
            </a:solidFill>
            <a:prstDash val="solid"/>
            <a:round/>
          </a:ln>
        </c:spPr>
        <c:txPr>
          <a:bodyPr/>
          <a:lstStyle/>
          <a:p>
            <a:pPr>
              <a:defRPr sz="13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DCE1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Annual revenue, US$ billions (SBA scale)</a:t>
            </a:r>
          </a:p>
        </c:rich>
      </c:tx>
      <c:layout/>
      <c:overlay val="0"/>
    </c:title>
    <c:autoTitleDeleted val="0"/>
    <c:plotArea>
      <c:layout/>
      <c:barChart>
        <c:barDir val="col"/>
        <c:grouping val="clustered"/>
        <c:varyColors val="0"/>
        <c:ser>
          <c:idx val="0"/>
          <c:order val="0"/>
          <c:tx>
            <c:strRef>
              <c:f>Sheet1!$B$1</c:f>
              <c:strCache>
                <c:ptCount val="1"/>
                <c:pt idx="0">
                  <c:v>Core tower business</c:v>
                </c:pt>
              </c:strCache>
            </c:strRef>
          </c:tx>
          <c:spPr>
            <a:solidFill>
              <a:srgbClr val="8AA1B8"/>
            </a:solidFill>
            <a:effectLst/>
          </c:spPr>
          <c:invertIfNegative val="0"/>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Sheet1!$A$2:$A$5</c:f>
              <c:multiLvlStrCache>
                <c:ptCount val="4"/>
                <c:lvl>
                  <c:pt idx="0">
                    <c:v>Year 3</c:v>
                  </c:pt>
                  <c:pt idx="1">
                    <c:v>Year 5</c:v>
                  </c:pt>
                  <c:pt idx="2">
                    <c:v>Year 8</c:v>
                  </c:pt>
                  <c:pt idx="3">
                    <c:v>Year 12</c:v>
                  </c:pt>
                </c:lvl>
              </c:multiLvlStrCache>
            </c:multiLvlStrRef>
          </c:cat>
          <c:val>
            <c:numRef>
              <c:f>Sheet1!$B$2:$B$5</c:f>
              <c:numCache>
                <c:formatCode>General</c:formatCode>
                <c:ptCount val="4"/>
                <c:pt idx="0">
                  <c:v>3.1</c:v>
                </c:pt>
                <c:pt idx="1">
                  <c:v>3.3</c:v>
                </c:pt>
                <c:pt idx="2">
                  <c:v>3.62</c:v>
                </c:pt>
                <c:pt idx="3">
                  <c:v>4.07</c:v>
                </c:pt>
              </c:numCache>
            </c:numRef>
          </c:val>
        </c:ser>
        <c:ser>
          <c:idx val="1"/>
          <c:order val="1"/>
          <c:tx>
            <c:strRef>
              <c:f>Sheet1!$C$1</c:f>
              <c:strCache>
                <c:ptCount val="1"/>
                <c:pt idx="0">
                  <c:v>New business target</c:v>
                </c:pt>
              </c:strCache>
            </c:strRef>
          </c:tx>
          <c:spPr>
            <a:solidFill>
              <a:srgbClr val="F4A300"/>
            </a:solidFill>
            <a:effectLst/>
          </c:spPr>
          <c:invertIfNegative val="0"/>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Sheet1!$A$2:$A$5</c:f>
              <c:multiLvlStrCache>
                <c:ptCount val="4"/>
                <c:lvl>
                  <c:pt idx="0">
                    <c:v>Year 3</c:v>
                  </c:pt>
                  <c:pt idx="1">
                    <c:v>Year 5</c:v>
                  </c:pt>
                  <c:pt idx="2">
                    <c:v>Year 8</c:v>
                  </c:pt>
                  <c:pt idx="3">
                    <c:v>Year 12</c:v>
                  </c:pt>
                </c:lvl>
              </c:multiLvlStrCache>
            </c:multiLvlStrRef>
          </c:cat>
          <c:val>
            <c:numRef>
              <c:f>Sheet1!$C$2:$C$5</c:f>
              <c:numCache>
                <c:formatCode>General</c:formatCode>
                <c:ptCount val="4"/>
                <c:pt idx="0">
                  <c:v>0.17</c:v>
                </c:pt>
                <c:pt idx="1">
                  <c:v>0.51</c:v>
                </c:pt>
                <c:pt idx="2">
                  <c:v>1.57</c:v>
                </c:pt>
                <c:pt idx="3">
                  <c:v>4.07</c:v>
                </c:pt>
              </c:numCache>
            </c:numRef>
          </c:val>
        </c:ser>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DC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4213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summarizes the study: first the diagnosis of the tower market, then the growth ambition we defined, then the business ideas with the most potential, ordered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tower business is still excellent but no longer a growth engine. The best replacement candidates apply the same playbook (shared asset, long contracts, acquired scale) to new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economics: once a tower is built, each new tenant is almost pure margin. Most of today's scale was acquired from carriers through sale-leasebacks, and the margin took two decades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benefits still exist. What changed is the number of carriers, how much they share among themselves, and their capex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Consolidation and RAN sharing are structural: they permanently reduce tenants per site. The capex cycle and interest rates are cyclical. DISH shows that long contracts protect less than assumed when a tenant exits.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end-2022 the three US tower REITs lagged the market badly. 2026 guidance shows organic growth close to zero once DISH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premise that 5G needs fewer tall towers is only partly true. The tower stays, but growth from it is ending, and the new money is in energy, indoor, edge compute and satellite.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business as large as one that took 30 years is unrealistic in 5. So the target rises in steps. The decisive one is year 5: about half a billion dollars of revenue with 45% or more EBITDA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13 ideas tested, this tension appeared every time. The most promising ideas are those that close the gap: they reuse our assets and customers and have a credible route to scale through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ideas reuse what we already have and can start with low capital. Tier 2 ideas need an acquisition pipeline. Tier 3 ideas are options to keep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purest tower economics of all ideas: no purchase price, minimal capex, high incremental margin. It starts small, so it is the foundation, not the whole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Site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Site platform.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operators' number one pain. Owning the battery layer makes us their energy partner and opens a second customer, the grid, for the same asset.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Energy-as-a-Service.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Energy-as-a-Service.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fit in the review: current customer and a clear acquisition route. A pipeline play: value depends on buying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HubCo.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HubCo.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largest upside but the heaviest capital. The tower lesson that applies is scarcity: whoever controls connected, permitted land controls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Powered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Powered land.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fastest route to scale. Discipline on price and on platform fit with our customers is what makes or breaks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Platform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Platform acquisition.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option on the next technology cycle. Start with a few hubs alongside a carrier anchor and scale only with signed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Edge and AI-RAN hubs.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Edge and AI-RAN hubs.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 if direct-to-device grows, we earn from it. Start with one operator anchor and a shared-compound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pays and the market signals behind Satellite gateways.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precedents and the first steps for Satellite gateways. Figures marked illustrative are working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two low-capital ideas to prove demand and margins, build the acquisition pipeline in parallel, and only commit large capital once pilots confirm the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lstStyle>
            <a:lvl1pPr algn="l" indent="0" marL="0">
              <a:buNone/>
              <a:defRPr lang="en-US" sz="2000" dirty="0">
                <a:solidFill>
                  <a:schemeClr val="accent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Beyond Tower Sharing  |  Business Model Lab</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Beyond Tower Sharing</a:t>
            </a: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nchor="t"/>
          <a:lstStyle/>
          <a:p>
            <a:pPr algn="l" indent="0" marL="0">
              <a:buNone/>
            </a:pPr>
            <a:r>
              <a:rPr lang="en-US" sz="2000" dirty="0">
                <a:solidFill>
                  <a:schemeClr val="accent1"/>
                </a:solidFill>
              </a:rPr>
              <a:t>Why tower growth is slowing, and the business ideas with the most potential to transform the company</a:t>
            </a:r>
            <a:endParaRPr lang="en-US" sz="2000" dirty="0"/>
          </a:p>
        </p:txBody>
      </p:sp>
      <p:sp>
        <p:nvSpPr>
          <p:cNvPr id="4" name="Tower circle"/>
          <p:cNvSpPr/>
          <p:nvPr/>
        </p:nvSpPr>
        <p:spPr>
          <a:xfrm>
            <a:off x="731520" y="822960"/>
            <a:ext cx="914400" cy="914400"/>
          </a:xfrm>
          <a:prstGeom prst="ellipse">
            <a:avLst/>
          </a:prstGeom>
          <a:solidFill>
            <a:srgbClr val="F4A300"/>
          </a:solidFill>
          <a:ln w="12700">
            <a:solidFill>
              <a:srgbClr val="F4A300"/>
            </a:solidFill>
            <a:prstDash val="solid"/>
          </a:ln>
        </p:spPr>
      </p:sp>
      <p:pic>
        <p:nvPicPr>
          <p:cNvPr id="5" name="Tower icon" descr="Tower">    </p:cNvPr>
          <p:cNvPicPr>
            <a:picLocks noChangeAspect="1"/>
          </p:cNvPicPr>
          <p:nvPr/>
        </p:nvPicPr>
        <p:blipFill>
          <a:blip r:embed="rId1"/>
          <a:stretch>
            <a:fillRect/>
          </a:stretch>
        </p:blipFill>
        <p:spPr>
          <a:xfrm>
            <a:off x="960120" y="1051560"/>
            <a:ext cx="457200" cy="457200"/>
          </a:xfrm>
          <a:prstGeom prst="rect">
            <a:avLst/>
          </a:prstGeom>
        </p:spPr>
      </p:pic>
      <p:sp>
        <p:nvSpPr>
          <p:cNvPr id="6" name="Text 3"/>
          <p:cNvSpPr txBox="1"/>
          <p:nvPr/>
        </p:nvSpPr>
        <p:spPr>
          <a:xfrm>
            <a:off x="731520" y="5943600"/>
            <a:ext cx="10515600" cy="365760"/>
          </a:xfrm>
          <a:prstGeom prst="rect">
            <a:avLst/>
          </a:prstGeom>
          <a:noFill/>
          <a:ln/>
        </p:spPr>
        <p:txBody>
          <a:bodyPr wrap="square" lIns="0" tIns="0" rIns="0" bIns="0" rtlCol="0" anchor="t"/>
          <a:lstStyle/>
          <a:p>
            <a:pPr indent="0" marL="0">
              <a:buNone/>
            </a:pPr>
            <a:r>
              <a:rPr lang="en-US" sz="1400" dirty="0">
                <a:solidFill>
                  <a:schemeClr val="accent5"/>
                </a:solidFill>
              </a:rPr>
              <a:t>Strategy study  |  Reference company: SBA Communications (~44k sites, ~US$ 2.85B revenue)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Executive summary</a:t>
            </a:r>
            <a:endParaRPr lang="en-US" sz="2800" dirty="0"/>
          </a:p>
        </p:txBody>
      </p:sp>
      <p:sp>
        <p:nvSpPr>
          <p:cNvPr id="3" name="Summary card 1"/>
          <p:cNvSpPr/>
          <p:nvPr/>
        </p:nvSpPr>
        <p:spPr>
          <a:xfrm>
            <a:off x="548640"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he engine is slowing circle"/>
          <p:cNvSpPr/>
          <p:nvPr/>
        </p:nvSpPr>
        <p:spPr>
          <a:xfrm>
            <a:off x="822960" y="1691640"/>
            <a:ext cx="731520" cy="731520"/>
          </a:xfrm>
          <a:prstGeom prst="ellipse">
            <a:avLst/>
          </a:prstGeom>
          <a:solidFill>
            <a:srgbClr val="14213D"/>
          </a:solidFill>
          <a:ln w="12700">
            <a:solidFill>
              <a:srgbClr val="14213D"/>
            </a:solidFill>
            <a:prstDash val="solid"/>
          </a:ln>
        </p:spPr>
      </p:sp>
      <p:pic>
        <p:nvPicPr>
          <p:cNvPr id="5" name="The engine is slowing icon" descr="The engine is slowi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822960"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The engine is slowing</a:t>
            </a:r>
            <a:endParaRPr lang="en-US" sz="1800" dirty="0"/>
          </a:p>
        </p:txBody>
      </p:sp>
      <p:sp>
        <p:nvSpPr>
          <p:cNvPr id="7" name="Text 4"/>
          <p:cNvSpPr txBox="1"/>
          <p:nvPr/>
        </p:nvSpPr>
        <p:spPr>
          <a:xfrm>
            <a:off x="822960"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Carrier consolidation, RAN sharing, the end of the 5G capex wave and tenant defaults have cut organic tower growth to low single digits.</a:t>
            </a:r>
            <a:endParaRPr lang="en-US" sz="1400" dirty="0"/>
          </a:p>
        </p:txBody>
      </p:sp>
      <p:sp>
        <p:nvSpPr>
          <p:cNvPr id="8" name="Summary card 2"/>
          <p:cNvSpPr/>
          <p:nvPr/>
        </p:nvSpPr>
        <p:spPr>
          <a:xfrm>
            <a:off x="3364992"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5G did not kill the tower circle"/>
          <p:cNvSpPr/>
          <p:nvPr/>
        </p:nvSpPr>
        <p:spPr>
          <a:xfrm>
            <a:off x="3639312" y="1691640"/>
            <a:ext cx="731520" cy="731520"/>
          </a:xfrm>
          <a:prstGeom prst="ellipse">
            <a:avLst/>
          </a:prstGeom>
          <a:solidFill>
            <a:srgbClr val="14213D"/>
          </a:solidFill>
          <a:ln w="12700">
            <a:solidFill>
              <a:srgbClr val="14213D"/>
            </a:solidFill>
            <a:prstDash val="solid"/>
          </a:ln>
        </p:spPr>
      </p:sp>
      <p:pic>
        <p:nvPicPr>
          <p:cNvPr id="10" name="5G did not kill the tower icon" descr="5G did not kill the tower">    </p:cNvPr>
          <p:cNvPicPr>
            <a:picLocks noChangeAspect="1"/>
          </p:cNvPicPr>
          <p:nvPr/>
        </p:nvPicPr>
        <p:blipFill>
          <a:blip r:embed="rId2"/>
          <a:stretch>
            <a:fillRect/>
          </a:stretch>
        </p:blipFill>
        <p:spPr>
          <a:xfrm>
            <a:off x="3822192" y="1874520"/>
            <a:ext cx="365760" cy="365760"/>
          </a:xfrm>
          <a:prstGeom prst="rect">
            <a:avLst/>
          </a:prstGeom>
        </p:spPr>
      </p:pic>
      <p:sp>
        <p:nvSpPr>
          <p:cNvPr id="11" name="Text 7"/>
          <p:cNvSpPr txBox="1"/>
          <p:nvPr/>
        </p:nvSpPr>
        <p:spPr>
          <a:xfrm>
            <a:off x="3639312"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5G did not kill the tower</a:t>
            </a:r>
            <a:endParaRPr lang="en-US" sz="1800" dirty="0"/>
          </a:p>
        </p:txBody>
      </p:sp>
      <p:sp>
        <p:nvSpPr>
          <p:cNvPr id="12" name="Text 8"/>
          <p:cNvSpPr txBox="1"/>
          <p:nvPr/>
        </p:nvSpPr>
        <p:spPr>
          <a:xfrm>
            <a:off x="3639312"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Mid-band 5G runs on existing macro sites. But new demand is moving to energy, indoor, edge compute and non-telecom users.</a:t>
            </a:r>
            <a:endParaRPr lang="en-US" sz="1400" dirty="0"/>
          </a:p>
        </p:txBody>
      </p:sp>
      <p:sp>
        <p:nvSpPr>
          <p:cNvPr id="13" name="Summary card 3"/>
          <p:cNvSpPr/>
          <p:nvPr/>
        </p:nvSpPr>
        <p:spPr>
          <a:xfrm>
            <a:off x="6181344"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he bar is high circle"/>
          <p:cNvSpPr/>
          <p:nvPr/>
        </p:nvSpPr>
        <p:spPr>
          <a:xfrm>
            <a:off x="6455664" y="1691640"/>
            <a:ext cx="731520" cy="731520"/>
          </a:xfrm>
          <a:prstGeom prst="ellipse">
            <a:avLst/>
          </a:prstGeom>
          <a:solidFill>
            <a:srgbClr val="14213D"/>
          </a:solidFill>
          <a:ln w="12700">
            <a:solidFill>
              <a:srgbClr val="14213D"/>
            </a:solidFill>
            <a:prstDash val="solid"/>
          </a:ln>
        </p:spPr>
      </p:sp>
      <p:pic>
        <p:nvPicPr>
          <p:cNvPr id="15" name="The bar is high icon" descr="The bar is high">    </p:cNvPr>
          <p:cNvPicPr>
            <a:picLocks noChangeAspect="1"/>
          </p:cNvPicPr>
          <p:nvPr/>
        </p:nvPicPr>
        <p:blipFill>
          <a:blip r:embed="rId3"/>
          <a:stretch>
            <a:fillRect/>
          </a:stretch>
        </p:blipFill>
        <p:spPr>
          <a:xfrm>
            <a:off x="6638544" y="1874520"/>
            <a:ext cx="365760" cy="365760"/>
          </a:xfrm>
          <a:prstGeom prst="rect">
            <a:avLst/>
          </a:prstGeom>
        </p:spPr>
      </p:pic>
      <p:sp>
        <p:nvSpPr>
          <p:cNvPr id="16" name="Text 11"/>
          <p:cNvSpPr txBox="1"/>
          <p:nvPr/>
        </p:nvSpPr>
        <p:spPr>
          <a:xfrm>
            <a:off x="6455664"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The bar is high</a:t>
            </a:r>
            <a:endParaRPr lang="en-US" sz="1800" dirty="0"/>
          </a:p>
        </p:txBody>
      </p:sp>
      <p:sp>
        <p:nvSpPr>
          <p:cNvPr id="17" name="Text 12"/>
          <p:cNvSpPr txBox="1"/>
          <p:nvPr/>
        </p:nvSpPr>
        <p:spPr>
          <a:xfrm>
            <a:off x="6455664"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To become the main growth engine, a new business needs ~US$ 0.5B revenue by year 5 and tower-like margins over time.</a:t>
            </a:r>
            <a:endParaRPr lang="en-US" sz="1400" dirty="0"/>
          </a:p>
        </p:txBody>
      </p:sp>
      <p:sp>
        <p:nvSpPr>
          <p:cNvPr id="18" name="Summary card 4"/>
          <p:cNvSpPr/>
          <p:nvPr/>
        </p:nvSpPr>
        <p:spPr>
          <a:xfrm>
            <a:off x="8997696"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9" name="Seven ideas stand out circle"/>
          <p:cNvSpPr/>
          <p:nvPr/>
        </p:nvSpPr>
        <p:spPr>
          <a:xfrm>
            <a:off x="9272016" y="1691640"/>
            <a:ext cx="731520" cy="731520"/>
          </a:xfrm>
          <a:prstGeom prst="ellipse">
            <a:avLst/>
          </a:prstGeom>
          <a:solidFill>
            <a:srgbClr val="14213D"/>
          </a:solidFill>
          <a:ln w="12700">
            <a:solidFill>
              <a:srgbClr val="14213D"/>
            </a:solidFill>
            <a:prstDash val="solid"/>
          </a:ln>
        </p:spPr>
      </p:sp>
      <p:pic>
        <p:nvPicPr>
          <p:cNvPr id="20" name="Seven ideas stand out icon" descr="Seven ideas stand out">    </p:cNvPr>
          <p:cNvPicPr>
            <a:picLocks noChangeAspect="1"/>
          </p:cNvPicPr>
          <p:nvPr/>
        </p:nvPicPr>
        <p:blipFill>
          <a:blip r:embed="rId4"/>
          <a:stretch>
            <a:fillRect/>
          </a:stretch>
        </p:blipFill>
        <p:spPr>
          <a:xfrm>
            <a:off x="9454896" y="1874520"/>
            <a:ext cx="365760" cy="365760"/>
          </a:xfrm>
          <a:prstGeom prst="rect">
            <a:avLst/>
          </a:prstGeom>
        </p:spPr>
      </p:pic>
      <p:sp>
        <p:nvSpPr>
          <p:cNvPr id="21" name="Text 15"/>
          <p:cNvSpPr txBox="1"/>
          <p:nvPr/>
        </p:nvSpPr>
        <p:spPr>
          <a:xfrm>
            <a:off x="9272016"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Seven ideas stand out</a:t>
            </a:r>
            <a:endParaRPr lang="en-US" sz="1800" dirty="0"/>
          </a:p>
        </p:txBody>
      </p:sp>
      <p:sp>
        <p:nvSpPr>
          <p:cNvPr id="22" name="Text 16"/>
          <p:cNvSpPr txBox="1"/>
          <p:nvPr/>
        </p:nvSpPr>
        <p:spPr>
          <a:xfrm>
            <a:off x="9272016"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Two to start now, two to build a pipeline for, three to hold as strategic options. All reuse the tower playbook on a new asset.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Why tower growth is slowing</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1  |  The model, what carriers buy, and the headwinds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Shared steel became a 67% margin business</a:t>
            </a:r>
            <a:endParaRPr lang="en-US" sz="2800" dirty="0"/>
          </a:p>
        </p:txBody>
      </p:sp>
      <p:graphicFrame>
        <p:nvGraphicFramePr>
          <p:cNvPr id="3" name="Chart 0" descr=""/>
          <p:cNvGraphicFramePr/>
          <p:nvPr/>
        </p:nvGraphicFramePr>
        <p:xfrm>
          <a:off x="548640" y="137160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4" name="Driver marker 1"/>
          <p:cNvSpPr/>
          <p:nvPr/>
        </p:nvSpPr>
        <p:spPr>
          <a:xfrm>
            <a:off x="5943600" y="1417320"/>
            <a:ext cx="384048" cy="384048"/>
          </a:xfrm>
          <a:prstGeom prst="ellipse">
            <a:avLst/>
          </a:prstGeom>
          <a:solidFill>
            <a:srgbClr val="14213D"/>
          </a:solidFill>
          <a:ln w="12700">
            <a:solidFill>
              <a:srgbClr val="14213D"/>
            </a:solidFill>
            <a:prstDash val="solid"/>
          </a:ln>
        </p:spPr>
      </p:sp>
      <p:sp>
        <p:nvSpPr>
          <p:cNvPr id="5" name="Text 2"/>
          <p:cNvSpPr txBox="1"/>
          <p:nvPr/>
        </p:nvSpPr>
        <p:spPr>
          <a:xfrm>
            <a:off x="5943600" y="141732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6" name="Text 3"/>
          <p:cNvSpPr txBox="1"/>
          <p:nvPr/>
        </p:nvSpPr>
        <p:spPr>
          <a:xfrm>
            <a:off x="6492240" y="1371600"/>
            <a:ext cx="5120640" cy="731520"/>
          </a:xfrm>
          <a:prstGeom prst="rect">
            <a:avLst/>
          </a:prstGeom>
          <a:noFill/>
          <a:ln/>
        </p:spPr>
        <p:txBody>
          <a:bodyPr wrap="square" lIns="0" tIns="0" rIns="0" bIns="0" rtlCol="0" anchor="t"/>
          <a:lstStyle/>
          <a:p>
            <a:pPr indent="0" marL="0">
              <a:buNone/>
            </a:pPr>
            <a:r>
              <a:rPr lang="en-US" sz="1400" b="1" dirty="0">
                <a:solidFill>
                  <a:schemeClr val="tx2"/>
                </a:solidFill>
              </a:rPr>
              <a:t>Near-zero marginal cost</a:t>
            </a:r>
            <a:endParaRPr lang="en-US" sz="1400" dirty="0"/>
          </a:p>
          <a:p>
            <a:pPr indent="0" marL="0">
              <a:buNone/>
            </a:pPr>
            <a:r>
              <a:rPr lang="en-US" sz="1400" dirty="0">
                <a:solidFill>
                  <a:schemeClr val="tx1"/>
                </a:solidFill>
              </a:rPr>
              <a:t>A second or third tenant adds rent with almost no added cost</a:t>
            </a:r>
            <a:endParaRPr lang="en-US" sz="1400" dirty="0"/>
          </a:p>
        </p:txBody>
      </p:sp>
      <p:sp>
        <p:nvSpPr>
          <p:cNvPr id="7" name="Driver marker 2"/>
          <p:cNvSpPr/>
          <p:nvPr/>
        </p:nvSpPr>
        <p:spPr>
          <a:xfrm>
            <a:off x="5943600" y="2176272"/>
            <a:ext cx="384048" cy="384048"/>
          </a:xfrm>
          <a:prstGeom prst="ellipse">
            <a:avLst/>
          </a:prstGeom>
          <a:solidFill>
            <a:srgbClr val="14213D"/>
          </a:solidFill>
          <a:ln w="12700">
            <a:solidFill>
              <a:srgbClr val="14213D"/>
            </a:solidFill>
            <a:prstDash val="solid"/>
          </a:ln>
        </p:spPr>
      </p:sp>
      <p:sp>
        <p:nvSpPr>
          <p:cNvPr id="8" name="Text 5"/>
          <p:cNvSpPr txBox="1"/>
          <p:nvPr/>
        </p:nvSpPr>
        <p:spPr>
          <a:xfrm>
            <a:off x="5943600" y="2176272"/>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9" name="Text 6"/>
          <p:cNvSpPr txBox="1"/>
          <p:nvPr/>
        </p:nvSpPr>
        <p:spPr>
          <a:xfrm>
            <a:off x="6492240" y="2130552"/>
            <a:ext cx="5120640" cy="731520"/>
          </a:xfrm>
          <a:prstGeom prst="rect">
            <a:avLst/>
          </a:prstGeom>
          <a:noFill/>
          <a:ln/>
        </p:spPr>
        <p:txBody>
          <a:bodyPr wrap="square" lIns="0" tIns="0" rIns="0" bIns="0" rtlCol="0" anchor="t"/>
          <a:lstStyle/>
          <a:p>
            <a:pPr indent="0" marL="0">
              <a:buNone/>
            </a:pPr>
            <a:r>
              <a:rPr lang="en-US" sz="1400" b="1" dirty="0">
                <a:solidFill>
                  <a:schemeClr val="tx2"/>
                </a:solidFill>
              </a:rPr>
              <a:t>Long contracts</a:t>
            </a:r>
            <a:endParaRPr lang="en-US" sz="1400" dirty="0"/>
          </a:p>
          <a:p>
            <a:pPr indent="0" marL="0">
              <a:buNone/>
            </a:pPr>
            <a:r>
              <a:rPr lang="en-US" sz="1400" dirty="0">
                <a:solidFill>
                  <a:schemeClr val="tx1"/>
                </a:solidFill>
              </a:rPr>
              <a:t>10 to 15 years with automatic escalators and high exit penalties</a:t>
            </a:r>
            <a:endParaRPr lang="en-US" sz="1400" dirty="0"/>
          </a:p>
        </p:txBody>
      </p:sp>
      <p:sp>
        <p:nvSpPr>
          <p:cNvPr id="10" name="Driver marker 3"/>
          <p:cNvSpPr/>
          <p:nvPr/>
        </p:nvSpPr>
        <p:spPr>
          <a:xfrm>
            <a:off x="5943600" y="2935224"/>
            <a:ext cx="384048" cy="384048"/>
          </a:xfrm>
          <a:prstGeom prst="ellipse">
            <a:avLst/>
          </a:prstGeom>
          <a:solidFill>
            <a:srgbClr val="14213D"/>
          </a:solidFill>
          <a:ln w="12700">
            <a:solidFill>
              <a:srgbClr val="14213D"/>
            </a:solidFill>
            <a:prstDash val="solid"/>
          </a:ln>
        </p:spPr>
      </p:sp>
      <p:sp>
        <p:nvSpPr>
          <p:cNvPr id="11" name="Text 8"/>
          <p:cNvSpPr txBox="1"/>
          <p:nvPr/>
        </p:nvSpPr>
        <p:spPr>
          <a:xfrm>
            <a:off x="5943600" y="2935224"/>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2" name="Text 9"/>
          <p:cNvSpPr txBox="1"/>
          <p:nvPr/>
        </p:nvSpPr>
        <p:spPr>
          <a:xfrm>
            <a:off x="6492240" y="2889504"/>
            <a:ext cx="5120640" cy="731520"/>
          </a:xfrm>
          <a:prstGeom prst="rect">
            <a:avLst/>
          </a:prstGeom>
          <a:noFill/>
          <a:ln/>
        </p:spPr>
        <p:txBody>
          <a:bodyPr wrap="square" lIns="0" tIns="0" rIns="0" bIns="0" rtlCol="0" anchor="t"/>
          <a:lstStyle/>
          <a:p>
            <a:pPr indent="0" marL="0">
              <a:buNone/>
            </a:pPr>
            <a:r>
              <a:rPr lang="en-US" sz="1400" b="1" dirty="0">
                <a:solidFill>
                  <a:schemeClr val="tx2"/>
                </a:solidFill>
              </a:rPr>
              <a:t>High switching cost</a:t>
            </a:r>
            <a:endParaRPr lang="en-US" sz="1400" dirty="0"/>
          </a:p>
          <a:p>
            <a:pPr indent="0" marL="0">
              <a:buNone/>
            </a:pPr>
            <a:r>
              <a:rPr lang="en-US" sz="1400" dirty="0">
                <a:solidFill>
                  <a:schemeClr val="tx1"/>
                </a:solidFill>
              </a:rPr>
              <a:t>Moving means new permits, works and downtime; zoning blocks rivals</a:t>
            </a:r>
            <a:endParaRPr lang="en-US" sz="1400" dirty="0"/>
          </a:p>
        </p:txBody>
      </p:sp>
      <p:sp>
        <p:nvSpPr>
          <p:cNvPr id="13" name="Driver marker 4"/>
          <p:cNvSpPr/>
          <p:nvPr/>
        </p:nvSpPr>
        <p:spPr>
          <a:xfrm>
            <a:off x="5943600" y="3694176"/>
            <a:ext cx="384048" cy="384048"/>
          </a:xfrm>
          <a:prstGeom prst="ellipse">
            <a:avLst/>
          </a:prstGeom>
          <a:solidFill>
            <a:srgbClr val="14213D"/>
          </a:solidFill>
          <a:ln w="12700">
            <a:solidFill>
              <a:srgbClr val="14213D"/>
            </a:solidFill>
            <a:prstDash val="solid"/>
          </a:ln>
        </p:spPr>
      </p:sp>
      <p:sp>
        <p:nvSpPr>
          <p:cNvPr id="14" name="Text 11"/>
          <p:cNvSpPr txBox="1"/>
          <p:nvPr/>
        </p:nvSpPr>
        <p:spPr>
          <a:xfrm>
            <a:off x="5943600" y="3694176"/>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15" name="Text 12"/>
          <p:cNvSpPr txBox="1"/>
          <p:nvPr/>
        </p:nvSpPr>
        <p:spPr>
          <a:xfrm>
            <a:off x="6492240" y="3648456"/>
            <a:ext cx="5120640" cy="731520"/>
          </a:xfrm>
          <a:prstGeom prst="rect">
            <a:avLst/>
          </a:prstGeom>
          <a:noFill/>
          <a:ln/>
        </p:spPr>
        <p:txBody>
          <a:bodyPr wrap="square" lIns="0" tIns="0" rIns="0" bIns="0" rtlCol="0" anchor="t"/>
          <a:lstStyle/>
          <a:p>
            <a:pPr indent="0" marL="0">
              <a:buNone/>
            </a:pPr>
            <a:r>
              <a:rPr lang="en-US" sz="1400" b="1" dirty="0">
                <a:solidFill>
                  <a:schemeClr val="tx2"/>
                </a:solidFill>
              </a:rPr>
              <a:t>Low maintenance capex</a:t>
            </a:r>
            <a:endParaRPr lang="en-US" sz="1400" dirty="0"/>
          </a:p>
          <a:p>
            <a:pPr indent="0" marL="0">
              <a:buNone/>
            </a:pPr>
            <a:r>
              <a:rPr lang="en-US" sz="1400" dirty="0">
                <a:solidFill>
                  <a:schemeClr val="tx1"/>
                </a:solidFill>
              </a:rPr>
              <a:t>Steel lasts decades; the electronics belong to the tenant</a:t>
            </a:r>
            <a:endParaRPr lang="en-US" sz="1400" dirty="0"/>
          </a:p>
        </p:txBody>
      </p:sp>
      <p:sp>
        <p:nvSpPr>
          <p:cNvPr id="16" name="Driver marker 5"/>
          <p:cNvSpPr/>
          <p:nvPr/>
        </p:nvSpPr>
        <p:spPr>
          <a:xfrm>
            <a:off x="5943600" y="4453128"/>
            <a:ext cx="384048" cy="384048"/>
          </a:xfrm>
          <a:prstGeom prst="ellipse">
            <a:avLst/>
          </a:prstGeom>
          <a:solidFill>
            <a:srgbClr val="14213D"/>
          </a:solidFill>
          <a:ln w="12700">
            <a:solidFill>
              <a:srgbClr val="14213D"/>
            </a:solidFill>
            <a:prstDash val="solid"/>
          </a:ln>
        </p:spPr>
      </p:sp>
      <p:sp>
        <p:nvSpPr>
          <p:cNvPr id="17" name="Text 14"/>
          <p:cNvSpPr txBox="1"/>
          <p:nvPr/>
        </p:nvSpPr>
        <p:spPr>
          <a:xfrm>
            <a:off x="5943600" y="4453128"/>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18" name="Text 15"/>
          <p:cNvSpPr txBox="1"/>
          <p:nvPr/>
        </p:nvSpPr>
        <p:spPr>
          <a:xfrm>
            <a:off x="6492240" y="4407408"/>
            <a:ext cx="5120640" cy="731520"/>
          </a:xfrm>
          <a:prstGeom prst="rect">
            <a:avLst/>
          </a:prstGeom>
          <a:noFill/>
          <a:ln/>
        </p:spPr>
        <p:txBody>
          <a:bodyPr wrap="square" lIns="0" tIns="0" rIns="0" bIns="0" rtlCol="0" anchor="t"/>
          <a:lstStyle/>
          <a:p>
            <a:pPr indent="0" marL="0">
              <a:buNone/>
            </a:pPr>
            <a:r>
              <a:rPr lang="en-US" sz="1400" b="1" dirty="0">
                <a:solidFill>
                  <a:schemeClr val="tx2"/>
                </a:solidFill>
              </a:rPr>
              <a:t>Scale was bought</a:t>
            </a:r>
            <a:endParaRPr lang="en-US" sz="1400" dirty="0"/>
          </a:p>
          <a:p>
            <a:pPr indent="0" marL="0">
              <a:buNone/>
            </a:pPr>
            <a:r>
              <a:rPr lang="en-US" sz="1400" dirty="0">
                <a:solidFill>
                  <a:schemeClr val="tx1"/>
                </a:solidFill>
              </a:rPr>
              <a:t>Carriers sold their towers: Verizon 11.4k (2015), AT&amp;T 9.1k (2013), Telxius ~31k (2021)</a:t>
            </a:r>
            <a:endParaRPr lang="en-US" sz="1400" dirty="0"/>
          </a:p>
        </p:txBody>
      </p:sp>
      <p:sp>
        <p:nvSpPr>
          <p:cNvPr id="19" name="Driver marker 6"/>
          <p:cNvSpPr/>
          <p:nvPr/>
        </p:nvSpPr>
        <p:spPr>
          <a:xfrm>
            <a:off x="5943600" y="5212080"/>
            <a:ext cx="384048" cy="384048"/>
          </a:xfrm>
          <a:prstGeom prst="ellipse">
            <a:avLst/>
          </a:prstGeom>
          <a:solidFill>
            <a:srgbClr val="14213D"/>
          </a:solidFill>
          <a:ln w="12700">
            <a:solidFill>
              <a:srgbClr val="14213D"/>
            </a:solidFill>
            <a:prstDash val="solid"/>
          </a:ln>
        </p:spPr>
      </p:sp>
      <p:sp>
        <p:nvSpPr>
          <p:cNvPr id="20" name="Text 17"/>
          <p:cNvSpPr txBox="1"/>
          <p:nvPr/>
        </p:nvSpPr>
        <p:spPr>
          <a:xfrm>
            <a:off x="5943600" y="521208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21" name="Text 18"/>
          <p:cNvSpPr txBox="1"/>
          <p:nvPr/>
        </p:nvSpPr>
        <p:spPr>
          <a:xfrm>
            <a:off x="6492240" y="5166360"/>
            <a:ext cx="5120640" cy="731520"/>
          </a:xfrm>
          <a:prstGeom prst="rect">
            <a:avLst/>
          </a:prstGeom>
          <a:noFill/>
          <a:ln/>
        </p:spPr>
        <p:txBody>
          <a:bodyPr wrap="square" lIns="0" tIns="0" rIns="0" bIns="0" rtlCol="0" anchor="t"/>
          <a:lstStyle/>
          <a:p>
            <a:pPr indent="0" marL="0">
              <a:buNone/>
            </a:pPr>
            <a:r>
              <a:rPr lang="en-US" sz="1400" b="1" dirty="0">
                <a:solidFill>
                  <a:schemeClr val="tx2"/>
                </a:solidFill>
              </a:rPr>
              <a:t>Margin came with time</a:t>
            </a:r>
            <a:endParaRPr lang="en-US" sz="1400" dirty="0"/>
          </a:p>
          <a:p>
            <a:pPr indent="0" marL="0">
              <a:buNone/>
            </a:pPr>
            <a:r>
              <a:rPr lang="en-US" sz="1400" dirty="0">
                <a:solidFill>
                  <a:schemeClr val="tx1"/>
                </a:solidFill>
              </a:rPr>
              <a:t>In 2002 American Tower traded below US$ 1; tenancy built today's margin</a:t>
            </a:r>
            <a:endParaRPr lang="en-US" sz="1400" dirty="0"/>
          </a:p>
        </p:txBody>
      </p:sp>
      <p:sp>
        <p:nvSpPr>
          <p:cNvPr id="22" name="Text 19"/>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tower investing guides; SEC filings of American Tower (2015, 2021); AT&amp;T/Crown Castle deal (2013); American Tower 2025 results (67.0% adj. EBITDA margin).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carriers embraced tower sharing</a:t>
            </a:r>
            <a:endParaRPr lang="en-US" sz="2800" dirty="0"/>
          </a:p>
        </p:txBody>
      </p:sp>
      <p:sp>
        <p:nvSpPr>
          <p:cNvPr id="3" name="Benefit card 1"/>
          <p:cNvSpPr/>
          <p:nvPr/>
        </p:nvSpPr>
        <p:spPr>
          <a:xfrm>
            <a:off x="54864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Unlock capital circle"/>
          <p:cNvSpPr/>
          <p:nvPr/>
        </p:nvSpPr>
        <p:spPr>
          <a:xfrm>
            <a:off x="777240" y="1645920"/>
            <a:ext cx="640080" cy="640080"/>
          </a:xfrm>
          <a:prstGeom prst="ellipse">
            <a:avLst/>
          </a:prstGeom>
          <a:solidFill>
            <a:srgbClr val="2A9D8F"/>
          </a:solidFill>
          <a:ln w="12700">
            <a:solidFill>
              <a:srgbClr val="2A9D8F"/>
            </a:solidFill>
            <a:prstDash val="solid"/>
          </a:ln>
        </p:spPr>
      </p:sp>
      <p:pic>
        <p:nvPicPr>
          <p:cNvPr id="5" name="Unlock capital icon" descr="Unlock capital">    </p:cNvPr>
          <p:cNvPicPr>
            <a:picLocks noChangeAspect="1"/>
          </p:cNvPicPr>
          <p:nvPr/>
        </p:nvPicPr>
        <p:blipFill>
          <a:blip r:embed="rId1"/>
          <a:stretch>
            <a:fillRect/>
          </a:stretch>
        </p:blipFill>
        <p:spPr>
          <a:xfrm>
            <a:off x="937260" y="1805940"/>
            <a:ext cx="320040" cy="320040"/>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Unlock capital</a:t>
            </a:r>
            <a:endParaRPr lang="en-US" sz="1800" dirty="0"/>
          </a:p>
        </p:txBody>
      </p:sp>
      <p:sp>
        <p:nvSpPr>
          <p:cNvPr id="7" name="Text 4"/>
          <p:cNvSpPr txBox="1"/>
          <p:nvPr/>
        </p:nvSpPr>
        <p:spPr>
          <a:xfrm>
            <a:off x="77724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Selling towers funds spectrum, debt reduction and network upgrades</a:t>
            </a:r>
            <a:endParaRPr lang="en-US" sz="1400" dirty="0"/>
          </a:p>
        </p:txBody>
      </p:sp>
      <p:sp>
        <p:nvSpPr>
          <p:cNvPr id="8" name="Benefit card 2"/>
          <p:cNvSpPr/>
          <p:nvPr/>
        </p:nvSpPr>
        <p:spPr>
          <a:xfrm>
            <a:off x="429768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Focus on the core circle"/>
          <p:cNvSpPr/>
          <p:nvPr/>
        </p:nvSpPr>
        <p:spPr>
          <a:xfrm>
            <a:off x="4526280" y="1645920"/>
            <a:ext cx="640080" cy="640080"/>
          </a:xfrm>
          <a:prstGeom prst="ellipse">
            <a:avLst/>
          </a:prstGeom>
          <a:solidFill>
            <a:srgbClr val="2A9D8F"/>
          </a:solidFill>
          <a:ln w="12700">
            <a:solidFill>
              <a:srgbClr val="2A9D8F"/>
            </a:solidFill>
            <a:prstDash val="solid"/>
          </a:ln>
        </p:spPr>
      </p:sp>
      <p:pic>
        <p:nvPicPr>
          <p:cNvPr id="10" name="Focus on the core icon" descr="Focus on the core">    </p:cNvPr>
          <p:cNvPicPr>
            <a:picLocks noChangeAspect="1"/>
          </p:cNvPicPr>
          <p:nvPr/>
        </p:nvPicPr>
        <p:blipFill>
          <a:blip r:embed="rId2"/>
          <a:stretch>
            <a:fillRect/>
          </a:stretch>
        </p:blipFill>
        <p:spPr>
          <a:xfrm>
            <a:off x="4686300" y="1805940"/>
            <a:ext cx="320040" cy="320040"/>
          </a:xfrm>
          <a:prstGeom prst="rect">
            <a:avLst/>
          </a:prstGeom>
        </p:spPr>
      </p:pic>
      <p:sp>
        <p:nvSpPr>
          <p:cNvPr id="11" name="Text 7"/>
          <p:cNvSpPr txBox="1"/>
          <p:nvPr/>
        </p:nvSpPr>
        <p:spPr>
          <a:xfrm>
            <a:off x="530352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Focus on the core</a:t>
            </a:r>
            <a:endParaRPr lang="en-US" sz="1800" dirty="0"/>
          </a:p>
        </p:txBody>
      </p:sp>
      <p:sp>
        <p:nvSpPr>
          <p:cNvPr id="12" name="Text 8"/>
          <p:cNvSpPr txBox="1"/>
          <p:nvPr/>
        </p:nvSpPr>
        <p:spPr>
          <a:xfrm>
            <a:off x="452628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Customers, spectrum and network, not land, permits and power</a:t>
            </a:r>
            <a:endParaRPr lang="en-US" sz="1400" dirty="0"/>
          </a:p>
        </p:txBody>
      </p:sp>
      <p:sp>
        <p:nvSpPr>
          <p:cNvPr id="13" name="Benefit card 3"/>
          <p:cNvSpPr/>
          <p:nvPr/>
        </p:nvSpPr>
        <p:spPr>
          <a:xfrm>
            <a:off x="804672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Lower cost circle"/>
          <p:cNvSpPr/>
          <p:nvPr/>
        </p:nvSpPr>
        <p:spPr>
          <a:xfrm>
            <a:off x="8275320" y="1645920"/>
            <a:ext cx="640080" cy="640080"/>
          </a:xfrm>
          <a:prstGeom prst="ellipse">
            <a:avLst/>
          </a:prstGeom>
          <a:solidFill>
            <a:srgbClr val="2A9D8F"/>
          </a:solidFill>
          <a:ln w="12700">
            <a:solidFill>
              <a:srgbClr val="2A9D8F"/>
            </a:solidFill>
            <a:prstDash val="solid"/>
          </a:ln>
        </p:spPr>
      </p:sp>
      <p:pic>
        <p:nvPicPr>
          <p:cNvPr id="15" name="Lower cost icon" descr="Lower cost">    </p:cNvPr>
          <p:cNvPicPr>
            <a:picLocks noChangeAspect="1"/>
          </p:cNvPicPr>
          <p:nvPr/>
        </p:nvPicPr>
        <p:blipFill>
          <a:blip r:embed="rId3"/>
          <a:stretch>
            <a:fillRect/>
          </a:stretch>
        </p:blipFill>
        <p:spPr>
          <a:xfrm>
            <a:off x="8435340" y="1805940"/>
            <a:ext cx="320040" cy="320040"/>
          </a:xfrm>
          <a:prstGeom prst="rect">
            <a:avLst/>
          </a:prstGeom>
        </p:spPr>
      </p:pic>
      <p:sp>
        <p:nvSpPr>
          <p:cNvPr id="16" name="Text 11"/>
          <p:cNvSpPr txBox="1"/>
          <p:nvPr/>
        </p:nvSpPr>
        <p:spPr>
          <a:xfrm>
            <a:off x="905256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Lower cost</a:t>
            </a:r>
            <a:endParaRPr lang="en-US" sz="1800" dirty="0"/>
          </a:p>
        </p:txBody>
      </p:sp>
      <p:sp>
        <p:nvSpPr>
          <p:cNvPr id="17" name="Text 12"/>
          <p:cNvSpPr txBox="1"/>
          <p:nvPr/>
        </p:nvSpPr>
        <p:spPr>
          <a:xfrm>
            <a:off x="827532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Energy, ground rent and maintenance split among competitors</a:t>
            </a:r>
            <a:endParaRPr lang="en-US" sz="1400" dirty="0"/>
          </a:p>
        </p:txBody>
      </p:sp>
      <p:sp>
        <p:nvSpPr>
          <p:cNvPr id="18" name="Benefit card 4"/>
          <p:cNvSpPr/>
          <p:nvPr/>
        </p:nvSpPr>
        <p:spPr>
          <a:xfrm>
            <a:off x="54864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9" name="Faster rollout circle"/>
          <p:cNvSpPr/>
          <p:nvPr/>
        </p:nvSpPr>
        <p:spPr>
          <a:xfrm>
            <a:off x="777240" y="3977640"/>
            <a:ext cx="640080" cy="640080"/>
          </a:xfrm>
          <a:prstGeom prst="ellipse">
            <a:avLst/>
          </a:prstGeom>
          <a:solidFill>
            <a:srgbClr val="2A9D8F"/>
          </a:solidFill>
          <a:ln w="12700">
            <a:solidFill>
              <a:srgbClr val="2A9D8F"/>
            </a:solidFill>
            <a:prstDash val="solid"/>
          </a:ln>
        </p:spPr>
      </p:sp>
      <p:pic>
        <p:nvPicPr>
          <p:cNvPr id="20" name="Faster rollout icon" descr="Faster rollout">    </p:cNvPr>
          <p:cNvPicPr>
            <a:picLocks noChangeAspect="1"/>
          </p:cNvPicPr>
          <p:nvPr/>
        </p:nvPicPr>
        <p:blipFill>
          <a:blip r:embed="rId4"/>
          <a:stretch>
            <a:fillRect/>
          </a:stretch>
        </p:blipFill>
        <p:spPr>
          <a:xfrm>
            <a:off x="937260" y="4137660"/>
            <a:ext cx="320040" cy="320040"/>
          </a:xfrm>
          <a:prstGeom prst="rect">
            <a:avLst/>
          </a:prstGeom>
        </p:spPr>
      </p:pic>
      <p:sp>
        <p:nvSpPr>
          <p:cNvPr id="21" name="Text 15"/>
          <p:cNvSpPr txBox="1"/>
          <p:nvPr/>
        </p:nvSpPr>
        <p:spPr>
          <a:xfrm>
            <a:off x="155448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Faster rollout</a:t>
            </a:r>
            <a:endParaRPr lang="en-US" sz="1800" dirty="0"/>
          </a:p>
        </p:txBody>
      </p:sp>
      <p:sp>
        <p:nvSpPr>
          <p:cNvPr id="22" name="Text 16"/>
          <p:cNvSpPr txBox="1"/>
          <p:nvPr/>
        </p:nvSpPr>
        <p:spPr>
          <a:xfrm>
            <a:off x="77724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Existing sites in weeks instead of months of permits; sharing cuts 5G rollout cost by 40%+</a:t>
            </a:r>
            <a:endParaRPr lang="en-US" sz="1400" dirty="0"/>
          </a:p>
        </p:txBody>
      </p:sp>
      <p:sp>
        <p:nvSpPr>
          <p:cNvPr id="23" name="Benefit card 5"/>
          <p:cNvSpPr/>
          <p:nvPr/>
        </p:nvSpPr>
        <p:spPr>
          <a:xfrm>
            <a:off x="429768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4" name="Better financials circle"/>
          <p:cNvSpPr/>
          <p:nvPr/>
        </p:nvSpPr>
        <p:spPr>
          <a:xfrm>
            <a:off x="4526280" y="3977640"/>
            <a:ext cx="640080" cy="640080"/>
          </a:xfrm>
          <a:prstGeom prst="ellipse">
            <a:avLst/>
          </a:prstGeom>
          <a:solidFill>
            <a:srgbClr val="2A9D8F"/>
          </a:solidFill>
          <a:ln w="12700">
            <a:solidFill>
              <a:srgbClr val="2A9D8F"/>
            </a:solidFill>
            <a:prstDash val="solid"/>
          </a:ln>
        </p:spPr>
      </p:sp>
      <p:pic>
        <p:nvPicPr>
          <p:cNvPr id="25" name="Better financials icon" descr="Better financials">    </p:cNvPr>
          <p:cNvPicPr>
            <a:picLocks noChangeAspect="1"/>
          </p:cNvPicPr>
          <p:nvPr/>
        </p:nvPicPr>
        <p:blipFill>
          <a:blip r:embed="rId5"/>
          <a:stretch>
            <a:fillRect/>
          </a:stretch>
        </p:blipFill>
        <p:spPr>
          <a:xfrm>
            <a:off x="4686300" y="4137660"/>
            <a:ext cx="320040" cy="320040"/>
          </a:xfrm>
          <a:prstGeom prst="rect">
            <a:avLst/>
          </a:prstGeom>
        </p:spPr>
      </p:pic>
      <p:sp>
        <p:nvSpPr>
          <p:cNvPr id="26" name="Text 19"/>
          <p:cNvSpPr txBox="1"/>
          <p:nvPr/>
        </p:nvSpPr>
        <p:spPr>
          <a:xfrm>
            <a:off x="530352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Better financials</a:t>
            </a:r>
            <a:endParaRPr lang="en-US" sz="1800" dirty="0"/>
          </a:p>
        </p:txBody>
      </p:sp>
      <p:sp>
        <p:nvSpPr>
          <p:cNvPr id="27" name="Text 20"/>
          <p:cNvSpPr txBox="1"/>
          <p:nvPr/>
        </p:nvSpPr>
        <p:spPr>
          <a:xfrm>
            <a:off x="452628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Capex turns into opex, sold at high EBITDA multiples</a:t>
            </a:r>
            <a:endParaRPr lang="en-US" sz="1400" dirty="0"/>
          </a:p>
        </p:txBody>
      </p:sp>
      <p:sp>
        <p:nvSpPr>
          <p:cNvPr id="28" name="Benefit card 6"/>
          <p:cNvSpPr/>
          <p:nvPr/>
        </p:nvSpPr>
        <p:spPr>
          <a:xfrm>
            <a:off x="804672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9" name="Regulatory push circle"/>
          <p:cNvSpPr/>
          <p:nvPr/>
        </p:nvSpPr>
        <p:spPr>
          <a:xfrm>
            <a:off x="8275320" y="3977640"/>
            <a:ext cx="640080" cy="640080"/>
          </a:xfrm>
          <a:prstGeom prst="ellipse">
            <a:avLst/>
          </a:prstGeom>
          <a:solidFill>
            <a:srgbClr val="2A9D8F"/>
          </a:solidFill>
          <a:ln w="12700">
            <a:solidFill>
              <a:srgbClr val="2A9D8F"/>
            </a:solidFill>
            <a:prstDash val="solid"/>
          </a:ln>
        </p:spPr>
      </p:sp>
      <p:pic>
        <p:nvPicPr>
          <p:cNvPr id="30" name="Regulatory push icon" descr="Regulatory push">    </p:cNvPr>
          <p:cNvPicPr>
            <a:picLocks noChangeAspect="1"/>
          </p:cNvPicPr>
          <p:nvPr/>
        </p:nvPicPr>
        <p:blipFill>
          <a:blip r:embed="rId6"/>
          <a:stretch>
            <a:fillRect/>
          </a:stretch>
        </p:blipFill>
        <p:spPr>
          <a:xfrm>
            <a:off x="8435340" y="4137660"/>
            <a:ext cx="320040" cy="320040"/>
          </a:xfrm>
          <a:prstGeom prst="rect">
            <a:avLst/>
          </a:prstGeom>
        </p:spPr>
      </p:pic>
      <p:sp>
        <p:nvSpPr>
          <p:cNvPr id="31" name="Text 23"/>
          <p:cNvSpPr txBox="1"/>
          <p:nvPr/>
        </p:nvSpPr>
        <p:spPr>
          <a:xfrm>
            <a:off x="905256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Regulatory push</a:t>
            </a:r>
            <a:endParaRPr lang="en-US" sz="1800" dirty="0"/>
          </a:p>
        </p:txBody>
      </p:sp>
      <p:sp>
        <p:nvSpPr>
          <p:cNvPr id="32" name="Text 24"/>
          <p:cNvSpPr txBox="1"/>
          <p:nvPr/>
        </p:nvSpPr>
        <p:spPr>
          <a:xfrm>
            <a:off x="827532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Mandatory sharing rules and hard-to-permit new towers favor incumbents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forces are slowing tower growth</a:t>
            </a:r>
            <a:endParaRPr lang="en-US" sz="2800" dirty="0"/>
          </a:p>
        </p:txBody>
      </p:sp>
      <p:sp>
        <p:nvSpPr>
          <p:cNvPr id="3" name="Carrier consolidation circle"/>
          <p:cNvSpPr/>
          <p:nvPr/>
        </p:nvSpPr>
        <p:spPr>
          <a:xfrm>
            <a:off x="548640" y="1417320"/>
            <a:ext cx="640080" cy="640080"/>
          </a:xfrm>
          <a:prstGeom prst="ellipse">
            <a:avLst/>
          </a:prstGeom>
          <a:solidFill>
            <a:srgbClr val="C8553D"/>
          </a:solidFill>
          <a:ln w="12700">
            <a:solidFill>
              <a:srgbClr val="C8553D"/>
            </a:solidFill>
            <a:prstDash val="solid"/>
          </a:ln>
        </p:spPr>
      </p:sp>
      <p:pic>
        <p:nvPicPr>
          <p:cNvPr id="4" name="Carrier consolidation icon" descr="Carrier consolidation">    </p:cNvPr>
          <p:cNvPicPr>
            <a:picLocks noChangeAspect="1"/>
          </p:cNvPicPr>
          <p:nvPr/>
        </p:nvPicPr>
        <p:blipFill>
          <a:blip r:embed="rId1"/>
          <a:stretch>
            <a:fillRect/>
          </a:stretch>
        </p:blipFill>
        <p:spPr>
          <a:xfrm>
            <a:off x="708660" y="1577340"/>
            <a:ext cx="320040" cy="320040"/>
          </a:xfrm>
          <a:prstGeom prst="rect">
            <a:avLst/>
          </a:prstGeom>
        </p:spPr>
      </p:pic>
      <p:sp>
        <p:nvSpPr>
          <p:cNvPr id="5" name="Text 2"/>
          <p:cNvSpPr txBox="1"/>
          <p:nvPr/>
        </p:nvSpPr>
        <p:spPr>
          <a:xfrm>
            <a:off x="1371600" y="1371600"/>
            <a:ext cx="4572000" cy="1097280"/>
          </a:xfrm>
          <a:prstGeom prst="rect">
            <a:avLst/>
          </a:prstGeom>
          <a:noFill/>
          <a:ln/>
        </p:spPr>
        <p:txBody>
          <a:bodyPr wrap="square" lIns="0" tIns="0" rIns="0" bIns="0" rtlCol="0" anchor="t"/>
          <a:lstStyle/>
          <a:p>
            <a:pPr indent="0" marL="0">
              <a:buNone/>
            </a:pPr>
            <a:r>
              <a:rPr lang="en-US" sz="1400" b="1" dirty="0">
                <a:solidFill>
                  <a:schemeClr val="tx2"/>
                </a:solidFill>
              </a:rPr>
              <a:t>Carrier consolidation</a:t>
            </a:r>
            <a:endParaRPr lang="en-US" sz="1400" dirty="0"/>
          </a:p>
          <a:p>
            <a:pPr indent="0" marL="0">
              <a:buNone/>
            </a:pPr>
            <a:r>
              <a:rPr lang="en-US" sz="1400" dirty="0">
                <a:solidFill>
                  <a:schemeClr val="tx1"/>
                </a:solidFill>
              </a:rPr>
              <a:t>Fewer carriers means fewer tenants per tower; overlapping sites are shut down</a:t>
            </a:r>
            <a:endParaRPr lang="en-US" sz="1400" dirty="0"/>
          </a:p>
        </p:txBody>
      </p:sp>
      <p:sp>
        <p:nvSpPr>
          <p:cNvPr id="6" name="Active RAN sharing circle"/>
          <p:cNvSpPr/>
          <p:nvPr/>
        </p:nvSpPr>
        <p:spPr>
          <a:xfrm>
            <a:off x="6172200" y="1417320"/>
            <a:ext cx="640080" cy="640080"/>
          </a:xfrm>
          <a:prstGeom prst="ellipse">
            <a:avLst/>
          </a:prstGeom>
          <a:solidFill>
            <a:srgbClr val="C8553D"/>
          </a:solidFill>
          <a:ln w="12700">
            <a:solidFill>
              <a:srgbClr val="C8553D"/>
            </a:solidFill>
            <a:prstDash val="solid"/>
          </a:ln>
        </p:spPr>
      </p:sp>
      <p:pic>
        <p:nvPicPr>
          <p:cNvPr id="7" name="Active RAN sharing icon" descr="Active RAN sharing">    </p:cNvPr>
          <p:cNvPicPr>
            <a:picLocks noChangeAspect="1"/>
          </p:cNvPicPr>
          <p:nvPr/>
        </p:nvPicPr>
        <p:blipFill>
          <a:blip r:embed="rId2"/>
          <a:stretch>
            <a:fillRect/>
          </a:stretch>
        </p:blipFill>
        <p:spPr>
          <a:xfrm>
            <a:off x="6332220" y="1577340"/>
            <a:ext cx="320040" cy="320040"/>
          </a:xfrm>
          <a:prstGeom prst="rect">
            <a:avLst/>
          </a:prstGeom>
        </p:spPr>
      </p:pic>
      <p:sp>
        <p:nvSpPr>
          <p:cNvPr id="8" name="Text 4"/>
          <p:cNvSpPr txBox="1"/>
          <p:nvPr/>
        </p:nvSpPr>
        <p:spPr>
          <a:xfrm>
            <a:off x="6995160" y="1371600"/>
            <a:ext cx="4572000" cy="1097280"/>
          </a:xfrm>
          <a:prstGeom prst="rect">
            <a:avLst/>
          </a:prstGeom>
          <a:noFill/>
          <a:ln/>
        </p:spPr>
        <p:txBody>
          <a:bodyPr wrap="square" lIns="0" tIns="0" rIns="0" bIns="0" rtlCol="0" anchor="t"/>
          <a:lstStyle/>
          <a:p>
            <a:pPr indent="0" marL="0">
              <a:buNone/>
            </a:pPr>
            <a:r>
              <a:rPr lang="en-US" sz="1400" b="1" dirty="0">
                <a:solidFill>
                  <a:schemeClr val="tx2"/>
                </a:solidFill>
              </a:rPr>
              <a:t>Active RAN sharing</a:t>
            </a:r>
            <a:endParaRPr lang="en-US" sz="1400" dirty="0"/>
          </a:p>
          <a:p>
            <a:pPr indent="0" marL="0">
              <a:buNone/>
            </a:pPr>
            <a:r>
              <a:rPr lang="en-US" sz="1400" dirty="0">
                <a:solidFill>
                  <a:schemeClr val="tx1"/>
                </a:solidFill>
              </a:rPr>
              <a:t>Carriers now share radios, not just steel: two operators, one paying site</a:t>
            </a:r>
            <a:endParaRPr lang="en-US" sz="1400" dirty="0"/>
          </a:p>
        </p:txBody>
      </p:sp>
      <p:sp>
        <p:nvSpPr>
          <p:cNvPr id="9" name="End of the 5G capex wave circle"/>
          <p:cNvSpPr/>
          <p:nvPr/>
        </p:nvSpPr>
        <p:spPr>
          <a:xfrm>
            <a:off x="548640" y="2624328"/>
            <a:ext cx="640080" cy="640080"/>
          </a:xfrm>
          <a:prstGeom prst="ellipse">
            <a:avLst/>
          </a:prstGeom>
          <a:solidFill>
            <a:srgbClr val="C8553D"/>
          </a:solidFill>
          <a:ln w="12700">
            <a:solidFill>
              <a:srgbClr val="C8553D"/>
            </a:solidFill>
            <a:prstDash val="solid"/>
          </a:ln>
        </p:spPr>
      </p:sp>
      <p:pic>
        <p:nvPicPr>
          <p:cNvPr id="10" name="End of the 5G capex wave icon" descr="End of the 5G capex wave">    </p:cNvPr>
          <p:cNvPicPr>
            <a:picLocks noChangeAspect="1"/>
          </p:cNvPicPr>
          <p:nvPr/>
        </p:nvPicPr>
        <p:blipFill>
          <a:blip r:embed="rId3"/>
          <a:stretch>
            <a:fillRect/>
          </a:stretch>
        </p:blipFill>
        <p:spPr>
          <a:xfrm>
            <a:off x="708660" y="2784348"/>
            <a:ext cx="320040" cy="320040"/>
          </a:xfrm>
          <a:prstGeom prst="rect">
            <a:avLst/>
          </a:prstGeom>
        </p:spPr>
      </p:pic>
      <p:sp>
        <p:nvSpPr>
          <p:cNvPr id="11" name="Text 6"/>
          <p:cNvSpPr txBox="1"/>
          <p:nvPr/>
        </p:nvSpPr>
        <p:spPr>
          <a:xfrm>
            <a:off x="1371600" y="2578608"/>
            <a:ext cx="4572000" cy="1097280"/>
          </a:xfrm>
          <a:prstGeom prst="rect">
            <a:avLst/>
          </a:prstGeom>
          <a:noFill/>
          <a:ln/>
        </p:spPr>
        <p:txBody>
          <a:bodyPr wrap="square" lIns="0" tIns="0" rIns="0" bIns="0" rtlCol="0" anchor="t"/>
          <a:lstStyle/>
          <a:p>
            <a:pPr indent="0" marL="0">
              <a:buNone/>
            </a:pPr>
            <a:r>
              <a:rPr lang="en-US" sz="1400" b="1" dirty="0">
                <a:solidFill>
                  <a:schemeClr val="tx2"/>
                </a:solidFill>
              </a:rPr>
              <a:t>End of the 5G capex wave</a:t>
            </a:r>
            <a:endParaRPr lang="en-US" sz="1400" dirty="0"/>
          </a:p>
          <a:p>
            <a:pPr indent="0" marL="0">
              <a:buNone/>
            </a:pPr>
            <a:r>
              <a:rPr lang="en-US" sz="1400" dirty="0">
                <a:solidFill>
                  <a:schemeClr val="tx1"/>
                </a:solidFill>
              </a:rPr>
              <a:t>Global telecom capex fell in 2023 and is forecast down ~2% in 2026</a:t>
            </a:r>
            <a:endParaRPr lang="en-US" sz="1400" dirty="0"/>
          </a:p>
        </p:txBody>
      </p:sp>
      <p:sp>
        <p:nvSpPr>
          <p:cNvPr id="12" name="Pricing pressure circle"/>
          <p:cNvSpPr/>
          <p:nvPr/>
        </p:nvSpPr>
        <p:spPr>
          <a:xfrm>
            <a:off x="6172200" y="2624328"/>
            <a:ext cx="640080" cy="640080"/>
          </a:xfrm>
          <a:prstGeom prst="ellipse">
            <a:avLst/>
          </a:prstGeom>
          <a:solidFill>
            <a:srgbClr val="C8553D"/>
          </a:solidFill>
          <a:ln w="12700">
            <a:solidFill>
              <a:srgbClr val="C8553D"/>
            </a:solidFill>
            <a:prstDash val="solid"/>
          </a:ln>
        </p:spPr>
      </p:sp>
      <p:pic>
        <p:nvPicPr>
          <p:cNvPr id="13" name="Pricing pressure icon" descr="Pricing pressure">    </p:cNvPr>
          <p:cNvPicPr>
            <a:picLocks noChangeAspect="1"/>
          </p:cNvPicPr>
          <p:nvPr/>
        </p:nvPicPr>
        <p:blipFill>
          <a:blip r:embed="rId4"/>
          <a:stretch>
            <a:fillRect/>
          </a:stretch>
        </p:blipFill>
        <p:spPr>
          <a:xfrm>
            <a:off x="6332220" y="2784348"/>
            <a:ext cx="320040" cy="320040"/>
          </a:xfrm>
          <a:prstGeom prst="rect">
            <a:avLst/>
          </a:prstGeom>
        </p:spPr>
      </p:pic>
      <p:sp>
        <p:nvSpPr>
          <p:cNvPr id="14" name="Text 8"/>
          <p:cNvSpPr txBox="1"/>
          <p:nvPr/>
        </p:nvSpPr>
        <p:spPr>
          <a:xfrm>
            <a:off x="6995160" y="2578608"/>
            <a:ext cx="4572000" cy="1097280"/>
          </a:xfrm>
          <a:prstGeom prst="rect">
            <a:avLst/>
          </a:prstGeom>
          <a:noFill/>
          <a:ln/>
        </p:spPr>
        <p:txBody>
          <a:bodyPr wrap="square" lIns="0" tIns="0" rIns="0" bIns="0" rtlCol="0" anchor="t"/>
          <a:lstStyle/>
          <a:p>
            <a:pPr indent="0" marL="0">
              <a:buNone/>
            </a:pPr>
            <a:r>
              <a:rPr lang="en-US" sz="1400" b="1" dirty="0">
                <a:solidFill>
                  <a:schemeClr val="tx2"/>
                </a:solidFill>
              </a:rPr>
              <a:t>Pricing pressure</a:t>
            </a:r>
            <a:endParaRPr lang="en-US" sz="1400" dirty="0"/>
          </a:p>
          <a:p>
            <a:pPr indent="0" marL="0">
              <a:buNone/>
            </a:pPr>
            <a:r>
              <a:rPr lang="en-US" sz="1400" dirty="0">
                <a:solidFill>
                  <a:schemeClr val="tx1"/>
                </a:solidFill>
              </a:rPr>
              <a:t>Carriers say site budgets are frozen and push to renegotiate rents and escalators</a:t>
            </a:r>
            <a:endParaRPr lang="en-US" sz="1400" dirty="0"/>
          </a:p>
        </p:txBody>
      </p:sp>
      <p:sp>
        <p:nvSpPr>
          <p:cNvPr id="15" name="Tenant defaults circle"/>
          <p:cNvSpPr/>
          <p:nvPr/>
        </p:nvSpPr>
        <p:spPr>
          <a:xfrm>
            <a:off x="548640" y="3831336"/>
            <a:ext cx="640080" cy="640080"/>
          </a:xfrm>
          <a:prstGeom prst="ellipse">
            <a:avLst/>
          </a:prstGeom>
          <a:solidFill>
            <a:srgbClr val="C8553D"/>
          </a:solidFill>
          <a:ln w="12700">
            <a:solidFill>
              <a:srgbClr val="C8553D"/>
            </a:solidFill>
            <a:prstDash val="solid"/>
          </a:ln>
        </p:spPr>
      </p:sp>
      <p:pic>
        <p:nvPicPr>
          <p:cNvPr id="16" name="Tenant defaults icon" descr="Tenant defaults">    </p:cNvPr>
          <p:cNvPicPr>
            <a:picLocks noChangeAspect="1"/>
          </p:cNvPicPr>
          <p:nvPr/>
        </p:nvPicPr>
        <p:blipFill>
          <a:blip r:embed="rId5"/>
          <a:stretch>
            <a:fillRect/>
          </a:stretch>
        </p:blipFill>
        <p:spPr>
          <a:xfrm>
            <a:off x="708660" y="3991356"/>
            <a:ext cx="320040" cy="320040"/>
          </a:xfrm>
          <a:prstGeom prst="rect">
            <a:avLst/>
          </a:prstGeom>
        </p:spPr>
      </p:pic>
      <p:sp>
        <p:nvSpPr>
          <p:cNvPr id="17" name="Text 10"/>
          <p:cNvSpPr txBox="1"/>
          <p:nvPr/>
        </p:nvSpPr>
        <p:spPr>
          <a:xfrm>
            <a:off x="1371600" y="3785616"/>
            <a:ext cx="4572000" cy="1097280"/>
          </a:xfrm>
          <a:prstGeom prst="rect">
            <a:avLst/>
          </a:prstGeom>
          <a:noFill/>
          <a:ln/>
        </p:spPr>
        <p:txBody>
          <a:bodyPr wrap="square" lIns="0" tIns="0" rIns="0" bIns="0" rtlCol="0" anchor="t"/>
          <a:lstStyle/>
          <a:p>
            <a:pPr indent="0" marL="0">
              <a:buNone/>
            </a:pPr>
            <a:r>
              <a:rPr lang="en-US" sz="1400" b="1" dirty="0">
                <a:solidFill>
                  <a:schemeClr val="tx2"/>
                </a:solidFill>
              </a:rPr>
              <a:t>Tenant defaults</a:t>
            </a:r>
            <a:endParaRPr lang="en-US" sz="1400" dirty="0"/>
          </a:p>
          <a:p>
            <a:pPr indent="0" marL="0">
              <a:buNone/>
            </a:pPr>
            <a:r>
              <a:rPr lang="en-US" sz="1400" dirty="0">
                <a:solidFill>
                  <a:schemeClr val="tx1"/>
                </a:solidFill>
              </a:rPr>
              <a:t>DISH/EchoStar sold its spectrum and stopped paying; towercos are in court</a:t>
            </a:r>
            <a:endParaRPr lang="en-US" sz="1400" dirty="0"/>
          </a:p>
        </p:txBody>
      </p:sp>
      <p:sp>
        <p:nvSpPr>
          <p:cNvPr id="18" name="Higher interest rates circle"/>
          <p:cNvSpPr/>
          <p:nvPr/>
        </p:nvSpPr>
        <p:spPr>
          <a:xfrm>
            <a:off x="6172200" y="3831336"/>
            <a:ext cx="640080" cy="640080"/>
          </a:xfrm>
          <a:prstGeom prst="ellipse">
            <a:avLst/>
          </a:prstGeom>
          <a:solidFill>
            <a:srgbClr val="C8553D"/>
          </a:solidFill>
          <a:ln w="12700">
            <a:solidFill>
              <a:srgbClr val="C8553D"/>
            </a:solidFill>
            <a:prstDash val="solid"/>
          </a:ln>
        </p:spPr>
      </p:sp>
      <p:pic>
        <p:nvPicPr>
          <p:cNvPr id="19" name="Higher interest rates icon" descr="Higher interest rates">    </p:cNvPr>
          <p:cNvPicPr>
            <a:picLocks noChangeAspect="1"/>
          </p:cNvPicPr>
          <p:nvPr/>
        </p:nvPicPr>
        <p:blipFill>
          <a:blip r:embed="rId6"/>
          <a:stretch>
            <a:fillRect/>
          </a:stretch>
        </p:blipFill>
        <p:spPr>
          <a:xfrm>
            <a:off x="6332220" y="3991356"/>
            <a:ext cx="320040" cy="320040"/>
          </a:xfrm>
          <a:prstGeom prst="rect">
            <a:avLst/>
          </a:prstGeom>
        </p:spPr>
      </p:pic>
      <p:sp>
        <p:nvSpPr>
          <p:cNvPr id="20" name="Text 12"/>
          <p:cNvSpPr txBox="1"/>
          <p:nvPr/>
        </p:nvSpPr>
        <p:spPr>
          <a:xfrm>
            <a:off x="6995160" y="3785616"/>
            <a:ext cx="4572000" cy="1097280"/>
          </a:xfrm>
          <a:prstGeom prst="rect">
            <a:avLst/>
          </a:prstGeom>
          <a:noFill/>
          <a:ln/>
        </p:spPr>
        <p:txBody>
          <a:bodyPr wrap="square" lIns="0" tIns="0" rIns="0" bIns="0" rtlCol="0" anchor="t"/>
          <a:lstStyle/>
          <a:p>
            <a:pPr indent="0" marL="0">
              <a:buNone/>
            </a:pPr>
            <a:r>
              <a:rPr lang="en-US" sz="1400" b="1" dirty="0">
                <a:solidFill>
                  <a:schemeClr val="tx2"/>
                </a:solidFill>
              </a:rPr>
              <a:t>Higher interest rates</a:t>
            </a:r>
            <a:endParaRPr lang="en-US" sz="1400" dirty="0"/>
          </a:p>
          <a:p>
            <a:pPr indent="0" marL="0">
              <a:buNone/>
            </a:pPr>
            <a:r>
              <a:rPr lang="en-US" sz="1400" dirty="0">
                <a:solidFill>
                  <a:schemeClr val="tx1"/>
                </a:solidFill>
              </a:rPr>
              <a:t>Leveraged, bond-like businesses lose valuation when rates rise</a:t>
            </a:r>
            <a:endParaRPr lang="en-US" sz="1400" dirty="0"/>
          </a:p>
        </p:txBody>
      </p:sp>
      <p:sp>
        <p:nvSpPr>
          <p:cNvPr id="21" name="Satellite direct-to-device circle"/>
          <p:cNvSpPr/>
          <p:nvPr/>
        </p:nvSpPr>
        <p:spPr>
          <a:xfrm>
            <a:off x="548640" y="5038344"/>
            <a:ext cx="640080" cy="640080"/>
          </a:xfrm>
          <a:prstGeom prst="ellipse">
            <a:avLst/>
          </a:prstGeom>
          <a:solidFill>
            <a:srgbClr val="C8553D"/>
          </a:solidFill>
          <a:ln w="12700">
            <a:solidFill>
              <a:srgbClr val="C8553D"/>
            </a:solidFill>
            <a:prstDash val="solid"/>
          </a:ln>
        </p:spPr>
      </p:sp>
      <p:pic>
        <p:nvPicPr>
          <p:cNvPr id="22" name="Satellite direct-to-device icon" descr="Satellite direct-to-device">    </p:cNvPr>
          <p:cNvPicPr>
            <a:picLocks noChangeAspect="1"/>
          </p:cNvPicPr>
          <p:nvPr/>
        </p:nvPicPr>
        <p:blipFill>
          <a:blip r:embed="rId7"/>
          <a:stretch>
            <a:fillRect/>
          </a:stretch>
        </p:blipFill>
        <p:spPr>
          <a:xfrm>
            <a:off x="708660" y="5198364"/>
            <a:ext cx="320040" cy="320040"/>
          </a:xfrm>
          <a:prstGeom prst="rect">
            <a:avLst/>
          </a:prstGeom>
        </p:spPr>
      </p:pic>
      <p:sp>
        <p:nvSpPr>
          <p:cNvPr id="23" name="Text 14"/>
          <p:cNvSpPr txBox="1"/>
          <p:nvPr/>
        </p:nvSpPr>
        <p:spPr>
          <a:xfrm>
            <a:off x="1371600" y="4992624"/>
            <a:ext cx="4572000" cy="1097280"/>
          </a:xfrm>
          <a:prstGeom prst="rect">
            <a:avLst/>
          </a:prstGeom>
          <a:noFill/>
          <a:ln/>
        </p:spPr>
        <p:txBody>
          <a:bodyPr wrap="square" lIns="0" tIns="0" rIns="0" bIns="0" rtlCol="0" anchor="t"/>
          <a:lstStyle/>
          <a:p>
            <a:pPr indent="0" marL="0">
              <a:buNone/>
            </a:pPr>
            <a:r>
              <a:rPr lang="en-US" sz="1400" b="1" dirty="0">
                <a:solidFill>
                  <a:schemeClr val="tx2"/>
                </a:solidFill>
              </a:rPr>
              <a:t>Satellite direct-to-device</a:t>
            </a:r>
            <a:endParaRPr lang="en-US" sz="1400" dirty="0"/>
          </a:p>
          <a:p>
            <a:pPr indent="0" marL="0">
              <a:buNone/>
            </a:pPr>
            <a:r>
              <a:rPr lang="en-US" sz="1400" dirty="0">
                <a:solidFill>
                  <a:schemeClr val="tx1"/>
                </a:solidFill>
              </a:rPr>
              <a:t>Threatens single-tenant rural towers in the long run</a:t>
            </a:r>
            <a:endParaRPr lang="en-US" sz="1400" dirty="0"/>
          </a:p>
        </p:txBody>
      </p:sp>
      <p:sp>
        <p:nvSpPr>
          <p:cNvPr id="24" name="Fewer portfolios to buy circle"/>
          <p:cNvSpPr/>
          <p:nvPr/>
        </p:nvSpPr>
        <p:spPr>
          <a:xfrm>
            <a:off x="6172200" y="5038344"/>
            <a:ext cx="640080" cy="640080"/>
          </a:xfrm>
          <a:prstGeom prst="ellipse">
            <a:avLst/>
          </a:prstGeom>
          <a:solidFill>
            <a:srgbClr val="C8553D"/>
          </a:solidFill>
          <a:ln w="12700">
            <a:solidFill>
              <a:srgbClr val="C8553D"/>
            </a:solidFill>
            <a:prstDash val="solid"/>
          </a:ln>
        </p:spPr>
      </p:sp>
      <p:pic>
        <p:nvPicPr>
          <p:cNvPr id="25" name="Fewer portfolios to buy icon" descr="Fewer portfolios to buy">    </p:cNvPr>
          <p:cNvPicPr>
            <a:picLocks noChangeAspect="1"/>
          </p:cNvPicPr>
          <p:nvPr/>
        </p:nvPicPr>
        <p:blipFill>
          <a:blip r:embed="rId8"/>
          <a:stretch>
            <a:fillRect/>
          </a:stretch>
        </p:blipFill>
        <p:spPr>
          <a:xfrm>
            <a:off x="6332220" y="5198364"/>
            <a:ext cx="320040" cy="320040"/>
          </a:xfrm>
          <a:prstGeom prst="rect">
            <a:avLst/>
          </a:prstGeom>
        </p:spPr>
      </p:pic>
      <p:sp>
        <p:nvSpPr>
          <p:cNvPr id="26" name="Text 16"/>
          <p:cNvSpPr txBox="1"/>
          <p:nvPr/>
        </p:nvSpPr>
        <p:spPr>
          <a:xfrm>
            <a:off x="6995160" y="4992624"/>
            <a:ext cx="4572000" cy="1097280"/>
          </a:xfrm>
          <a:prstGeom prst="rect">
            <a:avLst/>
          </a:prstGeom>
          <a:noFill/>
          <a:ln/>
        </p:spPr>
        <p:txBody>
          <a:bodyPr wrap="square" lIns="0" tIns="0" rIns="0" bIns="0" rtlCol="0" anchor="t"/>
          <a:lstStyle/>
          <a:p>
            <a:pPr indent="0" marL="0">
              <a:buNone/>
            </a:pPr>
            <a:r>
              <a:rPr lang="en-US" sz="1400" b="1" dirty="0">
                <a:solidFill>
                  <a:schemeClr val="tx2"/>
                </a:solidFill>
              </a:rPr>
              <a:t>Fewer portfolios to buy</a:t>
            </a:r>
            <a:endParaRPr lang="en-US" sz="1400" dirty="0"/>
          </a:p>
          <a:p>
            <a:pPr indent="0" marL="0">
              <a:buNone/>
            </a:pPr>
            <a:r>
              <a:rPr lang="en-US" sz="1400" dirty="0">
                <a:solidFill>
                  <a:schemeClr val="tx1"/>
                </a:solidFill>
              </a:rPr>
              <a:t>Most carrier towers are already sold; M&amp;A-led growth is plateauing</a:t>
            </a:r>
            <a:endParaRPr lang="en-US" sz="1400" dirty="0"/>
          </a:p>
        </p:txBody>
      </p:sp>
      <p:sp>
        <p:nvSpPr>
          <p:cNvPr id="27" name="Text 17"/>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Dell'Oro (2023 capex); TelecomLead (2026 capex); Teletime (carrier statements); DCD and Bloomberg (DISH litigation); TowerXchange.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numbers confirm the slowdown</a:t>
            </a:r>
            <a:endParaRPr lang="en-US" sz="2800" dirty="0"/>
          </a:p>
        </p:txBody>
      </p:sp>
      <p:graphicFrame>
        <p:nvGraphicFramePr>
          <p:cNvPr id="3" name="Chart 0" descr=""/>
          <p:cNvGraphicFramePr/>
          <p:nvPr/>
        </p:nvGraphicFramePr>
        <p:xfrm>
          <a:off x="548640" y="1371600"/>
          <a:ext cx="6583680" cy="3383280"/>
        </p:xfrm>
        <a:graphic xmlns:a="http://schemas.openxmlformats.org/drawingml/2006/main">
          <a:graphicData uri="http://schemas.openxmlformats.org/drawingml/2006/chart">
            <c:chart xmlns:c="http://schemas.openxmlformats.org/drawingml/2006/chart" r:id="rId1"/>
          </a:graphicData>
        </a:graphic>
      </p:graphicFrame>
      <p:sp>
        <p:nvSpPr>
          <p:cNvPr id="4" name="S&amp;P comparison card"/>
          <p:cNvSpPr/>
          <p:nvPr/>
        </p:nvSpPr>
        <p:spPr>
          <a:xfrm>
            <a:off x="548640" y="4892040"/>
            <a:ext cx="6583680" cy="1005840"/>
          </a:xfrm>
          <a:prstGeom prst="roundRect">
            <a:avLst>
              <a:gd name="adj" fmla="val 1090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5" name="Text 2"/>
          <p:cNvSpPr txBox="1"/>
          <p:nvPr/>
        </p:nvSpPr>
        <p:spPr>
          <a:xfrm>
            <a:off x="822960" y="4983480"/>
            <a:ext cx="1645920" cy="82296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+49%</a:t>
            </a:r>
            <a:endParaRPr lang="en-US" sz="3200" dirty="0"/>
          </a:p>
        </p:txBody>
      </p:sp>
      <p:sp>
        <p:nvSpPr>
          <p:cNvPr id="6" name="Text 3"/>
          <p:cNvSpPr txBox="1"/>
          <p:nvPr/>
        </p:nvSpPr>
        <p:spPr>
          <a:xfrm>
            <a:off x="2560320" y="4983480"/>
            <a:ext cx="4389120" cy="822960"/>
          </a:xfrm>
          <a:prstGeom prst="rect">
            <a:avLst/>
          </a:prstGeom>
          <a:noFill/>
          <a:ln/>
        </p:spPr>
        <p:txBody>
          <a:bodyPr wrap="square" lIns="0" tIns="0" rIns="0" bIns="0" rtlCol="0" anchor="ctr"/>
          <a:lstStyle/>
          <a:p>
            <a:pPr indent="0" marL="0">
              <a:buNone/>
            </a:pPr>
            <a:r>
              <a:rPr lang="en-US" sz="1400" dirty="0">
                <a:solidFill>
                  <a:schemeClr val="tx1"/>
                </a:solidFill>
              </a:rPr>
              <a:t>S&amp;P 500 over the same period: the tower REITs lagged the market by 50 to 78 points</a:t>
            </a:r>
            <a:endParaRPr lang="en-US" sz="1400" dirty="0"/>
          </a:p>
        </p:txBody>
      </p:sp>
      <p:sp>
        <p:nvSpPr>
          <p:cNvPr id="7" name="Stat card 1"/>
          <p:cNvSpPr/>
          <p:nvPr/>
        </p:nvSpPr>
        <p:spPr>
          <a:xfrm>
            <a:off x="7498080" y="137160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7726680" y="150876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~4% to 0.5%</a:t>
            </a:r>
            <a:endParaRPr lang="en-US" sz="3000" dirty="0"/>
          </a:p>
        </p:txBody>
      </p:sp>
      <p:sp>
        <p:nvSpPr>
          <p:cNvPr id="9" name="Text 6"/>
          <p:cNvSpPr txBox="1"/>
          <p:nvPr/>
        </p:nvSpPr>
        <p:spPr>
          <a:xfrm>
            <a:off x="7726680" y="2103120"/>
            <a:ext cx="3657600" cy="548640"/>
          </a:xfrm>
          <a:prstGeom prst="rect">
            <a:avLst/>
          </a:prstGeom>
          <a:noFill/>
          <a:ln/>
        </p:spPr>
        <p:txBody>
          <a:bodyPr wrap="square" lIns="0" tIns="0" rIns="0" bIns="0" rtlCol="0" anchor="t"/>
          <a:lstStyle/>
          <a:p>
            <a:pPr indent="0" marL="0">
              <a:buNone/>
            </a:pPr>
            <a:r>
              <a:rPr lang="en-US" sz="1300" dirty="0">
                <a:solidFill>
                  <a:schemeClr val="tx1"/>
                </a:solidFill>
              </a:rPr>
              <a:t>American Tower 2026 organic growth, before and after removing DISH leases</a:t>
            </a:r>
            <a:endParaRPr lang="en-US" sz="1300" dirty="0"/>
          </a:p>
        </p:txBody>
      </p:sp>
      <p:sp>
        <p:nvSpPr>
          <p:cNvPr id="10" name="Stat card 2"/>
          <p:cNvSpPr/>
          <p:nvPr/>
        </p:nvSpPr>
        <p:spPr>
          <a:xfrm>
            <a:off x="7498080" y="288036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7726680" y="301752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US$ 220M</a:t>
            </a:r>
            <a:endParaRPr lang="en-US" sz="3000" dirty="0"/>
          </a:p>
        </p:txBody>
      </p:sp>
      <p:sp>
        <p:nvSpPr>
          <p:cNvPr id="12" name="Text 9"/>
          <p:cNvSpPr txBox="1"/>
          <p:nvPr/>
        </p:nvSpPr>
        <p:spPr>
          <a:xfrm>
            <a:off x="7726680" y="3611880"/>
            <a:ext cx="3657600" cy="548640"/>
          </a:xfrm>
          <a:prstGeom prst="rect">
            <a:avLst/>
          </a:prstGeom>
          <a:noFill/>
          <a:ln/>
        </p:spPr>
        <p:txBody>
          <a:bodyPr wrap="square" lIns="0" tIns="0" rIns="0" bIns="0" rtlCol="0" anchor="t"/>
          <a:lstStyle/>
          <a:p>
            <a:pPr indent="0" marL="0">
              <a:buNone/>
            </a:pPr>
            <a:r>
              <a:rPr lang="en-US" sz="1300" dirty="0">
                <a:solidFill>
                  <a:schemeClr val="tx1"/>
                </a:solidFill>
              </a:rPr>
              <a:t>Crown Castle 2026 revenue hit from DISH terminations</a:t>
            </a:r>
            <a:endParaRPr lang="en-US" sz="1300" dirty="0"/>
          </a:p>
        </p:txBody>
      </p:sp>
      <p:sp>
        <p:nvSpPr>
          <p:cNvPr id="13" name="Stat card 3"/>
          <p:cNvSpPr/>
          <p:nvPr/>
        </p:nvSpPr>
        <p:spPr>
          <a:xfrm>
            <a:off x="7498080" y="438912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7726680" y="452628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−2%</a:t>
            </a:r>
            <a:endParaRPr lang="en-US" sz="3000" dirty="0"/>
          </a:p>
        </p:txBody>
      </p:sp>
      <p:sp>
        <p:nvSpPr>
          <p:cNvPr id="15" name="Text 12"/>
          <p:cNvSpPr txBox="1"/>
          <p:nvPr/>
        </p:nvSpPr>
        <p:spPr>
          <a:xfrm>
            <a:off x="7726680" y="5120640"/>
            <a:ext cx="3657600" cy="548640"/>
          </a:xfrm>
          <a:prstGeom prst="rect">
            <a:avLst/>
          </a:prstGeom>
          <a:noFill/>
          <a:ln/>
        </p:spPr>
        <p:txBody>
          <a:bodyPr wrap="square" lIns="0" tIns="0" rIns="0" bIns="0" rtlCol="0" anchor="t"/>
          <a:lstStyle/>
          <a:p>
            <a:pPr indent="0" marL="0">
              <a:buNone/>
            </a:pPr>
            <a:r>
              <a:rPr lang="en-US" sz="1300" dirty="0">
                <a:solidFill>
                  <a:schemeClr val="tx1"/>
                </a:solidFill>
              </a:rPr>
              <a:t>Forecast change in global telecom capex in 2026</a:t>
            </a:r>
            <a:endParaRPr lang="en-US" sz="1300" dirty="0"/>
          </a:p>
        </p:txBody>
      </p:sp>
      <p:sp>
        <p:nvSpPr>
          <p:cNvPr id="16" name="Text 13"/>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Simply Safe Dividends (share prices, 2025); Inside Towers and Wireless Estimator (2026 guidance); TelecomLead (capex).</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5G kept the tower, but new demand moved on</a:t>
            </a:r>
            <a:endParaRPr lang="en-US" sz="2800" dirty="0"/>
          </a:p>
        </p:txBody>
      </p:sp>
      <p:sp>
        <p:nvSpPr>
          <p:cNvPr id="3" name="What 5G did panel"/>
          <p:cNvSpPr/>
          <p:nvPr/>
        </p:nvSpPr>
        <p:spPr>
          <a:xfrm>
            <a:off x="548640" y="1371600"/>
            <a:ext cx="5120640" cy="4526280"/>
          </a:xfrm>
          <a:prstGeom prst="roundRect">
            <a:avLst>
              <a:gd name="adj" fmla="val 2424"/>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822960" y="1600200"/>
            <a:ext cx="45720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What actually happened</a:t>
            </a:r>
            <a:endParaRPr lang="en-US" sz="2000" dirty="0"/>
          </a:p>
        </p:txBody>
      </p:sp>
      <p:sp>
        <p:nvSpPr>
          <p:cNvPr id="5" name="Text 3"/>
          <p:cNvSpPr txBox="1"/>
          <p:nvPr/>
        </p:nvSpPr>
        <p:spPr>
          <a:xfrm>
            <a:off x="822960" y="2194560"/>
            <a:ext cx="457200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Mid-band 5G (C-band) runs on existing macro towers: the last big amendment wave</a:t>
            </a:r>
            <a:endParaRPr lang="en-US" sz="1600" dirty="0"/>
          </a:p>
          <a:p>
            <a:pPr marL="342900" indent="-342900">
              <a:spcAft>
                <a:spcPts val="1000"/>
              </a:spcAft>
              <a:buSzPct val="100000"/>
              <a:buChar char="•"/>
            </a:pPr>
            <a:r>
              <a:rPr lang="en-US" sz="1600" dirty="0">
                <a:solidFill>
                  <a:schemeClr val="bg1"/>
                </a:solidFill>
              </a:rPr>
              <a:t>mmWave and outdoor small cells did not scale as forecast</a:t>
            </a:r>
            <a:endParaRPr lang="en-US" sz="1600" dirty="0"/>
          </a:p>
          <a:p>
            <a:pPr marL="342900" indent="-342900">
              <a:spcAft>
                <a:spcPts val="1000"/>
              </a:spcAft>
              <a:buSzPct val="100000"/>
              <a:buChar char="•"/>
            </a:pPr>
            <a:r>
              <a:rPr lang="en-US" sz="1600" dirty="0">
                <a:solidFill>
                  <a:schemeClr val="bg1"/>
                </a:solidFill>
              </a:rPr>
              <a:t>Crown Castle sold 115k small cells and its fiber for US$ 8.5B to become a pure tower company</a:t>
            </a:r>
            <a:endParaRPr lang="en-US" sz="1600" dirty="0"/>
          </a:p>
        </p:txBody>
      </p:sp>
      <p:sp>
        <p:nvSpPr>
          <p:cNvPr id="6" name="Text 4"/>
          <p:cNvSpPr txBox="1"/>
          <p:nvPr/>
        </p:nvSpPr>
        <p:spPr>
          <a:xfrm>
            <a:off x="6035040" y="1371600"/>
            <a:ext cx="548640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Where new demand is going</a:t>
            </a:r>
            <a:endParaRPr lang="en-US" sz="2000" dirty="0"/>
          </a:p>
        </p:txBody>
      </p:sp>
      <p:sp>
        <p:nvSpPr>
          <p:cNvPr id="7" name="Energy circle"/>
          <p:cNvSpPr/>
          <p:nvPr/>
        </p:nvSpPr>
        <p:spPr>
          <a:xfrm>
            <a:off x="6035040" y="1965960"/>
            <a:ext cx="640080" cy="640080"/>
          </a:xfrm>
          <a:prstGeom prst="ellipse">
            <a:avLst/>
          </a:prstGeom>
          <a:solidFill>
            <a:srgbClr val="F4A300"/>
          </a:solidFill>
          <a:ln w="12700">
            <a:solidFill>
              <a:srgbClr val="F4A300"/>
            </a:solidFill>
            <a:prstDash val="solid"/>
          </a:ln>
        </p:spPr>
      </p:sp>
      <p:pic>
        <p:nvPicPr>
          <p:cNvPr id="8" name="Energy icon" descr="Energy">    </p:cNvPr>
          <p:cNvPicPr>
            <a:picLocks noChangeAspect="1"/>
          </p:cNvPicPr>
          <p:nvPr/>
        </p:nvPicPr>
        <p:blipFill>
          <a:blip r:embed="rId1"/>
          <a:stretch>
            <a:fillRect/>
          </a:stretch>
        </p:blipFill>
        <p:spPr>
          <a:xfrm>
            <a:off x="6195060" y="2125980"/>
            <a:ext cx="320040" cy="320040"/>
          </a:xfrm>
          <a:prstGeom prst="rect">
            <a:avLst/>
          </a:prstGeom>
        </p:spPr>
      </p:pic>
      <p:sp>
        <p:nvSpPr>
          <p:cNvPr id="9" name="Text 6"/>
          <p:cNvSpPr txBox="1"/>
          <p:nvPr/>
        </p:nvSpPr>
        <p:spPr>
          <a:xfrm>
            <a:off x="6858000" y="1947672"/>
            <a:ext cx="4754880" cy="868680"/>
          </a:xfrm>
          <a:prstGeom prst="rect">
            <a:avLst/>
          </a:prstGeom>
          <a:noFill/>
          <a:ln/>
        </p:spPr>
        <p:txBody>
          <a:bodyPr wrap="square" lIns="0" tIns="0" rIns="0" bIns="0" rtlCol="0" anchor="t"/>
          <a:lstStyle/>
          <a:p>
            <a:pPr indent="0" marL="0">
              <a:buNone/>
            </a:pPr>
            <a:r>
              <a:rPr lang="en-US" sz="1400" b="1" dirty="0">
                <a:solidFill>
                  <a:schemeClr val="tx2"/>
                </a:solidFill>
              </a:rPr>
              <a:t>Energy</a:t>
            </a:r>
            <a:endParaRPr lang="en-US" sz="1400" dirty="0"/>
          </a:p>
          <a:p>
            <a:pPr indent="0" marL="0">
              <a:buNone/>
            </a:pPr>
            <a:r>
              <a:rPr lang="en-US" sz="1400" dirty="0">
                <a:solidFill>
                  <a:schemeClr val="tx1"/>
                </a:solidFill>
              </a:rPr>
              <a:t>Up to 32% of 5G network cost, from 23% in 4G</a:t>
            </a:r>
            <a:endParaRPr lang="en-US" sz="1400" dirty="0"/>
          </a:p>
        </p:txBody>
      </p:sp>
      <p:sp>
        <p:nvSpPr>
          <p:cNvPr id="10" name="Indoor coverage circle"/>
          <p:cNvSpPr/>
          <p:nvPr/>
        </p:nvSpPr>
        <p:spPr>
          <a:xfrm>
            <a:off x="6035040" y="2953512"/>
            <a:ext cx="640080" cy="640080"/>
          </a:xfrm>
          <a:prstGeom prst="ellipse">
            <a:avLst/>
          </a:prstGeom>
          <a:solidFill>
            <a:srgbClr val="F4A300"/>
          </a:solidFill>
          <a:ln w="12700">
            <a:solidFill>
              <a:srgbClr val="F4A300"/>
            </a:solidFill>
            <a:prstDash val="solid"/>
          </a:ln>
        </p:spPr>
      </p:sp>
      <p:pic>
        <p:nvPicPr>
          <p:cNvPr id="11" name="Indoor coverage icon" descr="Indoor coverage">    </p:cNvPr>
          <p:cNvPicPr>
            <a:picLocks noChangeAspect="1"/>
          </p:cNvPicPr>
          <p:nvPr/>
        </p:nvPicPr>
        <p:blipFill>
          <a:blip r:embed="rId2"/>
          <a:stretch>
            <a:fillRect/>
          </a:stretch>
        </p:blipFill>
        <p:spPr>
          <a:xfrm>
            <a:off x="6195060" y="3113532"/>
            <a:ext cx="320040" cy="320040"/>
          </a:xfrm>
          <a:prstGeom prst="rect">
            <a:avLst/>
          </a:prstGeom>
        </p:spPr>
      </p:pic>
      <p:sp>
        <p:nvSpPr>
          <p:cNvPr id="12" name="Text 8"/>
          <p:cNvSpPr txBox="1"/>
          <p:nvPr/>
        </p:nvSpPr>
        <p:spPr>
          <a:xfrm>
            <a:off x="6858000" y="2935224"/>
            <a:ext cx="4754880" cy="868680"/>
          </a:xfrm>
          <a:prstGeom prst="rect">
            <a:avLst/>
          </a:prstGeom>
          <a:noFill/>
          <a:ln/>
        </p:spPr>
        <p:txBody>
          <a:bodyPr wrap="square" lIns="0" tIns="0" rIns="0" bIns="0" rtlCol="0" anchor="t"/>
          <a:lstStyle/>
          <a:p>
            <a:pPr indent="0" marL="0">
              <a:buNone/>
            </a:pPr>
            <a:r>
              <a:rPr lang="en-US" sz="1400" b="1" dirty="0">
                <a:solidFill>
                  <a:schemeClr val="tx2"/>
                </a:solidFill>
              </a:rPr>
              <a:t>Indoor coverage</a:t>
            </a:r>
            <a:endParaRPr lang="en-US" sz="1400" dirty="0"/>
          </a:p>
          <a:p>
            <a:pPr indent="0" marL="0">
              <a:buNone/>
            </a:pPr>
            <a:r>
              <a:rPr lang="en-US" sz="1400" dirty="0">
                <a:solidFill>
                  <a:schemeClr val="tx1"/>
                </a:solidFill>
              </a:rPr>
              <a:t>In-building wireless: ~US$ 25B (2026) to ~US$ 48B (2032)</a:t>
            </a:r>
            <a:endParaRPr lang="en-US" sz="1400" dirty="0"/>
          </a:p>
        </p:txBody>
      </p:sp>
      <p:sp>
        <p:nvSpPr>
          <p:cNvPr id="13" name="Edge and AI at sites circle"/>
          <p:cNvSpPr/>
          <p:nvPr/>
        </p:nvSpPr>
        <p:spPr>
          <a:xfrm>
            <a:off x="6035040" y="3941064"/>
            <a:ext cx="640080" cy="640080"/>
          </a:xfrm>
          <a:prstGeom prst="ellipse">
            <a:avLst/>
          </a:prstGeom>
          <a:solidFill>
            <a:srgbClr val="F4A300"/>
          </a:solidFill>
          <a:ln w="12700">
            <a:solidFill>
              <a:srgbClr val="F4A300"/>
            </a:solidFill>
            <a:prstDash val="solid"/>
          </a:ln>
        </p:spPr>
      </p:sp>
      <p:pic>
        <p:nvPicPr>
          <p:cNvPr id="14" name="Edge and AI at sites icon" descr="Edge and AI at sites">    </p:cNvPr>
          <p:cNvPicPr>
            <a:picLocks noChangeAspect="1"/>
          </p:cNvPicPr>
          <p:nvPr/>
        </p:nvPicPr>
        <p:blipFill>
          <a:blip r:embed="rId3"/>
          <a:stretch>
            <a:fillRect/>
          </a:stretch>
        </p:blipFill>
        <p:spPr>
          <a:xfrm>
            <a:off x="6195060" y="4101084"/>
            <a:ext cx="320040" cy="320040"/>
          </a:xfrm>
          <a:prstGeom prst="rect">
            <a:avLst/>
          </a:prstGeom>
        </p:spPr>
      </p:pic>
      <p:sp>
        <p:nvSpPr>
          <p:cNvPr id="15" name="Text 10"/>
          <p:cNvSpPr txBox="1"/>
          <p:nvPr/>
        </p:nvSpPr>
        <p:spPr>
          <a:xfrm>
            <a:off x="6858000" y="3922776"/>
            <a:ext cx="4754880" cy="868680"/>
          </a:xfrm>
          <a:prstGeom prst="rect">
            <a:avLst/>
          </a:prstGeom>
          <a:noFill/>
          <a:ln/>
        </p:spPr>
        <p:txBody>
          <a:bodyPr wrap="square" lIns="0" tIns="0" rIns="0" bIns="0" rtlCol="0" anchor="t"/>
          <a:lstStyle/>
          <a:p>
            <a:pPr indent="0" marL="0">
              <a:buNone/>
            </a:pPr>
            <a:r>
              <a:rPr lang="en-US" sz="1400" b="1" dirty="0">
                <a:solidFill>
                  <a:schemeClr val="tx2"/>
                </a:solidFill>
              </a:rPr>
              <a:t>Edge and AI at sites</a:t>
            </a:r>
            <a:endParaRPr lang="en-US" sz="1400" dirty="0"/>
          </a:p>
          <a:p>
            <a:pPr indent="0" marL="0">
              <a:buNone/>
            </a:pPr>
            <a:r>
              <a:rPr lang="en-US" sz="1400" dirty="0">
                <a:solidFill>
                  <a:schemeClr val="tx1"/>
                </a:solidFill>
              </a:rPr>
              <a:t>AI-RAN: US$ 200B+ cumulative by 2030; carriers piloting with Nvidia and Nokia</a:t>
            </a:r>
            <a:endParaRPr lang="en-US" sz="1400" dirty="0"/>
          </a:p>
        </p:txBody>
      </p:sp>
      <p:sp>
        <p:nvSpPr>
          <p:cNvPr id="16" name="Satellite integration circle"/>
          <p:cNvSpPr/>
          <p:nvPr/>
        </p:nvSpPr>
        <p:spPr>
          <a:xfrm>
            <a:off x="6035040" y="4928616"/>
            <a:ext cx="640080" cy="640080"/>
          </a:xfrm>
          <a:prstGeom prst="ellipse">
            <a:avLst/>
          </a:prstGeom>
          <a:solidFill>
            <a:srgbClr val="F4A300"/>
          </a:solidFill>
          <a:ln w="12700">
            <a:solidFill>
              <a:srgbClr val="F4A300"/>
            </a:solidFill>
            <a:prstDash val="solid"/>
          </a:ln>
        </p:spPr>
      </p:sp>
      <p:pic>
        <p:nvPicPr>
          <p:cNvPr id="17" name="Satellite integration icon" descr="Satellite integration">    </p:cNvPr>
          <p:cNvPicPr>
            <a:picLocks noChangeAspect="1"/>
          </p:cNvPicPr>
          <p:nvPr/>
        </p:nvPicPr>
        <p:blipFill>
          <a:blip r:embed="rId4"/>
          <a:stretch>
            <a:fillRect/>
          </a:stretch>
        </p:blipFill>
        <p:spPr>
          <a:xfrm>
            <a:off x="6195060" y="5088636"/>
            <a:ext cx="320040" cy="320040"/>
          </a:xfrm>
          <a:prstGeom prst="rect">
            <a:avLst/>
          </a:prstGeom>
        </p:spPr>
      </p:pic>
      <p:sp>
        <p:nvSpPr>
          <p:cNvPr id="18" name="Text 12"/>
          <p:cNvSpPr txBox="1"/>
          <p:nvPr/>
        </p:nvSpPr>
        <p:spPr>
          <a:xfrm>
            <a:off x="6858000" y="4910328"/>
            <a:ext cx="4754880" cy="868680"/>
          </a:xfrm>
          <a:prstGeom prst="rect">
            <a:avLst/>
          </a:prstGeom>
          <a:noFill/>
          <a:ln/>
        </p:spPr>
        <p:txBody>
          <a:bodyPr wrap="square" lIns="0" tIns="0" rIns="0" bIns="0" rtlCol="0" anchor="t"/>
          <a:lstStyle/>
          <a:p>
            <a:pPr indent="0" marL="0">
              <a:buNone/>
            </a:pPr>
            <a:r>
              <a:rPr lang="en-US" sz="1400" b="1" dirty="0">
                <a:solidFill>
                  <a:schemeClr val="tx2"/>
                </a:solidFill>
              </a:rPr>
              <a:t>Satellite integration</a:t>
            </a:r>
            <a:endParaRPr lang="en-US" sz="1400" dirty="0"/>
          </a:p>
          <a:p>
            <a:pPr indent="0" marL="0">
              <a:buNone/>
            </a:pPr>
            <a:r>
              <a:rPr lang="en-US" sz="1400" dirty="0">
                <a:solidFill>
                  <a:schemeClr val="tx1"/>
                </a:solidFill>
              </a:rPr>
              <a:t>LEO direct-to-device needs gateways with land, power and fiber</a:t>
            </a:r>
            <a:endParaRPr lang="en-US" sz="1400" dirty="0"/>
          </a:p>
        </p:txBody>
      </p:sp>
      <p:sp>
        <p:nvSpPr>
          <p:cNvPr id="19" name="Text 13"/>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GSMA (energy share of TCO); MarketsandMarkets (in-building wireless); Omdia and Nvidia GTC 2026 (AI-RAN); DCD (Crown Castle sale).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The growth ambition</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2  |  What a new engine has to deliver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target rises in steps through year 12</a:t>
            </a:r>
            <a:endParaRPr lang="en-US" sz="2800" dirty="0"/>
          </a:p>
        </p:txBody>
      </p:sp>
      <p:graphicFrame>
        <p:nvGraphicFramePr>
          <p:cNvPr id="3" name="Chart 0" descr=""/>
          <p:cNvGraphicFramePr/>
          <p:nvPr/>
        </p:nvGraphicFramePr>
        <p:xfrm>
          <a:off x="548640" y="137160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ep card 1"/>
          <p:cNvSpPr/>
          <p:nvPr/>
        </p:nvSpPr>
        <p:spPr>
          <a:xfrm>
            <a:off x="7680960" y="1371600"/>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5" name="Text 2"/>
          <p:cNvSpPr txBox="1"/>
          <p:nvPr/>
        </p:nvSpPr>
        <p:spPr>
          <a:xfrm>
            <a:off x="7863840" y="1463040"/>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3  |  Traction</a:t>
            </a:r>
            <a:endParaRPr lang="en-US" sz="1300" dirty="0"/>
          </a:p>
          <a:p>
            <a:pPr indent="0" marL="0">
              <a:buNone/>
            </a:pPr>
            <a:r>
              <a:rPr lang="en-US" sz="1300" dirty="0">
                <a:solidFill>
                  <a:schemeClr val="tx1"/>
                </a:solidFill>
              </a:rPr>
              <a:t>~US$ 170M, 25%+ margin, 2+ payers on the same asset</a:t>
            </a:r>
            <a:endParaRPr lang="en-US" sz="1300" dirty="0"/>
          </a:p>
        </p:txBody>
      </p:sp>
      <p:sp>
        <p:nvSpPr>
          <p:cNvPr id="6" name="Step card 2"/>
          <p:cNvSpPr/>
          <p:nvPr/>
        </p:nvSpPr>
        <p:spPr>
          <a:xfrm>
            <a:off x="7680960" y="2395728"/>
            <a:ext cx="3931920" cy="896112"/>
          </a:xfrm>
          <a:prstGeom prst="roundRect">
            <a:avLst>
              <a:gd name="adj" fmla="val 12245"/>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7" name="Text 4"/>
          <p:cNvSpPr txBox="1"/>
          <p:nvPr/>
        </p:nvSpPr>
        <p:spPr>
          <a:xfrm>
            <a:off x="7863840" y="2487168"/>
            <a:ext cx="3611880" cy="777240"/>
          </a:xfrm>
          <a:prstGeom prst="rect">
            <a:avLst/>
          </a:prstGeom>
          <a:noFill/>
          <a:ln/>
        </p:spPr>
        <p:txBody>
          <a:bodyPr wrap="square" lIns="0" tIns="0" rIns="0" bIns="0" rtlCol="0" anchor="t"/>
          <a:lstStyle/>
          <a:p>
            <a:pPr indent="0" marL="0">
              <a:buNone/>
            </a:pPr>
            <a:r>
              <a:rPr lang="en-US" sz="1300" b="1" dirty="0">
                <a:solidFill>
                  <a:schemeClr val="accent1"/>
                </a:solidFill>
              </a:rPr>
              <a:t>Year 5  |  Growth engine</a:t>
            </a:r>
            <a:endParaRPr lang="en-US" sz="1300" dirty="0"/>
          </a:p>
          <a:p>
            <a:pPr indent="0" marL="0">
              <a:buNone/>
            </a:pPr>
            <a:r>
              <a:rPr lang="en-US" sz="1300" dirty="0">
                <a:solidFill>
                  <a:schemeClr val="bg1"/>
                </a:solidFill>
              </a:rPr>
              <a:t>~US$ 510M, 45%+ margin: more new revenue than the core adds</a:t>
            </a:r>
            <a:endParaRPr lang="en-US" sz="1300" dirty="0"/>
          </a:p>
        </p:txBody>
      </p:sp>
      <p:sp>
        <p:nvSpPr>
          <p:cNvPr id="8" name="Step card 3"/>
          <p:cNvSpPr/>
          <p:nvPr/>
        </p:nvSpPr>
        <p:spPr>
          <a:xfrm>
            <a:off x="7680960" y="3419856"/>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Text 6"/>
          <p:cNvSpPr txBox="1"/>
          <p:nvPr/>
        </p:nvSpPr>
        <p:spPr>
          <a:xfrm>
            <a:off x="7863840" y="3511296"/>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8  |  Second pillar</a:t>
            </a:r>
            <a:endParaRPr lang="en-US" sz="1300" dirty="0"/>
          </a:p>
          <a:p>
            <a:pPr indent="0" marL="0">
              <a:buNone/>
            </a:pPr>
            <a:r>
              <a:rPr lang="en-US" sz="1300" dirty="0">
                <a:solidFill>
                  <a:schemeClr val="tx1"/>
                </a:solidFill>
              </a:rPr>
              <a:t>~US$ 1.6B, 55%+ margin, tower-like cash conversion</a:t>
            </a:r>
            <a:endParaRPr lang="en-US" sz="1300" dirty="0"/>
          </a:p>
        </p:txBody>
      </p:sp>
      <p:sp>
        <p:nvSpPr>
          <p:cNvPr id="10" name="Step card 4"/>
          <p:cNvSpPr/>
          <p:nvPr/>
        </p:nvSpPr>
        <p:spPr>
          <a:xfrm>
            <a:off x="7680960" y="4443984"/>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7863840" y="4535424"/>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12  |  Parity</a:t>
            </a:r>
            <a:endParaRPr lang="en-US" sz="1300" dirty="0"/>
          </a:p>
          <a:p>
            <a:pPr indent="0" marL="0">
              <a:buNone/>
            </a:pPr>
            <a:r>
              <a:rPr lang="en-US" sz="1300" dirty="0">
                <a:solidFill>
                  <a:schemeClr val="tx1"/>
                </a:solidFill>
              </a:rPr>
              <a:t>~US$ 4.1B, 62 to 65% margin: the main business</a:t>
            </a:r>
            <a:endParaRPr lang="en-US" sz="1300" dirty="0"/>
          </a:p>
        </p:txBody>
      </p:sp>
      <p:sp>
        <p:nvSpPr>
          <p:cNvPr id="12" name="Text 9"/>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Core grows ~3% a year from ~US$ 2.85B (SBA 2026 guidance). Margin targets are EBITDA. Year 5 is the selection gate; later steps measure long-term potential.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core tension: tower-like margins or real scale</a:t>
            </a:r>
            <a:endParaRPr lang="en-US" sz="2800" dirty="0"/>
          </a:p>
        </p:txBody>
      </p:sp>
      <p:sp>
        <p:nvSpPr>
          <p:cNvPr id="3" name="Ideas that reuse what we have panel"/>
          <p:cNvSpPr/>
          <p:nvPr/>
        </p:nvSpPr>
        <p:spPr>
          <a:xfrm>
            <a:off x="548640" y="1417320"/>
            <a:ext cx="5440680" cy="3566160"/>
          </a:xfrm>
          <a:prstGeom prst="roundRect">
            <a:avLst>
              <a:gd name="adj" fmla="val 307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s that reuse what we have circle"/>
          <p:cNvSpPr/>
          <p:nvPr/>
        </p:nvSpPr>
        <p:spPr>
          <a:xfrm>
            <a:off x="868680" y="1691640"/>
            <a:ext cx="731520" cy="731520"/>
          </a:xfrm>
          <a:prstGeom prst="ellipse">
            <a:avLst/>
          </a:prstGeom>
          <a:solidFill>
            <a:srgbClr val="2A9D8F"/>
          </a:solidFill>
          <a:ln w="12700">
            <a:solidFill>
              <a:srgbClr val="2A9D8F"/>
            </a:solidFill>
            <a:prstDash val="solid"/>
          </a:ln>
        </p:spPr>
      </p:sp>
      <p:pic>
        <p:nvPicPr>
          <p:cNvPr id="5" name="Ideas that reuse what we have icon" descr="Ideas that reuse what we have">    </p:cNvPr>
          <p:cNvPicPr>
            <a:picLocks noChangeAspect="1"/>
          </p:cNvPicPr>
          <p:nvPr/>
        </p:nvPicPr>
        <p:blipFill>
          <a:blip r:embed="rId1"/>
          <a:stretch>
            <a:fillRect/>
          </a:stretch>
        </p:blipFill>
        <p:spPr>
          <a:xfrm>
            <a:off x="1051560" y="1874520"/>
            <a:ext cx="365760" cy="365760"/>
          </a:xfrm>
          <a:prstGeom prst="rect">
            <a:avLst/>
          </a:prstGeom>
        </p:spPr>
      </p:pic>
      <p:sp>
        <p:nvSpPr>
          <p:cNvPr id="6" name="Text 3"/>
          <p:cNvSpPr txBox="1"/>
          <p:nvPr/>
        </p:nvSpPr>
        <p:spPr>
          <a:xfrm>
            <a:off x="1828800" y="1783080"/>
            <a:ext cx="393192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Ideas that reuse what we have</a:t>
            </a:r>
            <a:endParaRPr lang="en-US" sz="2000" dirty="0"/>
          </a:p>
        </p:txBody>
      </p:sp>
      <p:sp>
        <p:nvSpPr>
          <p:cNvPr id="7" name="Text 4"/>
          <p:cNvSpPr txBox="1"/>
          <p:nvPr/>
        </p:nvSpPr>
        <p:spPr>
          <a:xfrm>
            <a:off x="868680" y="2697480"/>
            <a:ext cx="484632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Tower-like margins: shared asset, low capex</a:t>
            </a:r>
            <a:endParaRPr lang="en-US" sz="1600" dirty="0"/>
          </a:p>
          <a:p>
            <a:pPr marL="342900" indent="-342900">
              <a:spcAft>
                <a:spcPts val="1000"/>
              </a:spcAft>
              <a:buSzPct val="100000"/>
              <a:buChar char="•"/>
            </a:pPr>
            <a:r>
              <a:rPr lang="en-US" sz="1600" dirty="0">
                <a:solidFill>
                  <a:schemeClr val="tx1"/>
                </a:solidFill>
              </a:rPr>
              <a:t>Fit with our sites, customers and skills</a:t>
            </a:r>
            <a:endParaRPr lang="en-US" sz="1600" dirty="0"/>
          </a:p>
          <a:p>
            <a:pPr marL="342900" indent="-342900">
              <a:spcAft>
                <a:spcPts val="1000"/>
              </a:spcAft>
              <a:buSzPct val="100000"/>
              <a:buChar char="•"/>
            </a:pPr>
            <a:r>
              <a:rPr lang="en-US" sz="1600" dirty="0">
                <a:solidFill>
                  <a:schemeClr val="tx1"/>
                </a:solidFill>
              </a:rPr>
              <a:t>But smaller revenue pools, at least at first</a:t>
            </a:r>
            <a:endParaRPr lang="en-US" sz="1600" dirty="0"/>
          </a:p>
        </p:txBody>
      </p:sp>
      <p:sp>
        <p:nvSpPr>
          <p:cNvPr id="8" name="Ideas that reach scale panel"/>
          <p:cNvSpPr/>
          <p:nvPr/>
        </p:nvSpPr>
        <p:spPr>
          <a:xfrm>
            <a:off x="6217920" y="1417320"/>
            <a:ext cx="5440680" cy="3566160"/>
          </a:xfrm>
          <a:prstGeom prst="roundRect">
            <a:avLst>
              <a:gd name="adj" fmla="val 3077"/>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9" name="Ideas that reach scale circle"/>
          <p:cNvSpPr/>
          <p:nvPr/>
        </p:nvSpPr>
        <p:spPr>
          <a:xfrm>
            <a:off x="6537960" y="1691640"/>
            <a:ext cx="731520" cy="731520"/>
          </a:xfrm>
          <a:prstGeom prst="ellipse">
            <a:avLst/>
          </a:prstGeom>
          <a:solidFill>
            <a:srgbClr val="F4A300"/>
          </a:solidFill>
          <a:ln w="12700">
            <a:solidFill>
              <a:srgbClr val="F4A300"/>
            </a:solidFill>
            <a:prstDash val="solid"/>
          </a:ln>
        </p:spPr>
      </p:sp>
      <p:pic>
        <p:nvPicPr>
          <p:cNvPr id="10" name="Ideas that reach scale icon" descr="Ideas that reach scale">    </p:cNvPr>
          <p:cNvPicPr>
            <a:picLocks noChangeAspect="1"/>
          </p:cNvPicPr>
          <p:nvPr/>
        </p:nvPicPr>
        <p:blipFill>
          <a:blip r:embed="rId2"/>
          <a:stretch>
            <a:fillRect/>
          </a:stretch>
        </p:blipFill>
        <p:spPr>
          <a:xfrm>
            <a:off x="6720840" y="1874520"/>
            <a:ext cx="365760" cy="365760"/>
          </a:xfrm>
          <a:prstGeom prst="rect">
            <a:avLst/>
          </a:prstGeom>
        </p:spPr>
      </p:pic>
      <p:sp>
        <p:nvSpPr>
          <p:cNvPr id="11" name="Text 7"/>
          <p:cNvSpPr txBox="1"/>
          <p:nvPr/>
        </p:nvSpPr>
        <p:spPr>
          <a:xfrm>
            <a:off x="7498080" y="1783080"/>
            <a:ext cx="3931920" cy="54864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Ideas that reach scale</a:t>
            </a:r>
            <a:endParaRPr lang="en-US" sz="2000" dirty="0"/>
          </a:p>
        </p:txBody>
      </p:sp>
      <p:sp>
        <p:nvSpPr>
          <p:cNvPr id="12" name="Text 8"/>
          <p:cNvSpPr txBox="1"/>
          <p:nvPr/>
        </p:nvSpPr>
        <p:spPr>
          <a:xfrm>
            <a:off x="6537960" y="2697480"/>
            <a:ext cx="484632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Large markets: energy, AI compute, carrier real estate</a:t>
            </a:r>
            <a:endParaRPr lang="en-US" sz="1600" dirty="0"/>
          </a:p>
          <a:p>
            <a:pPr marL="342900" indent="-342900">
              <a:spcAft>
                <a:spcPts val="1000"/>
              </a:spcAft>
              <a:buSzPct val="100000"/>
              <a:buChar char="•"/>
            </a:pPr>
            <a:r>
              <a:rPr lang="en-US" sz="1600" dirty="0">
                <a:solidFill>
                  <a:schemeClr val="bg1"/>
                </a:solidFill>
              </a:rPr>
              <a:t>Fast scale through acquisitions</a:t>
            </a:r>
            <a:endParaRPr lang="en-US" sz="1600" dirty="0"/>
          </a:p>
          <a:p>
            <a:pPr marL="342900" indent="-342900">
              <a:spcAft>
                <a:spcPts val="1000"/>
              </a:spcAft>
              <a:buSzPct val="100000"/>
              <a:buChar char="•"/>
            </a:pPr>
            <a:r>
              <a:rPr lang="en-US" sz="1600" dirty="0">
                <a:solidFill>
                  <a:schemeClr val="bg1"/>
                </a:solidFill>
              </a:rPr>
              <a:t>But heavier capital and margins closer to data centers</a:t>
            </a:r>
            <a:endParaRPr lang="en-US" sz="1600" dirty="0"/>
          </a:p>
        </p:txBody>
      </p:sp>
      <p:sp>
        <p:nvSpPr>
          <p:cNvPr id="13" name="Implication banner"/>
          <p:cNvSpPr/>
          <p:nvPr/>
        </p:nvSpPr>
        <p:spPr>
          <a:xfrm>
            <a:off x="548640" y="5212080"/>
            <a:ext cx="11109960" cy="822960"/>
          </a:xfrm>
          <a:prstGeom prst="roundRect">
            <a:avLst>
              <a:gd name="adj" fmla="val 13333"/>
            </a:avLst>
          </a:prstGeom>
          <a:solidFill>
            <a:srgbClr val="F4A300"/>
          </a:solidFill>
          <a:ln w="12700">
            <a:solidFill>
              <a:srgbClr val="F4A300"/>
            </a:solidFill>
            <a:prstDash val="solid"/>
          </a:ln>
          <a:effectLst>
            <a:outerShdw sx="100000" sy="100000" kx="0" ky="0" algn="bl" rotWithShape="0" blurRad="76200" dist="25400" dir="5400000">
              <a:srgbClr val="9AA5B1">
                <a:alpha val="25000"/>
              </a:srgbClr>
            </a:outerShdw>
          </a:effectLst>
        </p:spPr>
      </p:sp>
      <p:sp>
        <p:nvSpPr>
          <p:cNvPr id="14" name="Text 10"/>
          <p:cNvSpPr txBox="1"/>
          <p:nvPr/>
        </p:nvSpPr>
        <p:spPr>
          <a:xfrm>
            <a:off x="822960" y="5303520"/>
            <a:ext cx="10607040" cy="640080"/>
          </a:xfrm>
          <a:prstGeom prst="rect">
            <a:avLst/>
          </a:prstGeom>
          <a:noFill/>
          <a:ln/>
        </p:spPr>
        <p:txBody>
          <a:bodyPr wrap="square" lIns="0" tIns="0" rIns="0" bIns="0" rtlCol="0" anchor="ctr"/>
          <a:lstStyle/>
          <a:p>
            <a:pPr indent="0" marL="0">
              <a:buNone/>
            </a:pPr>
            <a:r>
              <a:rPr lang="en-US" sz="1600" b="1" dirty="0">
                <a:solidFill>
                  <a:schemeClr val="tx2"/>
                </a:solidFill>
              </a:rPr>
              <a:t>The winning models combine both: apply the tower playbook (shared asset, long contracts, acquired scale) to a new asset class.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Ideas with transformative potential</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3  |  Seven ideas, in order of priority</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Seven ideas, prioritized by potential and fit</a:t>
            </a:r>
            <a:endParaRPr lang="en-US" sz="2800" dirty="0"/>
          </a:p>
        </p:txBody>
      </p:sp>
      <p:sp>
        <p:nvSpPr>
          <p:cNvPr id="3" name="Matrix background"/>
          <p:cNvSpPr/>
          <p:nvPr/>
        </p:nvSpPr>
        <p:spPr>
          <a:xfrm>
            <a:off x="1188720" y="1325880"/>
            <a:ext cx="6583680" cy="4343400"/>
          </a:xfrm>
          <a:prstGeom prst="roundRect">
            <a:avLst>
              <a:gd name="adj" fmla="val 252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Matrix horizontal divider"/>
          <p:cNvSpPr/>
          <p:nvPr/>
        </p:nvSpPr>
        <p:spPr>
          <a:xfrm>
            <a:off x="1188720" y="3474720"/>
            <a:ext cx="6583680" cy="0"/>
          </a:xfrm>
          <a:prstGeom prst="line">
            <a:avLst/>
          </a:prstGeom>
          <a:noFill/>
          <a:ln w="12700">
            <a:solidFill>
              <a:srgbClr val="B8C2CC"/>
            </a:solidFill>
            <a:prstDash val="dash"/>
          </a:ln>
        </p:spPr>
      </p:sp>
      <p:sp>
        <p:nvSpPr>
          <p:cNvPr id="5" name="Matrix vertical divider"/>
          <p:cNvSpPr/>
          <p:nvPr/>
        </p:nvSpPr>
        <p:spPr>
          <a:xfrm>
            <a:off x="4480560" y="1325880"/>
            <a:ext cx="0" cy="4343400"/>
          </a:xfrm>
          <a:prstGeom prst="line">
            <a:avLst/>
          </a:prstGeom>
          <a:noFill/>
          <a:ln w="12700">
            <a:solidFill>
              <a:srgbClr val="B8C2CC"/>
            </a:solidFill>
            <a:prstDash val="dash"/>
          </a:ln>
        </p:spPr>
      </p:sp>
      <p:sp>
        <p:nvSpPr>
          <p:cNvPr id="6" name="Text 4"/>
          <p:cNvSpPr txBox="1"/>
          <p:nvPr/>
        </p:nvSpPr>
        <p:spPr>
          <a:xfrm rot="16200000">
            <a:off x="45720" y="3291840"/>
            <a:ext cx="1463040" cy="365760"/>
          </a:xfrm>
          <a:prstGeom prst="rect">
            <a:avLst/>
          </a:prstGeom>
          <a:noFill/>
          <a:ln/>
        </p:spPr>
        <p:txBody>
          <a:bodyPr wrap="square" lIns="0" tIns="0" rIns="0" bIns="0" rtlCol="0" anchor="t"/>
          <a:lstStyle/>
          <a:p>
            <a:pPr algn="ctr" indent="0" marL="0">
              <a:buNone/>
            </a:pPr>
            <a:r>
              <a:rPr lang="en-US" sz="1200" b="1" dirty="0">
                <a:solidFill>
                  <a:schemeClr val="accent3"/>
                </a:solidFill>
              </a:rPr>
              <a:t>Transformative potential</a:t>
            </a:r>
            <a:endParaRPr lang="en-US" sz="1200" dirty="0"/>
          </a:p>
        </p:txBody>
      </p:sp>
      <p:sp>
        <p:nvSpPr>
          <p:cNvPr id="7" name="Text 5"/>
          <p:cNvSpPr txBox="1"/>
          <p:nvPr/>
        </p:nvSpPr>
        <p:spPr>
          <a:xfrm>
            <a:off x="1188720" y="5733288"/>
            <a:ext cx="6583680" cy="274320"/>
          </a:xfrm>
          <a:prstGeom prst="rect">
            <a:avLst/>
          </a:prstGeom>
          <a:noFill/>
          <a:ln/>
        </p:spPr>
        <p:txBody>
          <a:bodyPr wrap="square" lIns="0" tIns="0" rIns="0" bIns="0" rtlCol="0" anchor="t"/>
          <a:lstStyle/>
          <a:p>
            <a:pPr algn="ctr" indent="0" marL="0">
              <a:buNone/>
            </a:pPr>
            <a:r>
              <a:rPr lang="en-US" sz="1200" b="1" dirty="0">
                <a:solidFill>
                  <a:schemeClr val="accent3"/>
                </a:solidFill>
              </a:rPr>
              <a:t>Fit with current assets and customers</a:t>
            </a:r>
            <a:endParaRPr lang="en-US" sz="1200" dirty="0"/>
          </a:p>
        </p:txBody>
      </p:sp>
      <p:sp>
        <p:nvSpPr>
          <p:cNvPr id="8" name="Idea marker 1"/>
          <p:cNvSpPr/>
          <p:nvPr/>
        </p:nvSpPr>
        <p:spPr>
          <a:xfrm>
            <a:off x="6675120" y="2880360"/>
            <a:ext cx="548640" cy="548640"/>
          </a:xfrm>
          <a:prstGeom prst="ellipse">
            <a:avLst/>
          </a:prstGeom>
          <a:solidFill>
            <a:srgbClr val="F4A300"/>
          </a:solidFill>
          <a:ln w="19050">
            <a:solidFill>
              <a:srgbClr val="FFFFFF"/>
            </a:solidFill>
            <a:prstDash val="solid"/>
          </a:ln>
        </p:spPr>
      </p:sp>
      <p:sp>
        <p:nvSpPr>
          <p:cNvPr id="9" name="Text 7"/>
          <p:cNvSpPr txBox="1"/>
          <p:nvPr/>
        </p:nvSpPr>
        <p:spPr>
          <a:xfrm>
            <a:off x="6675120" y="288036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10" name="Idea marker 2"/>
          <p:cNvSpPr/>
          <p:nvPr/>
        </p:nvSpPr>
        <p:spPr>
          <a:xfrm>
            <a:off x="5943600" y="1828800"/>
            <a:ext cx="548640" cy="548640"/>
          </a:xfrm>
          <a:prstGeom prst="ellipse">
            <a:avLst/>
          </a:prstGeom>
          <a:solidFill>
            <a:srgbClr val="F4A300"/>
          </a:solidFill>
          <a:ln w="19050">
            <a:solidFill>
              <a:srgbClr val="FFFFFF"/>
            </a:solidFill>
            <a:prstDash val="solid"/>
          </a:ln>
        </p:spPr>
      </p:sp>
      <p:sp>
        <p:nvSpPr>
          <p:cNvPr id="11" name="Text 9"/>
          <p:cNvSpPr txBox="1"/>
          <p:nvPr/>
        </p:nvSpPr>
        <p:spPr>
          <a:xfrm>
            <a:off x="5943600" y="182880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2" name="Idea marker 3"/>
          <p:cNvSpPr/>
          <p:nvPr/>
        </p:nvSpPr>
        <p:spPr>
          <a:xfrm>
            <a:off x="4937760" y="2514600"/>
            <a:ext cx="548640" cy="548640"/>
          </a:xfrm>
          <a:prstGeom prst="ellipse">
            <a:avLst/>
          </a:prstGeom>
          <a:solidFill>
            <a:srgbClr val="2A9D8F"/>
          </a:solidFill>
          <a:ln w="19050">
            <a:solidFill>
              <a:srgbClr val="FFFFFF"/>
            </a:solidFill>
            <a:prstDash val="solid"/>
          </a:ln>
        </p:spPr>
      </p:sp>
      <p:sp>
        <p:nvSpPr>
          <p:cNvPr id="13" name="Text 11"/>
          <p:cNvSpPr txBox="1"/>
          <p:nvPr/>
        </p:nvSpPr>
        <p:spPr>
          <a:xfrm>
            <a:off x="4937760" y="251460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4" name="Idea marker 4"/>
          <p:cNvSpPr/>
          <p:nvPr/>
        </p:nvSpPr>
        <p:spPr>
          <a:xfrm>
            <a:off x="3291840" y="1645920"/>
            <a:ext cx="548640" cy="548640"/>
          </a:xfrm>
          <a:prstGeom prst="ellipse">
            <a:avLst/>
          </a:prstGeom>
          <a:solidFill>
            <a:srgbClr val="2A9D8F"/>
          </a:solidFill>
          <a:ln w="19050">
            <a:solidFill>
              <a:srgbClr val="FFFFFF"/>
            </a:solidFill>
            <a:prstDash val="solid"/>
          </a:ln>
        </p:spPr>
      </p:sp>
      <p:sp>
        <p:nvSpPr>
          <p:cNvPr id="15" name="Text 13"/>
          <p:cNvSpPr txBox="1"/>
          <p:nvPr/>
        </p:nvSpPr>
        <p:spPr>
          <a:xfrm>
            <a:off x="3291840" y="16459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6" name="Idea marker 5"/>
          <p:cNvSpPr/>
          <p:nvPr/>
        </p:nvSpPr>
        <p:spPr>
          <a:xfrm>
            <a:off x="2468880" y="2331720"/>
            <a:ext cx="548640" cy="548640"/>
          </a:xfrm>
          <a:prstGeom prst="ellipse">
            <a:avLst/>
          </a:prstGeom>
          <a:solidFill>
            <a:srgbClr val="8AA1B8"/>
          </a:solidFill>
          <a:ln w="19050">
            <a:solidFill>
              <a:srgbClr val="FFFFFF"/>
            </a:solidFill>
            <a:prstDash val="solid"/>
          </a:ln>
        </p:spPr>
      </p:sp>
      <p:sp>
        <p:nvSpPr>
          <p:cNvPr id="17" name="Text 15"/>
          <p:cNvSpPr txBox="1"/>
          <p:nvPr/>
        </p:nvSpPr>
        <p:spPr>
          <a:xfrm>
            <a:off x="2468880" y="23317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8" name="Idea marker 6"/>
          <p:cNvSpPr/>
          <p:nvPr/>
        </p:nvSpPr>
        <p:spPr>
          <a:xfrm>
            <a:off x="1828800" y="3063240"/>
            <a:ext cx="548640" cy="548640"/>
          </a:xfrm>
          <a:prstGeom prst="ellipse">
            <a:avLst/>
          </a:prstGeom>
          <a:solidFill>
            <a:srgbClr val="8AA1B8"/>
          </a:solidFill>
          <a:ln w="19050">
            <a:solidFill>
              <a:srgbClr val="FFFFFF"/>
            </a:solidFill>
            <a:prstDash val="solid"/>
          </a:ln>
        </p:spPr>
      </p:sp>
      <p:sp>
        <p:nvSpPr>
          <p:cNvPr id="19" name="Text 17"/>
          <p:cNvSpPr txBox="1"/>
          <p:nvPr/>
        </p:nvSpPr>
        <p:spPr>
          <a:xfrm>
            <a:off x="1828800" y="306324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0" name="Idea marker 7"/>
          <p:cNvSpPr/>
          <p:nvPr/>
        </p:nvSpPr>
        <p:spPr>
          <a:xfrm>
            <a:off x="5212080" y="4206240"/>
            <a:ext cx="548640" cy="548640"/>
          </a:xfrm>
          <a:prstGeom prst="ellipse">
            <a:avLst/>
          </a:prstGeom>
          <a:solidFill>
            <a:srgbClr val="8AA1B8"/>
          </a:solidFill>
          <a:ln w="19050">
            <a:solidFill>
              <a:srgbClr val="FFFFFF"/>
            </a:solidFill>
            <a:prstDash val="solid"/>
          </a:ln>
        </p:spPr>
      </p:sp>
      <p:sp>
        <p:nvSpPr>
          <p:cNvPr id="21" name="Text 19"/>
          <p:cNvSpPr txBox="1"/>
          <p:nvPr/>
        </p:nvSpPr>
        <p:spPr>
          <a:xfrm>
            <a:off x="5212080" y="420624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7</a:t>
            </a:r>
            <a:endParaRPr lang="en-US" sz="1600" dirty="0"/>
          </a:p>
        </p:txBody>
      </p:sp>
      <p:sp>
        <p:nvSpPr>
          <p:cNvPr id="22" name="Text 20"/>
          <p:cNvSpPr txBox="1"/>
          <p:nvPr/>
        </p:nvSpPr>
        <p:spPr>
          <a:xfrm>
            <a:off x="8138160" y="132588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Start now</a:t>
            </a:r>
            <a:endParaRPr lang="en-US" sz="1400" dirty="0"/>
          </a:p>
        </p:txBody>
      </p:sp>
      <p:sp>
        <p:nvSpPr>
          <p:cNvPr id="23" name="Legend marker 1"/>
          <p:cNvSpPr/>
          <p:nvPr/>
        </p:nvSpPr>
        <p:spPr>
          <a:xfrm>
            <a:off x="8138160" y="1728216"/>
            <a:ext cx="329184" cy="329184"/>
          </a:xfrm>
          <a:prstGeom prst="ellipse">
            <a:avLst/>
          </a:prstGeom>
          <a:solidFill>
            <a:srgbClr val="F4A300"/>
          </a:solidFill>
          <a:ln w="12700">
            <a:solidFill>
              <a:srgbClr val="F4A300"/>
            </a:solidFill>
            <a:prstDash val="solid"/>
          </a:ln>
        </p:spPr>
      </p:sp>
      <p:sp>
        <p:nvSpPr>
          <p:cNvPr id="24" name="Text 22"/>
          <p:cNvSpPr txBox="1"/>
          <p:nvPr/>
        </p:nvSpPr>
        <p:spPr>
          <a:xfrm>
            <a:off x="8138160" y="172821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25" name="Text 23"/>
          <p:cNvSpPr txBox="1"/>
          <p:nvPr/>
        </p:nvSpPr>
        <p:spPr>
          <a:xfrm>
            <a:off x="8595360" y="1691640"/>
            <a:ext cx="3108960" cy="411480"/>
          </a:xfrm>
          <a:prstGeom prst="rect">
            <a:avLst/>
          </a:prstGeom>
          <a:noFill/>
          <a:ln/>
        </p:spPr>
        <p:txBody>
          <a:bodyPr wrap="square" lIns="0" tIns="0" rIns="0" bIns="0" rtlCol="0" anchor="ctr"/>
          <a:lstStyle/>
          <a:p>
            <a:pPr indent="0" marL="0">
              <a:buNone/>
            </a:pPr>
            <a:r>
              <a:rPr lang="en-US" sz="1300" dirty="0">
                <a:solidFill>
                  <a:schemeClr val="tx1"/>
                </a:solidFill>
              </a:rPr>
              <a:t>Site platform: second payer on our sites</a:t>
            </a:r>
            <a:endParaRPr lang="en-US" sz="1300" dirty="0"/>
          </a:p>
        </p:txBody>
      </p:sp>
      <p:sp>
        <p:nvSpPr>
          <p:cNvPr id="26" name="Legend marker 2"/>
          <p:cNvSpPr/>
          <p:nvPr/>
        </p:nvSpPr>
        <p:spPr>
          <a:xfrm>
            <a:off x="8138160" y="2185416"/>
            <a:ext cx="329184" cy="329184"/>
          </a:xfrm>
          <a:prstGeom prst="ellipse">
            <a:avLst/>
          </a:prstGeom>
          <a:solidFill>
            <a:srgbClr val="F4A300"/>
          </a:solidFill>
          <a:ln w="12700">
            <a:solidFill>
              <a:srgbClr val="F4A300"/>
            </a:solidFill>
            <a:prstDash val="solid"/>
          </a:ln>
        </p:spPr>
      </p:sp>
      <p:sp>
        <p:nvSpPr>
          <p:cNvPr id="27" name="Text 25"/>
          <p:cNvSpPr txBox="1"/>
          <p:nvPr/>
        </p:nvSpPr>
        <p:spPr>
          <a:xfrm>
            <a:off x="8138160" y="218541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28" name="Text 26"/>
          <p:cNvSpPr txBox="1"/>
          <p:nvPr/>
        </p:nvSpPr>
        <p:spPr>
          <a:xfrm>
            <a:off x="8595360" y="2148840"/>
            <a:ext cx="3108960" cy="411480"/>
          </a:xfrm>
          <a:prstGeom prst="rect">
            <a:avLst/>
          </a:prstGeom>
          <a:noFill/>
          <a:ln/>
        </p:spPr>
        <p:txBody>
          <a:bodyPr wrap="square" lIns="0" tIns="0" rIns="0" bIns="0" rtlCol="0" anchor="ctr"/>
          <a:lstStyle/>
          <a:p>
            <a:pPr indent="0" marL="0">
              <a:buNone/>
            </a:pPr>
            <a:r>
              <a:rPr lang="en-US" sz="1300" dirty="0">
                <a:solidFill>
                  <a:schemeClr val="tx1"/>
                </a:solidFill>
              </a:rPr>
              <a:t>Energy-as-a-Service with shared batteries</a:t>
            </a:r>
            <a:endParaRPr lang="en-US" sz="1300" dirty="0"/>
          </a:p>
        </p:txBody>
      </p:sp>
      <p:sp>
        <p:nvSpPr>
          <p:cNvPr id="29" name="Text 27"/>
          <p:cNvSpPr txBox="1"/>
          <p:nvPr/>
        </p:nvSpPr>
        <p:spPr>
          <a:xfrm>
            <a:off x="8138160" y="260604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Build a pipeline</a:t>
            </a:r>
            <a:endParaRPr lang="en-US" sz="1400" dirty="0"/>
          </a:p>
        </p:txBody>
      </p:sp>
      <p:sp>
        <p:nvSpPr>
          <p:cNvPr id="30" name="Legend marker 3"/>
          <p:cNvSpPr/>
          <p:nvPr/>
        </p:nvSpPr>
        <p:spPr>
          <a:xfrm>
            <a:off x="8138160" y="3008376"/>
            <a:ext cx="329184" cy="329184"/>
          </a:xfrm>
          <a:prstGeom prst="ellipse">
            <a:avLst/>
          </a:prstGeom>
          <a:solidFill>
            <a:srgbClr val="2A9D8F"/>
          </a:solidFill>
          <a:ln w="12700">
            <a:solidFill>
              <a:srgbClr val="2A9D8F"/>
            </a:solidFill>
            <a:prstDash val="solid"/>
          </a:ln>
        </p:spPr>
      </p:sp>
      <p:sp>
        <p:nvSpPr>
          <p:cNvPr id="31" name="Text 29"/>
          <p:cNvSpPr txBox="1"/>
          <p:nvPr/>
        </p:nvSpPr>
        <p:spPr>
          <a:xfrm>
            <a:off x="8138160" y="300837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32" name="Text 30"/>
          <p:cNvSpPr txBox="1"/>
          <p:nvPr/>
        </p:nvSpPr>
        <p:spPr>
          <a:xfrm>
            <a:off x="8595360" y="2971800"/>
            <a:ext cx="3108960" cy="411480"/>
          </a:xfrm>
          <a:prstGeom prst="rect">
            <a:avLst/>
          </a:prstGeom>
          <a:noFill/>
          <a:ln/>
        </p:spPr>
        <p:txBody>
          <a:bodyPr wrap="square" lIns="0" tIns="0" rIns="0" bIns="0" rtlCol="0" anchor="ctr"/>
          <a:lstStyle/>
          <a:p>
            <a:pPr indent="0" marL="0">
              <a:buNone/>
            </a:pPr>
            <a:r>
              <a:rPr lang="en-US" sz="1300" dirty="0">
                <a:solidFill>
                  <a:schemeClr val="tx1"/>
                </a:solidFill>
              </a:rPr>
              <a:t>Carrier real-estate sale-leaseback (HubCo)</a:t>
            </a:r>
            <a:endParaRPr lang="en-US" sz="1300" dirty="0"/>
          </a:p>
        </p:txBody>
      </p:sp>
      <p:sp>
        <p:nvSpPr>
          <p:cNvPr id="33" name="Legend marker 4"/>
          <p:cNvSpPr/>
          <p:nvPr/>
        </p:nvSpPr>
        <p:spPr>
          <a:xfrm>
            <a:off x="8138160" y="3465576"/>
            <a:ext cx="329184" cy="329184"/>
          </a:xfrm>
          <a:prstGeom prst="ellipse">
            <a:avLst/>
          </a:prstGeom>
          <a:solidFill>
            <a:srgbClr val="2A9D8F"/>
          </a:solidFill>
          <a:ln w="12700">
            <a:solidFill>
              <a:srgbClr val="2A9D8F"/>
            </a:solidFill>
            <a:prstDash val="solid"/>
          </a:ln>
        </p:spPr>
      </p:sp>
      <p:sp>
        <p:nvSpPr>
          <p:cNvPr id="34" name="Text 32"/>
          <p:cNvSpPr txBox="1"/>
          <p:nvPr/>
        </p:nvSpPr>
        <p:spPr>
          <a:xfrm>
            <a:off x="8138160" y="346557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35" name="Text 33"/>
          <p:cNvSpPr txBox="1"/>
          <p:nvPr/>
        </p:nvSpPr>
        <p:spPr>
          <a:xfrm>
            <a:off x="8595360" y="3429000"/>
            <a:ext cx="3108960" cy="411480"/>
          </a:xfrm>
          <a:prstGeom prst="rect">
            <a:avLst/>
          </a:prstGeom>
          <a:noFill/>
          <a:ln/>
        </p:spPr>
        <p:txBody>
          <a:bodyPr wrap="square" lIns="0" tIns="0" rIns="0" bIns="0" rtlCol="0" anchor="ctr"/>
          <a:lstStyle/>
          <a:p>
            <a:pPr indent="0" marL="0">
              <a:buNone/>
            </a:pPr>
            <a:r>
              <a:rPr lang="en-US" sz="1300" dirty="0">
                <a:solidFill>
                  <a:schemeClr val="tx1"/>
                </a:solidFill>
              </a:rPr>
              <a:t>Powered land for AI and the grid</a:t>
            </a:r>
            <a:endParaRPr lang="en-US" sz="1300" dirty="0"/>
          </a:p>
        </p:txBody>
      </p:sp>
      <p:sp>
        <p:nvSpPr>
          <p:cNvPr id="36" name="Text 34"/>
          <p:cNvSpPr txBox="1"/>
          <p:nvPr/>
        </p:nvSpPr>
        <p:spPr>
          <a:xfrm>
            <a:off x="8138160" y="388620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Strategic options</a:t>
            </a:r>
            <a:endParaRPr lang="en-US" sz="1400" dirty="0"/>
          </a:p>
        </p:txBody>
      </p:sp>
      <p:sp>
        <p:nvSpPr>
          <p:cNvPr id="37" name="Legend marker 5"/>
          <p:cNvSpPr/>
          <p:nvPr/>
        </p:nvSpPr>
        <p:spPr>
          <a:xfrm>
            <a:off x="8138160" y="4288536"/>
            <a:ext cx="329184" cy="329184"/>
          </a:xfrm>
          <a:prstGeom prst="ellipse">
            <a:avLst/>
          </a:prstGeom>
          <a:solidFill>
            <a:srgbClr val="8AA1B8"/>
          </a:solidFill>
          <a:ln w="12700">
            <a:solidFill>
              <a:srgbClr val="8AA1B8"/>
            </a:solidFill>
            <a:prstDash val="solid"/>
          </a:ln>
        </p:spPr>
      </p:sp>
      <p:sp>
        <p:nvSpPr>
          <p:cNvPr id="38" name="Text 36"/>
          <p:cNvSpPr txBox="1"/>
          <p:nvPr/>
        </p:nvSpPr>
        <p:spPr>
          <a:xfrm>
            <a:off x="8138160" y="42885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9" name="Text 37"/>
          <p:cNvSpPr txBox="1"/>
          <p:nvPr/>
        </p:nvSpPr>
        <p:spPr>
          <a:xfrm>
            <a:off x="8595360" y="4251960"/>
            <a:ext cx="3108960" cy="411480"/>
          </a:xfrm>
          <a:prstGeom prst="rect">
            <a:avLst/>
          </a:prstGeom>
          <a:noFill/>
          <a:ln/>
        </p:spPr>
        <p:txBody>
          <a:bodyPr wrap="square" lIns="0" tIns="0" rIns="0" bIns="0" rtlCol="0" anchor="ctr"/>
          <a:lstStyle/>
          <a:p>
            <a:pPr indent="0" marL="0">
              <a:buNone/>
            </a:pPr>
            <a:r>
              <a:rPr lang="en-US" sz="1300" dirty="0">
                <a:solidFill>
                  <a:schemeClr val="tx1"/>
                </a:solidFill>
              </a:rPr>
              <a:t>Acquire a multi-tenant platform</a:t>
            </a:r>
            <a:endParaRPr lang="en-US" sz="1300" dirty="0"/>
          </a:p>
        </p:txBody>
      </p:sp>
      <p:sp>
        <p:nvSpPr>
          <p:cNvPr id="40" name="Legend marker 6"/>
          <p:cNvSpPr/>
          <p:nvPr/>
        </p:nvSpPr>
        <p:spPr>
          <a:xfrm>
            <a:off x="8138160" y="4745736"/>
            <a:ext cx="329184" cy="329184"/>
          </a:xfrm>
          <a:prstGeom prst="ellipse">
            <a:avLst/>
          </a:prstGeom>
          <a:solidFill>
            <a:srgbClr val="8AA1B8"/>
          </a:solidFill>
          <a:ln w="12700">
            <a:solidFill>
              <a:srgbClr val="8AA1B8"/>
            </a:solidFill>
            <a:prstDash val="solid"/>
          </a:ln>
        </p:spPr>
      </p:sp>
      <p:sp>
        <p:nvSpPr>
          <p:cNvPr id="41" name="Text 39"/>
          <p:cNvSpPr txBox="1"/>
          <p:nvPr/>
        </p:nvSpPr>
        <p:spPr>
          <a:xfrm>
            <a:off x="8138160" y="47457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6</a:t>
            </a:r>
            <a:endParaRPr lang="en-US" sz="1200" dirty="0"/>
          </a:p>
        </p:txBody>
      </p:sp>
      <p:sp>
        <p:nvSpPr>
          <p:cNvPr id="42" name="Text 40"/>
          <p:cNvSpPr txBox="1"/>
          <p:nvPr/>
        </p:nvSpPr>
        <p:spPr>
          <a:xfrm>
            <a:off x="8595360" y="4709160"/>
            <a:ext cx="3108960" cy="411480"/>
          </a:xfrm>
          <a:prstGeom prst="rect">
            <a:avLst/>
          </a:prstGeom>
          <a:noFill/>
          <a:ln/>
        </p:spPr>
        <p:txBody>
          <a:bodyPr wrap="square" lIns="0" tIns="0" rIns="0" bIns="0" rtlCol="0" anchor="ctr"/>
          <a:lstStyle/>
          <a:p>
            <a:pPr indent="0" marL="0">
              <a:buNone/>
            </a:pPr>
            <a:r>
              <a:rPr lang="en-US" sz="1300" dirty="0">
                <a:solidFill>
                  <a:schemeClr val="tx1"/>
                </a:solidFill>
              </a:rPr>
              <a:t>Edge and AI-RAN compute hubs</a:t>
            </a:r>
            <a:endParaRPr lang="en-US" sz="1300" dirty="0"/>
          </a:p>
        </p:txBody>
      </p:sp>
      <p:sp>
        <p:nvSpPr>
          <p:cNvPr id="43" name="Legend marker 7"/>
          <p:cNvSpPr/>
          <p:nvPr/>
        </p:nvSpPr>
        <p:spPr>
          <a:xfrm>
            <a:off x="8138160" y="5202936"/>
            <a:ext cx="329184" cy="329184"/>
          </a:xfrm>
          <a:prstGeom prst="ellipse">
            <a:avLst/>
          </a:prstGeom>
          <a:solidFill>
            <a:srgbClr val="8AA1B8"/>
          </a:solidFill>
          <a:ln w="12700">
            <a:solidFill>
              <a:srgbClr val="8AA1B8"/>
            </a:solidFill>
            <a:prstDash val="solid"/>
          </a:ln>
        </p:spPr>
      </p:sp>
      <p:sp>
        <p:nvSpPr>
          <p:cNvPr id="44" name="Text 42"/>
          <p:cNvSpPr txBox="1"/>
          <p:nvPr/>
        </p:nvSpPr>
        <p:spPr>
          <a:xfrm>
            <a:off x="8138160" y="52029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7</a:t>
            </a:r>
            <a:endParaRPr lang="en-US" sz="1200" dirty="0"/>
          </a:p>
        </p:txBody>
      </p:sp>
      <p:sp>
        <p:nvSpPr>
          <p:cNvPr id="45" name="Text 43"/>
          <p:cNvSpPr txBox="1"/>
          <p:nvPr/>
        </p:nvSpPr>
        <p:spPr>
          <a:xfrm>
            <a:off x="8595360" y="5166360"/>
            <a:ext cx="3108960" cy="411480"/>
          </a:xfrm>
          <a:prstGeom prst="rect">
            <a:avLst/>
          </a:prstGeom>
          <a:noFill/>
          <a:ln/>
        </p:spPr>
        <p:txBody>
          <a:bodyPr wrap="square" lIns="0" tIns="0" rIns="0" bIns="0" rtlCol="0" anchor="ctr"/>
          <a:lstStyle/>
          <a:p>
            <a:pPr indent="0" marL="0">
              <a:buNone/>
            </a:pPr>
            <a:r>
              <a:rPr lang="en-US" sz="1300" dirty="0">
                <a:solidFill>
                  <a:schemeClr val="tx1"/>
                </a:solidFill>
              </a:rPr>
              <a:t>Neutral satellite gateways</a:t>
            </a:r>
            <a:endParaRPr lang="en-US" sz="1300" dirty="0"/>
          </a:p>
        </p:txBody>
      </p:sp>
      <p:sp>
        <p:nvSpPr>
          <p:cNvPr id="46" name="Text 44"/>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Priority reflects the potential to scale, closeness to the core and the strength of the tower-like economics, as tested in three rounds of structured review.</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1: Our sites as a multi-industry platform</a:t>
            </a:r>
            <a:endParaRPr lang="en-US" sz="2800" dirty="0"/>
          </a:p>
        </p:txBody>
      </p:sp>
      <p:sp>
        <p:nvSpPr>
          <p:cNvPr id="3" name="Site platform circle"/>
          <p:cNvSpPr/>
          <p:nvPr/>
        </p:nvSpPr>
        <p:spPr>
          <a:xfrm>
            <a:off x="548640" y="1371600"/>
            <a:ext cx="777240" cy="777240"/>
          </a:xfrm>
          <a:prstGeom prst="ellipse">
            <a:avLst/>
          </a:prstGeom>
          <a:solidFill>
            <a:srgbClr val="F4A300"/>
          </a:solidFill>
          <a:ln w="12700">
            <a:solidFill>
              <a:srgbClr val="F4A300"/>
            </a:solidFill>
            <a:prstDash val="solid"/>
          </a:ln>
        </p:spPr>
      </p:sp>
      <p:pic>
        <p:nvPicPr>
          <p:cNvPr id="4" name="Site platform icon" descr="Site platform">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Start now  |  What it is</a:t>
            </a:r>
            <a:endParaRPr lang="en-US" sz="1500" dirty="0"/>
          </a:p>
          <a:p>
            <a:pPr indent="0" marL="0">
              <a:buNone/>
            </a:pPr>
            <a:r>
              <a:rPr lang="en-US" sz="1500" dirty="0">
                <a:solidFill>
                  <a:schemeClr val="tx1"/>
                </a:solidFill>
              </a:rPr>
              <a:t>Sell ground space, structure space and power capacity on our ~44k existing sites to payers that are not mobile carriers, under 10 to 15 year master agreements with escalators. The tenant installs and owns its equipment, exactly as on a tower.</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Map spare capacity</a:t>
            </a:r>
            <a:endParaRPr lang="en-US" sz="1500" dirty="0"/>
          </a:p>
          <a:p>
            <a:pPr indent="0" marL="0">
              <a:buNone/>
            </a:pPr>
            <a:r>
              <a:rPr lang="en-US" sz="1400" dirty="0">
                <a:solidFill>
                  <a:schemeClr val="tx1"/>
                </a:solidFill>
              </a:rPr>
              <a:t>Score all ~44k sites for spare ground, structure load, grid power and fiber; publish a site catalog</a:t>
            </a:r>
            <a:endParaRPr lang="en-US" sz="1500" dirty="0"/>
          </a:p>
        </p:txBody>
      </p:sp>
      <p:sp>
        <p:nvSpPr>
          <p:cNvPr id="9" name="Flow arrow 1"/>
          <p:cNvSpPr/>
          <p:nvPr/>
        </p:nvSpPr>
        <p:spPr>
          <a:xfrm>
            <a:off x="3182112" y="3611880"/>
            <a:ext cx="164592" cy="365760"/>
          </a:xfrm>
          <a:prstGeom prst="chevron">
            <a:avLst/>
          </a:prstGeom>
          <a:solidFill>
            <a:srgbClr val="F4A300"/>
          </a:solidFill>
          <a:ln w="12700">
            <a:solidFill>
              <a:srgbClr val="F4A300"/>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Sign master agreements</a:t>
            </a:r>
            <a:endParaRPr lang="en-US" sz="1500" dirty="0"/>
          </a:p>
          <a:p>
            <a:pPr indent="0" marL="0">
              <a:buNone/>
            </a:pPr>
            <a:r>
              <a:rPr lang="en-US" sz="1400" dirty="0">
                <a:solidFill>
                  <a:schemeClr val="tx1"/>
                </a:solidFill>
              </a:rPr>
              <a:t>10-15 year MLAs per industry with annual escalators, standard site fees and pre-approved designs</a:t>
            </a:r>
            <a:endParaRPr lang="en-US" sz="1500" dirty="0"/>
          </a:p>
        </p:txBody>
      </p:sp>
      <p:sp>
        <p:nvSpPr>
          <p:cNvPr id="12" name="Flow arrow 2"/>
          <p:cNvSpPr/>
          <p:nvPr/>
        </p:nvSpPr>
        <p:spPr>
          <a:xfrm>
            <a:off x="6016752" y="3611880"/>
            <a:ext cx="164592" cy="365760"/>
          </a:xfrm>
          <a:prstGeom prst="chevron">
            <a:avLst/>
          </a:prstGeom>
          <a:solidFill>
            <a:srgbClr val="F4A300"/>
          </a:solidFill>
          <a:ln w="12700">
            <a:solidFill>
              <a:srgbClr val="F4A300"/>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Tenant installs and owns</a:t>
            </a:r>
            <a:endParaRPr lang="en-US" sz="1500" dirty="0"/>
          </a:p>
          <a:p>
            <a:pPr indent="0" marL="0">
              <a:buNone/>
            </a:pPr>
            <a:r>
              <a:rPr lang="en-US" sz="1400" dirty="0">
                <a:solidFill>
                  <a:schemeClr val="tx1"/>
                </a:solidFill>
              </a:rPr>
              <a:t>Payer funds and owns its radios, gateways or batteries; we handle permits, access and site build</a:t>
            </a:r>
            <a:endParaRPr lang="en-US" sz="1500" dirty="0"/>
          </a:p>
        </p:txBody>
      </p:sp>
      <p:sp>
        <p:nvSpPr>
          <p:cNvPr id="15" name="Flow arrow 3"/>
          <p:cNvSpPr/>
          <p:nvPr/>
        </p:nvSpPr>
        <p:spPr>
          <a:xfrm>
            <a:off x="8851392" y="3611880"/>
            <a:ext cx="164592" cy="365760"/>
          </a:xfrm>
          <a:prstGeom prst="chevron">
            <a:avLst/>
          </a:prstGeom>
          <a:solidFill>
            <a:srgbClr val="F4A300"/>
          </a:solidFill>
          <a:ln w="12700">
            <a:solidFill>
              <a:srgbClr val="F4A300"/>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Operate and upsell</a:t>
            </a:r>
            <a:endParaRPr lang="en-US" sz="1500" dirty="0"/>
          </a:p>
          <a:p>
            <a:pPr indent="0" marL="0">
              <a:buNone/>
            </a:pPr>
            <a:r>
              <a:rPr lang="en-US" sz="1400" dirty="0">
                <a:solidFill>
                  <a:schemeClr val="tx1"/>
                </a:solidFill>
              </a:rPr>
              <a:t>Same 24/7 site ops, monitoring and billing as tower leases; add sites and amendments over the term</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Land, permits, access, security and grid connection are already paid for and in place across the Americas and Africa.</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Recreates the core economics, a second payer on a paid-for asset, with near-zero capex. Turns satellite from a threat into a tenant.</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New payers with tower-like margins</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F4A300"/>
          </a:solidFill>
          <a:ln w="12700">
            <a:solidFill>
              <a:srgbClr val="F4A300"/>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Electric utilities</a:t>
            </a:r>
            <a:endParaRPr lang="en-US" sz="1500" dirty="0"/>
          </a:p>
          <a:p>
            <a:pPr indent="0" marL="0">
              <a:buNone/>
            </a:pPr>
            <a:r>
              <a:rPr lang="en-US" sz="1400" dirty="0">
                <a:solidFill>
                  <a:schemeClr val="tx1"/>
                </a:solidFill>
              </a:rPr>
              <a:t>Antenna space for private LTE, smart-meter backhaul and grid sensors</a:t>
            </a:r>
            <a:endParaRPr lang="en-US" sz="1500" dirty="0"/>
          </a:p>
        </p:txBody>
      </p:sp>
      <p:sp>
        <p:nvSpPr>
          <p:cNvPr id="7" name="Payer marker 2"/>
          <p:cNvSpPr/>
          <p:nvPr/>
        </p:nvSpPr>
        <p:spPr>
          <a:xfrm>
            <a:off x="548640" y="2724912"/>
            <a:ext cx="329184" cy="329184"/>
          </a:xfrm>
          <a:prstGeom prst="ellipse">
            <a:avLst/>
          </a:prstGeom>
          <a:solidFill>
            <a:srgbClr val="F4A300"/>
          </a:solidFill>
          <a:ln w="12700">
            <a:solidFill>
              <a:srgbClr val="F4A300"/>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Battery storage developers</a:t>
            </a:r>
            <a:endParaRPr lang="en-US" sz="1500" dirty="0"/>
          </a:p>
          <a:p>
            <a:pPr indent="0" marL="0">
              <a:buNone/>
            </a:pPr>
            <a:r>
              <a:rPr lang="en-US" sz="1400" dirty="0">
                <a:solidFill>
                  <a:schemeClr val="tx1"/>
                </a:solidFill>
              </a:rPr>
              <a:t>Ground space and grid-adjacent land for small distribution-level BESS</a:t>
            </a:r>
            <a:endParaRPr lang="en-US" sz="1500" dirty="0"/>
          </a:p>
        </p:txBody>
      </p:sp>
      <p:sp>
        <p:nvSpPr>
          <p:cNvPr id="10" name="Payer marker 3"/>
          <p:cNvSpPr/>
          <p:nvPr/>
        </p:nvSpPr>
        <p:spPr>
          <a:xfrm>
            <a:off x="548640" y="3639312"/>
            <a:ext cx="329184" cy="329184"/>
          </a:xfrm>
          <a:prstGeom prst="ellipse">
            <a:avLst/>
          </a:prstGeom>
          <a:solidFill>
            <a:srgbClr val="F4A300"/>
          </a:solidFill>
          <a:ln w="12700">
            <a:solidFill>
              <a:srgbClr val="F4A300"/>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Private networks and IoT</a:t>
            </a:r>
            <a:endParaRPr lang="en-US" sz="1500" dirty="0"/>
          </a:p>
          <a:p>
            <a:pPr indent="0" marL="0">
              <a:buNone/>
            </a:pPr>
            <a:r>
              <a:rPr lang="en-US" sz="1400" dirty="0">
                <a:solidFill>
                  <a:schemeClr val="tx1"/>
                </a:solidFill>
              </a:rPr>
              <a:t>Coverage sites for agribusiness, mining, ports and public safety networks</a:t>
            </a:r>
            <a:endParaRPr lang="en-US" sz="1500" dirty="0"/>
          </a:p>
        </p:txBody>
      </p:sp>
      <p:sp>
        <p:nvSpPr>
          <p:cNvPr id="13" name="Payer marker 4"/>
          <p:cNvSpPr/>
          <p:nvPr/>
        </p:nvSpPr>
        <p:spPr>
          <a:xfrm>
            <a:off x="548640" y="4553712"/>
            <a:ext cx="329184" cy="329184"/>
          </a:xfrm>
          <a:prstGeom prst="ellipse">
            <a:avLst/>
          </a:prstGeom>
          <a:solidFill>
            <a:srgbClr val="F4A300"/>
          </a:solidFill>
          <a:ln w="12700">
            <a:solidFill>
              <a:srgbClr val="F4A300"/>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LEO satellite operators</a:t>
            </a:r>
            <a:endParaRPr lang="en-US" sz="1500" dirty="0"/>
          </a:p>
          <a:p>
            <a:pPr indent="0" marL="0">
              <a:buNone/>
            </a:pPr>
            <a:r>
              <a:rPr lang="en-US" sz="1400" dirty="0">
                <a:solidFill>
                  <a:schemeClr val="tx1"/>
                </a:solidFill>
              </a:rPr>
              <a:t>Secure, fiber-fed ground space and power for gateway antennas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Ground lease and capacity fees per site, power upgrade fees and master agreements by industry, with annual escalators</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112 GW</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Battery storage installed worldwide in 2025 (307 GWh), up 48% vs 2024</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US$8.9 bn</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Forecast 2029 market for private LTE/5G networks (utilities, mining, ports, industry)</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A$30k/ha</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Yearly rent offered to landholders hosting 5 MW batteries on 1 hectare, 30-year terms</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1  |  Site platform   ·   Sources: BloombergNEF; Berg Insight; pv magazine Australia.</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Proof points and a 36-month plan</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Per site, per tenant (illustrative)</a:t>
            </a:r>
            <a:endParaRPr lang="en-US" sz="1600" dirty="0"/>
          </a:p>
        </p:txBody>
      </p:sp>
      <p:graphicFrame>
        <p:nvGraphicFramePr>
          <p:cNvPr id="17"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Structure tenant rent (utility, IoT)</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US$800-1,500 per month</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Ground/power pad rent (BESS, gateway)</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US$10-30k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Annual escalator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Capex by us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Near zero; tenant pays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Incremental EBITDA margin</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~85-90%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assumes existing compound and power, tenant-funded equipment and mods, 10-15 yr term, opex limited to site ops and billing.</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Crown Castle + Anterix TowerX (2025)</a:t>
            </a:r>
            <a:endParaRPr lang="en-US" sz="1400" dirty="0"/>
          </a:p>
          <a:p>
            <a:pPr indent="0" marL="0">
              <a:buNone/>
            </a:pPr>
            <a:r>
              <a:rPr lang="en-US" sz="1300" dirty="0">
                <a:solidFill>
                  <a:schemeClr val="tx1"/>
                </a:solidFill>
              </a:rPr>
              <a:t>Turnkey product giving US utilities pre-negotiated access to Crown Castle's 40,000+ towers for 900 MHz private LTE grid networks</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Arqiva hosts Starlink gateways (UK)</a:t>
            </a:r>
            <a:endParaRPr lang="en-US" sz="1400" dirty="0"/>
          </a:p>
          <a:p>
            <a:pPr indent="0" marL="0">
              <a:buNone/>
            </a:pPr>
            <a:r>
              <a:rPr lang="en-US" sz="1300" dirty="0">
                <a:solidFill>
                  <a:schemeClr val="tx1"/>
                </a:solidFill>
              </a:rPr>
              <a:t>Broadcast and tower infrastructure owner won the contract to host Starlink ground station gateways at its UK sites and carry traffic</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Cellnex UK + Netmore (2024)</a:t>
            </a:r>
            <a:endParaRPr lang="en-US" sz="1400" dirty="0"/>
          </a:p>
          <a:p>
            <a:pPr indent="0" marL="0">
              <a:buNone/>
            </a:pPr>
            <a:r>
              <a:rPr lang="en-US" sz="1300" dirty="0">
                <a:solidFill>
                  <a:schemeClr val="tx1"/>
                </a:solidFill>
              </a:rPr>
              <a:t>LoRaWAN gateways placed on ~200 Cellnex poles to support smart water meter rollouts for UK regional water utilities</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0-12: Prove</a:t>
            </a:r>
            <a:endParaRPr lang="en-US" sz="1400" dirty="0"/>
          </a:p>
          <a:p>
            <a:pPr indent="0" marL="0">
              <a:buNone/>
            </a:pPr>
            <a:r>
              <a:rPr lang="en-US" sz="1200" dirty="0">
                <a:solidFill>
                  <a:schemeClr val="tx1"/>
                </a:solidFill>
              </a:rPr>
              <a:t>Site catalog live; 2 anchor MLAs (one utility, one BESS or IoT); 50-100 non-carrier tenancies in US and Brazil</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12-24: Standardize</a:t>
            </a:r>
            <a:endParaRPr lang="en-US" sz="1400" dirty="0"/>
          </a:p>
          <a:p>
            <a:pPr indent="0" marL="0">
              <a:buNone/>
            </a:pPr>
            <a:r>
              <a:rPr lang="en-US" sz="1200" dirty="0">
                <a:solidFill>
                  <a:schemeClr val="tx1"/>
                </a:solidFill>
              </a:rPr>
              <a:t>Productized offers per industry; channel deals with network integrators and satellite firms; 500+ tenancies</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24-36: Scale</a:t>
            </a:r>
            <a:endParaRPr lang="en-US" sz="1400" dirty="0"/>
          </a:p>
          <a:p>
            <a:pPr indent="0" marL="0">
              <a:buNone/>
            </a:pPr>
            <a:r>
              <a:rPr lang="en-US" sz="1200" dirty="0">
                <a:solidFill>
                  <a:schemeClr val="tx1"/>
                </a:solidFill>
              </a:rPr>
              <a:t>Roll out to Central America and Africa; 2+ payers per asset type; 1,500+ tenancies on 5-10 year contracts</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Non-carrier tenancies signed and billing</a:t>
            </a:r>
            <a:endParaRPr lang="en-US" sz="1400" dirty="0"/>
          </a:p>
          <a:p>
            <a:pPr indent="0" marL="0">
              <a:buNone/>
            </a:pPr>
            <a:r>
              <a:rPr lang="en-US" sz="1200" dirty="0">
                <a:solidFill>
                  <a:schemeClr val="bg1"/>
                </a:solidFill>
              </a:rPr>
              <a:t>Non-carrier revenue as % of site leasing revenue</a:t>
            </a:r>
            <a:endParaRPr lang="en-US" sz="1400" dirty="0"/>
          </a:p>
          <a:p>
            <a:pPr indent="0" marL="0">
              <a:buNone/>
            </a:pPr>
            <a:r>
              <a:rPr lang="en-US" sz="1200" dirty="0">
                <a:solidFill>
                  <a:schemeClr val="bg1"/>
                </a:solidFill>
              </a:rPr>
              <a:t>Average contract term and escalator</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1  |  Site platform   ·   Precedent sources: Anterix / Utility Dive; Advanced Television; Business Wire / RCR Wireless.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2: Energy-as-a-Service with shared batteries</a:t>
            </a:r>
            <a:endParaRPr lang="en-US" sz="2800" dirty="0"/>
          </a:p>
        </p:txBody>
      </p:sp>
      <p:sp>
        <p:nvSpPr>
          <p:cNvPr id="3" name="Energy-as-a-Service circle"/>
          <p:cNvSpPr/>
          <p:nvPr/>
        </p:nvSpPr>
        <p:spPr>
          <a:xfrm>
            <a:off x="548640" y="1371600"/>
            <a:ext cx="777240" cy="777240"/>
          </a:xfrm>
          <a:prstGeom prst="ellipse">
            <a:avLst/>
          </a:prstGeom>
          <a:solidFill>
            <a:srgbClr val="F4A300"/>
          </a:solidFill>
          <a:ln w="12700">
            <a:solidFill>
              <a:srgbClr val="F4A300"/>
            </a:solidFill>
            <a:prstDash val="solid"/>
          </a:ln>
        </p:spPr>
      </p:sp>
      <p:pic>
        <p:nvPicPr>
          <p:cNvPr id="4" name="Energy-as-a-Service icon" descr="Energy-as-a-Service">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Start now  |  What it is</a:t>
            </a:r>
            <a:endParaRPr lang="en-US" sz="1500" dirty="0"/>
          </a:p>
          <a:p>
            <a:pPr indent="0" marL="0">
              <a:buNone/>
            </a:pPr>
            <a:r>
              <a:rPr lang="en-US" sz="1500" dirty="0">
                <a:solidFill>
                  <a:schemeClr val="tx1"/>
                </a:solidFill>
              </a:rPr>
              <a:t>Buy the carriers' captive backup batteries and generators (sale-leaseback), upgrade them to lithium and sell backup-as-a-service with an availability SLA. Aggregate thousands of sites into a virtual power plant that sells capacity and grid services.</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Buy the backup fleet</a:t>
            </a:r>
            <a:endParaRPr lang="en-US" sz="1500" dirty="0"/>
          </a:p>
          <a:p>
            <a:pPr indent="0" marL="0">
              <a:buNone/>
            </a:pPr>
            <a:r>
              <a:rPr lang="en-US" sz="1400" dirty="0">
                <a:solidFill>
                  <a:schemeClr val="tx1"/>
                </a:solidFill>
              </a:rPr>
              <a:t>Sale-leaseback of carriers' site batteries and generators; carrier frees capex, O&amp;M and diesel logistics</a:t>
            </a:r>
            <a:endParaRPr lang="en-US" sz="1500" dirty="0"/>
          </a:p>
        </p:txBody>
      </p:sp>
      <p:sp>
        <p:nvSpPr>
          <p:cNvPr id="9" name="Flow arrow 1"/>
          <p:cNvSpPr/>
          <p:nvPr/>
        </p:nvSpPr>
        <p:spPr>
          <a:xfrm>
            <a:off x="3182112" y="3611880"/>
            <a:ext cx="164592" cy="365760"/>
          </a:xfrm>
          <a:prstGeom prst="chevron">
            <a:avLst/>
          </a:prstGeom>
          <a:solidFill>
            <a:srgbClr val="F4A300"/>
          </a:solidFill>
          <a:ln w="12700">
            <a:solidFill>
              <a:srgbClr val="F4A300"/>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Upgrade to lithium</a:t>
            </a:r>
            <a:endParaRPr lang="en-US" sz="1500" dirty="0"/>
          </a:p>
          <a:p>
            <a:pPr indent="0" marL="0">
              <a:buNone/>
            </a:pPr>
            <a:r>
              <a:rPr lang="en-US" sz="1400" dirty="0">
                <a:solidFill>
                  <a:schemeClr val="tx1"/>
                </a:solidFill>
              </a:rPr>
              <a:t>Swap lead-acid for LFP packs plus smart controllers; add solar-hybrid at off-grid and weak-grid sites</a:t>
            </a:r>
            <a:endParaRPr lang="en-US" sz="1500" dirty="0"/>
          </a:p>
        </p:txBody>
      </p:sp>
      <p:sp>
        <p:nvSpPr>
          <p:cNvPr id="12" name="Flow arrow 2"/>
          <p:cNvSpPr/>
          <p:nvPr/>
        </p:nvSpPr>
        <p:spPr>
          <a:xfrm>
            <a:off x="6016752" y="3611880"/>
            <a:ext cx="164592" cy="365760"/>
          </a:xfrm>
          <a:prstGeom prst="chevron">
            <a:avLst/>
          </a:prstGeom>
          <a:solidFill>
            <a:srgbClr val="F4A300"/>
          </a:solidFill>
          <a:ln w="12700">
            <a:solidFill>
              <a:srgbClr val="F4A300"/>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Sell backup with SLA</a:t>
            </a:r>
            <a:endParaRPr lang="en-US" sz="1500" dirty="0"/>
          </a:p>
          <a:p>
            <a:pPr indent="0" marL="0">
              <a:buNone/>
            </a:pPr>
            <a:r>
              <a:rPr lang="en-US" sz="1400" dirty="0">
                <a:solidFill>
                  <a:schemeClr val="tx1"/>
                </a:solidFill>
              </a:rPr>
              <a:t>10-year backup-as-a-service contracts with availability SLA and escalators, on top of the tower lease</a:t>
            </a:r>
            <a:endParaRPr lang="en-US" sz="1500" dirty="0"/>
          </a:p>
        </p:txBody>
      </p:sp>
      <p:sp>
        <p:nvSpPr>
          <p:cNvPr id="15" name="Flow arrow 3"/>
          <p:cNvSpPr/>
          <p:nvPr/>
        </p:nvSpPr>
        <p:spPr>
          <a:xfrm>
            <a:off x="8851392" y="3611880"/>
            <a:ext cx="164592" cy="365760"/>
          </a:xfrm>
          <a:prstGeom prst="chevron">
            <a:avLst/>
          </a:prstGeom>
          <a:solidFill>
            <a:srgbClr val="F4A300"/>
          </a:solidFill>
          <a:ln w="12700">
            <a:solidFill>
              <a:srgbClr val="F4A300"/>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Run it as a VPP</a:t>
            </a:r>
            <a:endParaRPr lang="en-US" sz="1500" dirty="0"/>
          </a:p>
          <a:p>
            <a:pPr indent="0" marL="0">
              <a:buNone/>
            </a:pPr>
            <a:r>
              <a:rPr lang="en-US" sz="1400" dirty="0">
                <a:solidFill>
                  <a:schemeClr val="tx1"/>
                </a:solidFill>
              </a:rPr>
              <a:t>Aggregate spare battery capacity of thousands of sites and bid it into frequency, capacity and peak markets</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We already manage power at scale on every site and hold master agreements with every carrier.</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Attacks the carriers' biggest controllable cost, energy, and adds the grid as a second customer for the same asset.</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 large energy bill and cheaper batteries</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F4A300"/>
          </a:solidFill>
          <a:ln w="12700">
            <a:solidFill>
              <a:srgbClr val="F4A300"/>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Mobile carriers</a:t>
            </a:r>
            <a:endParaRPr lang="en-US" sz="1500" dirty="0"/>
          </a:p>
          <a:p>
            <a:pPr indent="0" marL="0">
              <a:buNone/>
            </a:pPr>
            <a:r>
              <a:rPr lang="en-US" sz="1400" dirty="0">
                <a:solidFill>
                  <a:schemeClr val="tx1"/>
                </a:solidFill>
              </a:rPr>
              <a:t>Monthly backup-as-a-service fee per site with guaranteed availability SLA</a:t>
            </a:r>
            <a:endParaRPr lang="en-US" sz="1500" dirty="0"/>
          </a:p>
        </p:txBody>
      </p:sp>
      <p:sp>
        <p:nvSpPr>
          <p:cNvPr id="7" name="Payer marker 2"/>
          <p:cNvSpPr/>
          <p:nvPr/>
        </p:nvSpPr>
        <p:spPr>
          <a:xfrm>
            <a:off x="548640" y="2724912"/>
            <a:ext cx="329184" cy="329184"/>
          </a:xfrm>
          <a:prstGeom prst="ellipse">
            <a:avLst/>
          </a:prstGeom>
          <a:solidFill>
            <a:srgbClr val="F4A300"/>
          </a:solidFill>
          <a:ln w="12700">
            <a:solidFill>
              <a:srgbClr val="F4A300"/>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Grid operators (TSO/ISO)</a:t>
            </a:r>
            <a:endParaRPr lang="en-US" sz="1500" dirty="0"/>
          </a:p>
          <a:p>
            <a:pPr indent="0" marL="0">
              <a:buNone/>
            </a:pPr>
            <a:r>
              <a:rPr lang="en-US" sz="1400" dirty="0">
                <a:solidFill>
                  <a:schemeClr val="tx1"/>
                </a:solidFill>
              </a:rPr>
              <a:t>Frequency regulation and reserve capacity from aggregated site batteries</a:t>
            </a:r>
            <a:endParaRPr lang="en-US" sz="1500" dirty="0"/>
          </a:p>
        </p:txBody>
      </p:sp>
      <p:sp>
        <p:nvSpPr>
          <p:cNvPr id="10" name="Payer marker 3"/>
          <p:cNvSpPr/>
          <p:nvPr/>
        </p:nvSpPr>
        <p:spPr>
          <a:xfrm>
            <a:off x="548640" y="3639312"/>
            <a:ext cx="329184" cy="329184"/>
          </a:xfrm>
          <a:prstGeom prst="ellipse">
            <a:avLst/>
          </a:prstGeom>
          <a:solidFill>
            <a:srgbClr val="F4A300"/>
          </a:solidFill>
          <a:ln w="12700">
            <a:solidFill>
              <a:srgbClr val="F4A300"/>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Utilities</a:t>
            </a:r>
            <a:endParaRPr lang="en-US" sz="1500" dirty="0"/>
          </a:p>
          <a:p>
            <a:pPr indent="0" marL="0">
              <a:buNone/>
            </a:pPr>
            <a:r>
              <a:rPr lang="en-US" sz="1400" dirty="0">
                <a:solidFill>
                  <a:schemeClr val="tx1"/>
                </a:solidFill>
              </a:rPr>
              <a:t>Capacity and demand-response payments for peak shaving at site level</a:t>
            </a:r>
            <a:endParaRPr lang="en-US" sz="1500" dirty="0"/>
          </a:p>
        </p:txBody>
      </p:sp>
      <p:sp>
        <p:nvSpPr>
          <p:cNvPr id="13" name="Payer marker 4"/>
          <p:cNvSpPr/>
          <p:nvPr/>
        </p:nvSpPr>
        <p:spPr>
          <a:xfrm>
            <a:off x="548640" y="4553712"/>
            <a:ext cx="329184" cy="329184"/>
          </a:xfrm>
          <a:prstGeom prst="ellipse">
            <a:avLst/>
          </a:prstGeom>
          <a:solidFill>
            <a:srgbClr val="F4A300"/>
          </a:solidFill>
          <a:ln w="12700">
            <a:solidFill>
              <a:srgbClr val="F4A300"/>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Off-grid MNOs (Africa/LatAm)</a:t>
            </a:r>
            <a:endParaRPr lang="en-US" sz="1500" dirty="0"/>
          </a:p>
          <a:p>
            <a:pPr indent="0" marL="0">
              <a:buNone/>
            </a:pPr>
            <a:r>
              <a:rPr lang="en-US" sz="1400" dirty="0">
                <a:solidFill>
                  <a:schemeClr val="tx1"/>
                </a:solidFill>
              </a:rPr>
              <a:t>Solar-hybrid power per kWh delivered, replacing diesel runs and fuel logistics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10-year backup-as-a-service fee per site, 7 to 15 year capacity contracts and grid services revenue</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20-40%</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Share of telecom network opex spent on energy, rising with 5G densification</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US$70/kWh</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Average stationary storage battery pack price in 2025, down 45% year on year</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80-160 GW</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US virtual power plant capacity by 2030 that could cut grid costs ~US$10B per year</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2  |  Energy-as-a-Service   ·   Sources: GSMA; BloombergNEF; US DOE.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 by telcos; a towerco can scale it</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Per macro site, 10-year contract</a:t>
            </a:r>
            <a:endParaRPr lang="en-US" sz="1600" dirty="0"/>
          </a:p>
        </p:txBody>
      </p:sp>
      <p:graphicFrame>
        <p:nvGraphicFramePr>
          <p:cNvPr id="20"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Capex: buy-in plus 20 kWh LFP upgrade</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~US$15k per site</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Backup-as-a-service fee (carrier)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~US$2.0k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Grid services, net (VPP)</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~US$0.5-1.0k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O&amp;M, insurance and VPP platform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~US$0.6k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Unlevered EBITDA yield on capex</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~13-16% (margin ~75-80%)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not quotes: 20 kWh LFP per site, fee set below carrier's own cost, grid revenue only where markets admit aggregated batteries.</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Elisa DES (Finland)</a:t>
            </a:r>
            <a:endParaRPr lang="en-US" sz="1400" dirty="0"/>
          </a:p>
          <a:p>
            <a:pPr indent="0" marL="0">
              <a:buNone/>
            </a:pPr>
            <a:r>
              <a:rPr lang="en-US" sz="1300" dirty="0">
                <a:solidFill>
                  <a:schemeClr val="tx1"/>
                </a:solidFill>
              </a:rPr>
              <a:t>Telco turned base-station batteries into a VPP; first distributed asset pre-qualified by Fingrid for aFRR; 150 MWh rollout planned</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DNA Tower Finland (Telenor)</a:t>
            </a:r>
            <a:endParaRPr lang="en-US" sz="1400" dirty="0"/>
          </a:p>
          <a:p>
            <a:pPr indent="0" marL="0">
              <a:buNone/>
            </a:pPr>
            <a:r>
              <a:rPr lang="en-US" sz="1300" dirty="0">
                <a:solidFill>
                  <a:schemeClr val="tx1"/>
                </a:solidFill>
              </a:rPr>
              <a:t>First tower company to sell base-station battery capacity into grid reserve markets, aiming to cover most of its sites</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ATC Africa power-as-a-service</a:t>
            </a:r>
            <a:endParaRPr lang="en-US" sz="1400" dirty="0"/>
          </a:p>
          <a:p>
            <a:pPr indent="0" marL="0">
              <a:buNone/>
            </a:pPr>
            <a:r>
              <a:rPr lang="en-US" sz="1300" dirty="0">
                <a:solidFill>
                  <a:schemeClr val="tx1"/>
                </a:solidFill>
              </a:rPr>
              <a:t>American Tower invested 350M+ USD since 2018 in solar and lithium at African sites, saving ~43.5M liters of diesel a year</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0-12: Prove</a:t>
            </a:r>
            <a:endParaRPr lang="en-US" sz="1400" dirty="0"/>
          </a:p>
          <a:p>
            <a:pPr indent="0" marL="0">
              <a:buNone/>
            </a:pPr>
            <a:r>
              <a:rPr lang="en-US" sz="1200" dirty="0">
                <a:solidFill>
                  <a:schemeClr val="tx1"/>
                </a:solidFill>
              </a:rPr>
              <a:t>Pilot 500 US and 500 Brazil/Africa sites with one anchor carrier; TSO/ISO pre-qualification; measure SLA uptime and grid revenue</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12-36: Scale</a:t>
            </a:r>
            <a:endParaRPr lang="en-US" sz="1400" dirty="0"/>
          </a:p>
          <a:p>
            <a:pPr indent="0" marL="0">
              <a:buNone/>
            </a:pPr>
            <a:r>
              <a:rPr lang="en-US" sz="1200" dirty="0">
                <a:solidFill>
                  <a:schemeClr val="tx1"/>
                </a:solidFill>
              </a:rPr>
              <a:t>First portfolio sale-leaseback (5-10k sites); 2nd carrier signed; solar-hybrid at off-grid sites; enter 2-3 grid markets</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Months 36-60: Platform</a:t>
            </a:r>
            <a:endParaRPr lang="en-US" sz="1400" dirty="0"/>
          </a:p>
          <a:p>
            <a:pPr indent="0" marL="0">
              <a:buNone/>
            </a:pPr>
            <a:r>
              <a:rPr lang="en-US" sz="1200" dirty="0">
                <a:solidFill>
                  <a:schemeClr val="tx1"/>
                </a:solidFill>
              </a:rPr>
              <a:t>20k+ sites aggregated as one VPP; third-party sites and utilities as clients; infra-fund co-investment vehicle</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Sites under backup-as-a-service contract</a:t>
            </a:r>
            <a:endParaRPr lang="en-US" sz="1400" dirty="0"/>
          </a:p>
          <a:p>
            <a:pPr indent="0" marL="0">
              <a:buNone/>
            </a:pPr>
            <a:r>
              <a:rPr lang="en-US" sz="1200" dirty="0">
                <a:solidFill>
                  <a:schemeClr val="bg1"/>
                </a:solidFill>
              </a:rPr>
              <a:t>Availability SLA met (target 99.99%)</a:t>
            </a:r>
            <a:endParaRPr lang="en-US" sz="1400" dirty="0"/>
          </a:p>
          <a:p>
            <a:pPr indent="0" marL="0">
              <a:buNone/>
            </a:pPr>
            <a:r>
              <a:rPr lang="en-US" sz="1200" dirty="0">
                <a:solidFill>
                  <a:schemeClr val="bg1"/>
                </a:solidFill>
              </a:rPr>
              <a:t>Grid revenue per site per year (US$)</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2  |  Energy-as-a-Service   ·   Precedent sources: Elisa / Energy Storage News; Elisa Industriq press release; TechAfrica News.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3: Carrier real-estate sale-leaseback (HubCo)</a:t>
            </a:r>
            <a:endParaRPr lang="en-US" sz="2800" dirty="0"/>
          </a:p>
        </p:txBody>
      </p:sp>
      <p:sp>
        <p:nvSpPr>
          <p:cNvPr id="3" name="HubCo circle"/>
          <p:cNvSpPr/>
          <p:nvPr/>
        </p:nvSpPr>
        <p:spPr>
          <a:xfrm>
            <a:off x="548640" y="1371600"/>
            <a:ext cx="777240" cy="777240"/>
          </a:xfrm>
          <a:prstGeom prst="ellipse">
            <a:avLst/>
          </a:prstGeom>
          <a:solidFill>
            <a:srgbClr val="2A9D8F"/>
          </a:solidFill>
          <a:ln w="12700">
            <a:solidFill>
              <a:srgbClr val="2A9D8F"/>
            </a:solidFill>
            <a:prstDash val="solid"/>
          </a:ln>
        </p:spPr>
      </p:sp>
      <p:pic>
        <p:nvPicPr>
          <p:cNvPr id="4" name="HubCo icon" descr="HubCo">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Build a pipeline  |  What it is</a:t>
            </a:r>
            <a:endParaRPr lang="en-US" sz="1500" dirty="0"/>
          </a:p>
          <a:p>
            <a:pPr indent="0" marL="0">
              <a:buNone/>
            </a:pPr>
            <a:r>
              <a:rPr lang="en-US" sz="1500" dirty="0">
                <a:solidFill>
                  <a:schemeClr val="tx1"/>
                </a:solidFill>
              </a:rPr>
              <a:t>Buy the carriers' technical buildings (switching centers, aggregation hubs), lease back only the space and power they use for 15 years, and turn the rest into neutral interconnection and edge capacity. Optionally extend to utility poles and street lighting.</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Buy technical buildings</a:t>
            </a:r>
            <a:endParaRPr lang="en-US" sz="1500" dirty="0"/>
          </a:p>
          <a:p>
            <a:pPr indent="0" marL="0">
              <a:buNone/>
            </a:pPr>
            <a:r>
              <a:rPr lang="en-US" sz="1400" dirty="0">
                <a:solidFill>
                  <a:schemeClr val="tx1"/>
                </a:solidFill>
              </a:rPr>
              <a:t>Acquire oversized central offices, MSCs, landing and C-RAN hubs with power, fiber and city-center permits</a:t>
            </a:r>
            <a:endParaRPr lang="en-US" sz="1500" dirty="0"/>
          </a:p>
        </p:txBody>
      </p:sp>
      <p:sp>
        <p:nvSpPr>
          <p:cNvPr id="9" name="Flow arrow 1"/>
          <p:cNvSpPr/>
          <p:nvPr/>
        </p:nvSpPr>
        <p:spPr>
          <a:xfrm>
            <a:off x="3182112" y="3611880"/>
            <a:ext cx="164592" cy="365760"/>
          </a:xfrm>
          <a:prstGeom prst="chevron">
            <a:avLst/>
          </a:prstGeom>
          <a:solidFill>
            <a:srgbClr val="2A9D8F"/>
          </a:solidFill>
          <a:ln w="12700">
            <a:solidFill>
              <a:srgbClr val="2A9D8F"/>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Lease back what is used</a:t>
            </a:r>
            <a:endParaRPr lang="en-US" sz="1500" dirty="0"/>
          </a:p>
          <a:p>
            <a:pPr indent="0" marL="0">
              <a:buNone/>
            </a:pPr>
            <a:r>
              <a:rPr lang="en-US" sz="1400" dirty="0">
                <a:solidFill>
                  <a:schemeClr val="tx1"/>
                </a:solidFill>
              </a:rPr>
              <a:t>Seller signs a 15-year anchor lease for only the space and power its network still needs</a:t>
            </a:r>
            <a:endParaRPr lang="en-US" sz="1500" dirty="0"/>
          </a:p>
        </p:txBody>
      </p:sp>
      <p:sp>
        <p:nvSpPr>
          <p:cNvPr id="12" name="Flow arrow 2"/>
          <p:cNvSpPr/>
          <p:nvPr/>
        </p:nvSpPr>
        <p:spPr>
          <a:xfrm>
            <a:off x="6016752" y="3611880"/>
            <a:ext cx="164592" cy="365760"/>
          </a:xfrm>
          <a:prstGeom prst="chevron">
            <a:avLst/>
          </a:prstGeom>
          <a:solidFill>
            <a:srgbClr val="2A9D8F"/>
          </a:solidFill>
          <a:ln w="12700">
            <a:solidFill>
              <a:srgbClr val="2A9D8F"/>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Retrofit freed capacity</a:t>
            </a:r>
            <a:endParaRPr lang="en-US" sz="1500" dirty="0"/>
          </a:p>
          <a:p>
            <a:pPr indent="0" marL="0">
              <a:buNone/>
            </a:pPr>
            <a:r>
              <a:rPr lang="en-US" sz="1400" dirty="0">
                <a:solidFill>
                  <a:schemeClr val="tx1"/>
                </a:solidFill>
              </a:rPr>
              <a:t>Convert empty halls into neutral colocation, meet-me rooms and 0.5-2 MW edge/AI inference pods</a:t>
            </a:r>
            <a:endParaRPr lang="en-US" sz="1500" dirty="0"/>
          </a:p>
        </p:txBody>
      </p:sp>
      <p:sp>
        <p:nvSpPr>
          <p:cNvPr id="15" name="Flow arrow 3"/>
          <p:cNvSpPr/>
          <p:nvPr/>
        </p:nvSpPr>
        <p:spPr>
          <a:xfrm>
            <a:off x="8851392" y="3611880"/>
            <a:ext cx="164592" cy="365760"/>
          </a:xfrm>
          <a:prstGeom prst="chevron">
            <a:avLst/>
          </a:prstGeom>
          <a:solidFill>
            <a:srgbClr val="2A9D8F"/>
          </a:solidFill>
          <a:ln w="12700">
            <a:solidFill>
              <a:srgbClr val="2A9D8F"/>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Sell neutral access</a:t>
            </a:r>
            <a:endParaRPr lang="en-US" sz="1500" dirty="0"/>
          </a:p>
          <a:p>
            <a:pPr indent="0" marL="0">
              <a:buNone/>
            </a:pPr>
            <a:r>
              <a:rPr lang="en-US" sz="1400" dirty="0">
                <a:solidFill>
                  <a:schemeClr val="tx1"/>
                </a:solidFill>
              </a:rPr>
              <a:t>Lease racks, power and cross-connects to other carriers, ISPs, CDNs, cloud and AI tenants</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Sale-leaseback is our core skill. SBA just did it with Millicom (~7.1k towers, ~US$ 1B) and holds the relationship.</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The same move that built tower scale, applied to a new captive asset that carriers want to monetize as networks virtualize.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Stranded carrier real estate meets edge demand</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2A9D8F"/>
          </a:solidFill>
          <a:ln w="12700">
            <a:solidFill>
              <a:srgbClr val="2A9D8F"/>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Selling carrier (anchor)</a:t>
            </a:r>
            <a:endParaRPr lang="en-US" sz="1500" dirty="0"/>
          </a:p>
          <a:p>
            <a:pPr indent="0" marL="0">
              <a:buNone/>
            </a:pPr>
            <a:r>
              <a:rPr lang="en-US" sz="1400" dirty="0">
                <a:solidFill>
                  <a:schemeClr val="tx1"/>
                </a:solidFill>
              </a:rPr>
              <a:t>15-year lease on space and power it keeps, with annual escalators</a:t>
            </a:r>
            <a:endParaRPr lang="en-US" sz="1500" dirty="0"/>
          </a:p>
        </p:txBody>
      </p:sp>
      <p:sp>
        <p:nvSpPr>
          <p:cNvPr id="7" name="Payer marker 2"/>
          <p:cNvSpPr/>
          <p:nvPr/>
        </p:nvSpPr>
        <p:spPr>
          <a:xfrm>
            <a:off x="548640" y="2724912"/>
            <a:ext cx="329184" cy="329184"/>
          </a:xfrm>
          <a:prstGeom prst="ellipse">
            <a:avLst/>
          </a:prstGeom>
          <a:solidFill>
            <a:srgbClr val="2A9D8F"/>
          </a:solidFill>
          <a:ln w="12700">
            <a:solidFill>
              <a:srgbClr val="2A9D8F"/>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Other carriers and ISPs</a:t>
            </a:r>
            <a:endParaRPr lang="en-US" sz="1500" dirty="0"/>
          </a:p>
          <a:p>
            <a:pPr indent="0" marL="0">
              <a:buNone/>
            </a:pPr>
            <a:r>
              <a:rPr lang="en-US" sz="1400" dirty="0">
                <a:solidFill>
                  <a:schemeClr val="tx1"/>
                </a:solidFill>
              </a:rPr>
              <a:t>Racks, power and cross-connects to reach the anchor's network and each other</a:t>
            </a:r>
            <a:endParaRPr lang="en-US" sz="1500" dirty="0"/>
          </a:p>
        </p:txBody>
      </p:sp>
      <p:sp>
        <p:nvSpPr>
          <p:cNvPr id="10" name="Payer marker 3"/>
          <p:cNvSpPr/>
          <p:nvPr/>
        </p:nvSpPr>
        <p:spPr>
          <a:xfrm>
            <a:off x="548640" y="3639312"/>
            <a:ext cx="329184" cy="329184"/>
          </a:xfrm>
          <a:prstGeom prst="ellipse">
            <a:avLst/>
          </a:prstGeom>
          <a:solidFill>
            <a:srgbClr val="2A9D8F"/>
          </a:solidFill>
          <a:ln w="12700">
            <a:solidFill>
              <a:srgbClr val="2A9D8F"/>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CDNs and cloud on-ramps</a:t>
            </a:r>
            <a:endParaRPr lang="en-US" sz="1500" dirty="0"/>
          </a:p>
          <a:p>
            <a:pPr indent="0" marL="0">
              <a:buNone/>
            </a:pPr>
            <a:r>
              <a:rPr lang="en-US" sz="1400" dirty="0">
                <a:solidFill>
                  <a:schemeClr val="tx1"/>
                </a:solidFill>
              </a:rPr>
              <a:t>Edge colocation close to end users, plus interconnection ports</a:t>
            </a:r>
            <a:endParaRPr lang="en-US" sz="1500" dirty="0"/>
          </a:p>
        </p:txBody>
      </p:sp>
      <p:sp>
        <p:nvSpPr>
          <p:cNvPr id="13" name="Payer marker 4"/>
          <p:cNvSpPr/>
          <p:nvPr/>
        </p:nvSpPr>
        <p:spPr>
          <a:xfrm>
            <a:off x="548640" y="4553712"/>
            <a:ext cx="329184" cy="329184"/>
          </a:xfrm>
          <a:prstGeom prst="ellipse">
            <a:avLst/>
          </a:prstGeom>
          <a:solidFill>
            <a:srgbClr val="2A9D8F"/>
          </a:solidFill>
          <a:ln w="12700">
            <a:solidFill>
              <a:srgbClr val="2A9D8F"/>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AI inference providers</a:t>
            </a:r>
            <a:endParaRPr lang="en-US" sz="1500" dirty="0"/>
          </a:p>
          <a:p>
            <a:pPr indent="0" marL="0">
              <a:buNone/>
            </a:pPr>
            <a:r>
              <a:rPr lang="en-US" sz="1400" dirty="0">
                <a:solidFill>
                  <a:schemeClr val="tx1"/>
                </a:solidFill>
              </a:rPr>
              <a:t>High-density power and cooling pods for low-latency inference in city centers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Rent per kW and per rack, interconnection fees and a 15-year anchor lease with escalators</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35%</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Share of the 74 central offices sold to Reign Capital that AT&amp;T was actually using</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US$400M+</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Equinix quarterly interconnection revenue (Q2 2025), from 492k+ interconnections</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17.6%</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Edge data center market CAGR 2025-34: US$20.6B (2024) to US$109.8B (2034)</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3  |  HubCo   ·   Sources: AT&amp;T / DCD, Jan 2025; Equinix Q2 2025; ResearchAndMarkets.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 deal type, phased entry from SBA markets</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One urban hub building (illustrative)</a:t>
            </a:r>
            <a:endParaRPr lang="en-US" sz="1600" dirty="0"/>
          </a:p>
        </p:txBody>
      </p:sp>
      <p:graphicFrame>
        <p:nvGraphicFramePr>
          <p:cNvPr id="23"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Purchase price</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~US$11.5M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Anchor lease at 7.5% entry yield</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~US$0.9M/yr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1 MW edge colo at US$150/kW-mo</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~US$1.8M/yr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200 cross-connects at US$300/mo</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~US$0.7M/yr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Stabilized yield on total cost</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~12% vs 7.5% at entry</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Price = AT&amp;T-Reign average (US$850M/74). Fit-out ~US$7M/MW, 65% EBITDA margin. Colo and cross-connect prices are assumptions.</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AT&amp;T - Reign Capital (2025)</a:t>
            </a:r>
            <a:endParaRPr lang="en-US" sz="1400" dirty="0"/>
          </a:p>
          <a:p>
            <a:pPr indent="0" marL="0">
              <a:buNone/>
            </a:pPr>
            <a:r>
              <a:rPr lang="en-US" sz="1300" dirty="0">
                <a:solidFill>
                  <a:schemeClr val="tx1"/>
                </a:solidFill>
              </a:rPr>
              <a:t>74 central offices, 13M sq ft, US$850M+ upfront; AT&amp;T leases back only needed space and shares in redevelopment upside</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BT - Telereal (2001)</a:t>
            </a:r>
            <a:endParaRPr lang="en-US" sz="1400" dirty="0"/>
          </a:p>
          <a:p>
            <a:pPr indent="0" marL="0">
              <a:buNone/>
            </a:pPr>
            <a:r>
              <a:rPr lang="en-US" sz="1300" dirty="0">
                <a:solidFill>
                  <a:schemeClr val="tx1"/>
                </a:solidFill>
              </a:rPr>
              <a:t>~6,700 properties incl. ~6,000 exchanges for GBP 2.38B; 30-year leaseback at ~7.9% initial yield with 3% annual uplift</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Telefonica legacy-to-edge (2026)</a:t>
            </a:r>
            <a:endParaRPr lang="en-US" sz="1400" dirty="0"/>
          </a:p>
          <a:p>
            <a:pPr indent="0" marL="0">
              <a:buNone/>
            </a:pPr>
            <a:r>
              <a:rPr lang="en-US" sz="1300" dirty="0">
                <a:solidFill>
                  <a:schemeClr val="tx1"/>
                </a:solidFill>
              </a:rPr>
              <a:t>Converting copper central offices into 1-2 MW mini data centers: 10 live, 17 in 2026, target 100+ within 5-7 years</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0-12 months: pilot</a:t>
            </a:r>
            <a:endParaRPr lang="en-US" sz="1400" dirty="0"/>
          </a:p>
          <a:p>
            <a:pPr indent="0" marL="0">
              <a:buNone/>
            </a:pPr>
            <a:r>
              <a:rPr lang="en-US" sz="1200" dirty="0">
                <a:solidFill>
                  <a:schemeClr val="tx1"/>
                </a:solidFill>
              </a:rPr>
              <a:t>Bid for 10-20 hubs from one LatAm carrier (e.g., Brazil or Central America) with 15-year leaseback; set up neutral meet-me rooms</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12-36 months: fill</a:t>
            </a:r>
            <a:endParaRPr lang="en-US" sz="1400" dirty="0"/>
          </a:p>
          <a:p>
            <a:pPr indent="0" marL="0">
              <a:buNone/>
            </a:pPr>
            <a:r>
              <a:rPr lang="en-US" sz="1200" dirty="0">
                <a:solidFill>
                  <a:schemeClr val="tx1"/>
                </a:solidFill>
              </a:rPr>
              <a:t>Retrofit 1-2 MW per site; sign 3+ non-anchor tenants per hub; bundle with SBA towers and fiber for regional ISPs</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36-60 months: scale</a:t>
            </a:r>
            <a:endParaRPr lang="en-US" sz="1400" dirty="0"/>
          </a:p>
          <a:p>
            <a:pPr indent="0" marL="0">
              <a:buNone/>
            </a:pPr>
            <a:r>
              <a:rPr lang="en-US" sz="1200" dirty="0">
                <a:solidFill>
                  <a:schemeClr val="tx1"/>
                </a:solidFill>
              </a:rPr>
              <a:t>Programmatic portfolio deals with 2-3 carriers incl. US copper retirements; JV capital to fund US$1B+ of hubs</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Tenants per hub (target 3+ beyond anchor)</a:t>
            </a:r>
            <a:endParaRPr lang="en-US" sz="1400" dirty="0"/>
          </a:p>
          <a:p>
            <a:pPr indent="0" marL="0">
              <a:buNone/>
            </a:pPr>
            <a:r>
              <a:rPr lang="en-US" sz="1200" dirty="0">
                <a:solidFill>
                  <a:schemeClr val="bg1"/>
                </a:solidFill>
              </a:rPr>
              <a:t>Sold MW vs available MW per site</a:t>
            </a:r>
            <a:endParaRPr lang="en-US" sz="1400" dirty="0"/>
          </a:p>
          <a:p>
            <a:pPr indent="0" marL="0">
              <a:buNone/>
            </a:pPr>
            <a:r>
              <a:rPr lang="en-US" sz="1200" dirty="0">
                <a:solidFill>
                  <a:schemeClr val="bg1"/>
                </a:solidFill>
              </a:rPr>
              <a:t>Cross-connects per hub and monthly growth</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3  |  HubCo   ·   Precedent sources: AT&amp;T / DCD; GlobeSt; TeleSemana.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4: Powered land for AI and the grid</a:t>
            </a:r>
            <a:endParaRPr lang="en-US" sz="2800" dirty="0"/>
          </a:p>
        </p:txBody>
      </p:sp>
      <p:sp>
        <p:nvSpPr>
          <p:cNvPr id="3" name="Powered land circle"/>
          <p:cNvSpPr/>
          <p:nvPr/>
        </p:nvSpPr>
        <p:spPr>
          <a:xfrm>
            <a:off x="548640" y="1371600"/>
            <a:ext cx="777240" cy="777240"/>
          </a:xfrm>
          <a:prstGeom prst="ellipse">
            <a:avLst/>
          </a:prstGeom>
          <a:solidFill>
            <a:srgbClr val="2A9D8F"/>
          </a:solidFill>
          <a:ln w="12700">
            <a:solidFill>
              <a:srgbClr val="2A9D8F"/>
            </a:solidFill>
            <a:prstDash val="solid"/>
          </a:ln>
        </p:spPr>
      </p:sp>
      <p:pic>
        <p:nvPicPr>
          <p:cNvPr id="4" name="Powered land icon" descr="Powered land">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Build a pipeline  |  What it is</a:t>
            </a:r>
            <a:endParaRPr lang="en-US" sz="1500" dirty="0"/>
          </a:p>
          <a:p>
            <a:pPr indent="0" marL="0">
              <a:buNone/>
            </a:pPr>
            <a:r>
              <a:rPr lang="en-US" sz="1500" dirty="0">
                <a:solidFill>
                  <a:schemeClr val="tx1"/>
                </a:solidFill>
              </a:rPr>
              <a:t>Acquire captive grid connections and powered land, and lease megawatts of connected capacity to several tenants: data centers, grid batteries and electric fleet depots. We deliver land, power, security and fiber; tenants bring their own equipment.</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Secure grid capacity</a:t>
            </a:r>
            <a:endParaRPr lang="en-US" sz="1500" dirty="0"/>
          </a:p>
          <a:p>
            <a:pPr indent="0" marL="0">
              <a:buNone/>
            </a:pPr>
            <a:r>
              <a:rPr lang="en-US" sz="1400" dirty="0">
                <a:solidFill>
                  <a:schemeClr val="tx1"/>
                </a:solidFill>
              </a:rPr>
              <a:t>Buy sites with existing or queued interconnection: retired plants, substation-adjacent land, utility surplus</a:t>
            </a:r>
            <a:endParaRPr lang="en-US" sz="1500" dirty="0"/>
          </a:p>
        </p:txBody>
      </p:sp>
      <p:sp>
        <p:nvSpPr>
          <p:cNvPr id="9" name="Flow arrow 1"/>
          <p:cNvSpPr/>
          <p:nvPr/>
        </p:nvSpPr>
        <p:spPr>
          <a:xfrm>
            <a:off x="3182112" y="3611880"/>
            <a:ext cx="164592" cy="365760"/>
          </a:xfrm>
          <a:prstGeom prst="chevron">
            <a:avLst/>
          </a:prstGeom>
          <a:solidFill>
            <a:srgbClr val="2A9D8F"/>
          </a:solidFill>
          <a:ln w="12700">
            <a:solidFill>
              <a:srgbClr val="2A9D8F"/>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Entitle and prepare</a:t>
            </a:r>
            <a:endParaRPr lang="en-US" sz="1500" dirty="0"/>
          </a:p>
          <a:p>
            <a:pPr indent="0" marL="0">
              <a:buNone/>
            </a:pPr>
            <a:r>
              <a:rPr lang="en-US" sz="1400" dirty="0">
                <a:solidFill>
                  <a:schemeClr val="tx1"/>
                </a:solidFill>
              </a:rPr>
              <a:t>Zoning, substation tie-in, cooling-ready pads, water rights, fiber laterals and perimeter security</a:t>
            </a:r>
            <a:endParaRPr lang="en-US" sz="1500" dirty="0"/>
          </a:p>
        </p:txBody>
      </p:sp>
      <p:sp>
        <p:nvSpPr>
          <p:cNvPr id="12" name="Flow arrow 2"/>
          <p:cNvSpPr/>
          <p:nvPr/>
        </p:nvSpPr>
        <p:spPr>
          <a:xfrm>
            <a:off x="6016752" y="3611880"/>
            <a:ext cx="164592" cy="365760"/>
          </a:xfrm>
          <a:prstGeom prst="chevron">
            <a:avLst/>
          </a:prstGeom>
          <a:solidFill>
            <a:srgbClr val="2A9D8F"/>
          </a:solidFill>
          <a:ln w="12700">
            <a:solidFill>
              <a:srgbClr val="2A9D8F"/>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Lease MW to tenants</a:t>
            </a:r>
            <a:endParaRPr lang="en-US" sz="1500" dirty="0"/>
          </a:p>
          <a:p>
            <a:pPr indent="0" marL="0">
              <a:buNone/>
            </a:pPr>
            <a:r>
              <a:rPr lang="en-US" sz="1400" dirty="0">
                <a:solidFill>
                  <a:schemeClr val="tx1"/>
                </a:solidFill>
              </a:rPr>
              <a:t>Long-term ground and capacity leases per MW to data centers, BESS and EV fleet depots; tenants bring kit</a:t>
            </a:r>
            <a:endParaRPr lang="en-US" sz="1500" dirty="0"/>
          </a:p>
        </p:txBody>
      </p:sp>
      <p:sp>
        <p:nvSpPr>
          <p:cNvPr id="15" name="Flow arrow 3"/>
          <p:cNvSpPr/>
          <p:nvPr/>
        </p:nvSpPr>
        <p:spPr>
          <a:xfrm>
            <a:off x="8851392" y="3611880"/>
            <a:ext cx="164592" cy="365760"/>
          </a:xfrm>
          <a:prstGeom prst="chevron">
            <a:avLst/>
          </a:prstGeom>
          <a:solidFill>
            <a:srgbClr val="2A9D8F"/>
          </a:solidFill>
          <a:ln w="12700">
            <a:solidFill>
              <a:srgbClr val="2A9D8F"/>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Operate and densify</a:t>
            </a:r>
            <a:endParaRPr lang="en-US" sz="1500" dirty="0"/>
          </a:p>
          <a:p>
            <a:pPr indent="0" marL="0">
              <a:buNone/>
            </a:pPr>
            <a:r>
              <a:rPr lang="en-US" sz="1400" dirty="0">
                <a:solidFill>
                  <a:schemeClr val="tx1"/>
                </a:solidFill>
              </a:rPr>
              <a:t>Collect escalating rent, add tenants on spare MW and upsell fiber, security and power upgrades</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Infrastructure M&amp;A, energy management, long-dated capital and a global footprint.</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Grid connections are the new scarce permit, as tower zoning once was. AI demand makes this the largest market tested.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Power, not land, is the new scarce permit</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2A9D8F"/>
          </a:solidFill>
          <a:ln w="12700">
            <a:solidFill>
              <a:srgbClr val="2A9D8F"/>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Data centers and AI neoclouds</a:t>
            </a:r>
            <a:endParaRPr lang="en-US" sz="1500" dirty="0"/>
          </a:p>
          <a:p>
            <a:pPr indent="0" marL="0">
              <a:buNone/>
            </a:pPr>
            <a:r>
              <a:rPr lang="en-US" sz="1400" dirty="0">
                <a:solidFill>
                  <a:schemeClr val="tx1"/>
                </a:solidFill>
              </a:rPr>
              <a:t>Speed to power: energized MW and pads years ahead of the utility queue, on 15-20 yr leases</a:t>
            </a:r>
            <a:endParaRPr lang="en-US" sz="1500" dirty="0"/>
          </a:p>
        </p:txBody>
      </p:sp>
      <p:sp>
        <p:nvSpPr>
          <p:cNvPr id="7" name="Payer marker 2"/>
          <p:cNvSpPr/>
          <p:nvPr/>
        </p:nvSpPr>
        <p:spPr>
          <a:xfrm>
            <a:off x="548640" y="2724912"/>
            <a:ext cx="329184" cy="329184"/>
          </a:xfrm>
          <a:prstGeom prst="ellipse">
            <a:avLst/>
          </a:prstGeom>
          <a:solidFill>
            <a:srgbClr val="2A9D8F"/>
          </a:solidFill>
          <a:ln w="12700">
            <a:solidFill>
              <a:srgbClr val="2A9D8F"/>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Grid battery (BESS) owners</a:t>
            </a:r>
            <a:endParaRPr lang="en-US" sz="1500" dirty="0"/>
          </a:p>
          <a:p>
            <a:pPr indent="0" marL="0">
              <a:buNone/>
            </a:pPr>
            <a:r>
              <a:rPr lang="en-US" sz="1400" dirty="0">
                <a:solidFill>
                  <a:schemeClr val="tx1"/>
                </a:solidFill>
              </a:rPr>
              <a:t>Ground lease per installed MW next to a substation, with a ready grid connection</a:t>
            </a:r>
            <a:endParaRPr lang="en-US" sz="1500" dirty="0"/>
          </a:p>
        </p:txBody>
      </p:sp>
      <p:sp>
        <p:nvSpPr>
          <p:cNvPr id="10" name="Payer marker 3"/>
          <p:cNvSpPr/>
          <p:nvPr/>
        </p:nvSpPr>
        <p:spPr>
          <a:xfrm>
            <a:off x="548640" y="3639312"/>
            <a:ext cx="329184" cy="329184"/>
          </a:xfrm>
          <a:prstGeom prst="ellipse">
            <a:avLst/>
          </a:prstGeom>
          <a:solidFill>
            <a:srgbClr val="2A9D8F"/>
          </a:solidFill>
          <a:ln w="12700">
            <a:solidFill>
              <a:srgbClr val="2A9D8F"/>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Bus and logistics fleets</a:t>
            </a:r>
            <a:endParaRPr lang="en-US" sz="1500" dirty="0"/>
          </a:p>
          <a:p>
            <a:pPr indent="0" marL="0">
              <a:buNone/>
            </a:pPr>
            <a:r>
              <a:rPr lang="en-US" sz="1400" dirty="0">
                <a:solidFill>
                  <a:schemeClr val="tx1"/>
                </a:solidFill>
              </a:rPr>
              <a:t>Depot land with high-capacity charging connection near urban routes, leased per MW or slot</a:t>
            </a:r>
            <a:endParaRPr lang="en-US" sz="1500" dirty="0"/>
          </a:p>
        </p:txBody>
      </p:sp>
      <p:sp>
        <p:nvSpPr>
          <p:cNvPr id="13" name="Payer marker 4"/>
          <p:cNvSpPr/>
          <p:nvPr/>
        </p:nvSpPr>
        <p:spPr>
          <a:xfrm>
            <a:off x="548640" y="4553712"/>
            <a:ext cx="329184" cy="329184"/>
          </a:xfrm>
          <a:prstGeom prst="ellipse">
            <a:avLst/>
          </a:prstGeom>
          <a:solidFill>
            <a:srgbClr val="2A9D8F"/>
          </a:solidFill>
          <a:ln w="12700">
            <a:solidFill>
              <a:srgbClr val="2A9D8F"/>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Fiber and edge carriers</a:t>
            </a:r>
            <a:endParaRPr lang="en-US" sz="1500" dirty="0"/>
          </a:p>
          <a:p>
            <a:pPr indent="0" marL="0">
              <a:buNone/>
            </a:pPr>
            <a:r>
              <a:rPr lang="en-US" sz="1400" dirty="0">
                <a:solidFill>
                  <a:schemeClr val="tx1"/>
                </a:solidFill>
              </a:rPr>
              <a:t>Rights of way, conduit and colocation on campus to serve the anchor tenants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Rent per contracted kW over 10 to 15 years, interconnection fees and ground leases</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~2,300 GW</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Generation and storage capacity waiting in US interconnection queues at end-2024</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1.4%</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Record-low vacancy in North American primary data center markets, H1 2026</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80.4%</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Share of 7,481 MW of data center capacity under construction already preleased, H1 2026</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4  |  Powered land   ·   Sources: LBNL Queued Up 2025; CBRE H1 2026.</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Precedents and a 3-phase entry plan</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One 100 MW powered-land campus</a:t>
            </a:r>
            <a:endParaRPr lang="en-US" sz="1600" dirty="0"/>
          </a:p>
        </p:txBody>
      </p:sp>
      <p:graphicFrame>
        <p:nvGraphicFramePr>
          <p:cNvPr id="26"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Site + interconnection cost</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~US$ 30M (US$ 0.3M/MW)</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Pads, substation share, fiber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~US$ 20M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Lease rate</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~US$ 50k per MW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Annual rent at full lease-up</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~US$ 5M, with escalators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EBITDA margin / cash yield</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~85% / ~8.5% on cost</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Site cost anchored on MARA Texas deal (up to US$600M for 2 GW); rent, capex and margin are assumptions in line with ground leases.</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Tract (US powered-land developer)</a:t>
            </a:r>
            <a:endParaRPr lang="en-US" sz="1400" dirty="0"/>
          </a:p>
          <a:p>
            <a:pPr indent="0" marL="0">
              <a:buNone/>
            </a:pPr>
            <a:r>
              <a:rPr lang="en-US" sz="1300" dirty="0">
                <a:solidFill>
                  <a:schemeClr val="tx1"/>
                </a:solidFill>
              </a:rPr>
              <a:t>Assembles land, power, fiber and water, then sells or leases powered sites to hyperscalers; 25k+ acres and 25+ GW planned</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MARA buys 2 GW Texas site (2026)</a:t>
            </a:r>
            <a:endParaRPr lang="en-US" sz="1400" dirty="0"/>
          </a:p>
          <a:p>
            <a:pPr indent="0" marL="0">
              <a:buNone/>
            </a:pPr>
            <a:r>
              <a:rPr lang="en-US" sz="1300" dirty="0">
                <a:solidFill>
                  <a:schemeClr val="tx1"/>
                </a:solidFill>
              </a:rPr>
              <a:t>Acquired a 1,200-acre powered site with rights to up to 2 GW for up to US$600M (~US$0.3M/MW), partnering with Starwood</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Homer City, Pennsylvania</a:t>
            </a:r>
            <a:endParaRPr lang="en-US" sz="1400" dirty="0"/>
          </a:p>
          <a:p>
            <a:pPr indent="0" marL="0">
              <a:buNone/>
            </a:pPr>
            <a:r>
              <a:rPr lang="en-US" sz="1300" dirty="0">
                <a:solidFill>
                  <a:schemeClr val="tx1"/>
                </a:solidFill>
              </a:rPr>
              <a:t>Retired 1.9 GW coal plant reused as a 3,200-acre data center campus, keeping existing PJM and NYISO transmission ties</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Pilot (0-18 months)</a:t>
            </a:r>
            <a:endParaRPr lang="en-US" sz="1400" dirty="0"/>
          </a:p>
          <a:p>
            <a:pPr indent="0" marL="0">
              <a:buNone/>
            </a:pPr>
            <a:r>
              <a:rPr lang="en-US" sz="1200" dirty="0">
                <a:solidFill>
                  <a:schemeClr val="tx1"/>
                </a:solidFill>
              </a:rPr>
              <a:t>Screen retired plants and substation land in TX and PJM; acquire 1-2 sites (100-300 MW); sign anchor tenant LOIs</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Scale (18-48 months)</a:t>
            </a:r>
            <a:endParaRPr lang="en-US" sz="1400" dirty="0"/>
          </a:p>
          <a:p>
            <a:pPr indent="0" marL="0">
              <a:buNone/>
            </a:pPr>
            <a:r>
              <a:rPr lang="en-US" sz="1200" dirty="0">
                <a:solidFill>
                  <a:schemeClr val="tx1"/>
                </a:solidFill>
              </a:rPr>
              <a:t>Energize first campus; add BESS and fleet tenants on spare MW; 5-10 sites and 1 GW pipeline; JV with infra fund</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Expand (4-7 years)</a:t>
            </a:r>
            <a:endParaRPr lang="en-US" sz="1400" dirty="0"/>
          </a:p>
          <a:p>
            <a:pPr indent="0" marL="0">
              <a:buNone/>
            </a:pPr>
            <a:r>
              <a:rPr lang="en-US" sz="1200" dirty="0">
                <a:solidFill>
                  <a:schemeClr val="tx1"/>
                </a:solidFill>
              </a:rPr>
              <a:t>Replicate in Brazil and Central America near grid nodes; platform of 2+ GW leased MW and recurring rent</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MW under control and MW energized</a:t>
            </a:r>
            <a:endParaRPr lang="en-US" sz="1400" dirty="0"/>
          </a:p>
          <a:p>
            <a:pPr indent="0" marL="0">
              <a:buNone/>
            </a:pPr>
            <a:r>
              <a:rPr lang="en-US" sz="1200" dirty="0">
                <a:solidFill>
                  <a:schemeClr val="bg1"/>
                </a:solidFill>
              </a:rPr>
              <a:t>Percent of energized MW leased (target &gt;90%)</a:t>
            </a:r>
            <a:endParaRPr lang="en-US" sz="1400" dirty="0"/>
          </a:p>
          <a:p>
            <a:pPr indent="0" marL="0">
              <a:buNone/>
            </a:pPr>
            <a:r>
              <a:rPr lang="en-US" sz="1200" dirty="0">
                <a:solidFill>
                  <a:schemeClr val="bg1"/>
                </a:solidFill>
              </a:rPr>
              <a:t>Rent per MW per year and annual escalator</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4  |  Powered land   ·   Precedent sources: Data Center Frontier; The Energy Mag; Public Power / Utility Dive.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5: Acquire a multi-tenant platform</a:t>
            </a:r>
            <a:endParaRPr lang="en-US" sz="2800" dirty="0"/>
          </a:p>
        </p:txBody>
      </p:sp>
      <p:sp>
        <p:nvSpPr>
          <p:cNvPr id="3" name="Platform acquisition circle"/>
          <p:cNvSpPr/>
          <p:nvPr/>
        </p:nvSpPr>
        <p:spPr>
          <a:xfrm>
            <a:off x="548640" y="1371600"/>
            <a:ext cx="777240" cy="777240"/>
          </a:xfrm>
          <a:prstGeom prst="ellipse">
            <a:avLst/>
          </a:prstGeom>
          <a:solidFill>
            <a:srgbClr val="8AA1B8"/>
          </a:solidFill>
          <a:ln w="12700">
            <a:solidFill>
              <a:srgbClr val="8AA1B8"/>
            </a:solidFill>
            <a:prstDash val="solid"/>
          </a:ln>
        </p:spPr>
      </p:sp>
      <p:pic>
        <p:nvPicPr>
          <p:cNvPr id="4" name="Platform acquisition icon" descr="Platform acquisition">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Strategic options  |  What it is</a:t>
            </a:r>
            <a:endParaRPr lang="en-US" sz="1500" dirty="0"/>
          </a:p>
          <a:p>
            <a:pPr indent="0" marL="0">
              <a:buNone/>
            </a:pPr>
            <a:r>
              <a:rPr lang="en-US" sz="1500" dirty="0">
                <a:solidFill>
                  <a:schemeClr val="tx1"/>
                </a:solidFill>
              </a:rPr>
              <a:t>Buy a ready-made platform that already has multi-tenant economics, such as an interconnection-rich data center group, a dark fiber network or a neutral-host indoor network, and grow it with our capital and customer relationships.</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Screen and select</a:t>
            </a:r>
            <a:endParaRPr lang="en-US" sz="1500" dirty="0"/>
          </a:p>
          <a:p>
            <a:pPr indent="0" marL="0">
              <a:buNone/>
            </a:pPr>
            <a:r>
              <a:rPr lang="en-US" sz="1400" dirty="0">
                <a:solidFill>
                  <a:schemeClr val="tx1"/>
                </a:solidFill>
              </a:rPr>
              <a:t>Rank platforms by multi-tenant revenue, contract length, churn, carrier overlap and fit with SBA markets</a:t>
            </a:r>
            <a:endParaRPr lang="en-US" sz="1500" dirty="0"/>
          </a:p>
        </p:txBody>
      </p:sp>
      <p:sp>
        <p:nvSpPr>
          <p:cNvPr id="9" name="Flow arrow 1"/>
          <p:cNvSpPr/>
          <p:nvPr/>
        </p:nvSpPr>
        <p:spPr>
          <a:xfrm>
            <a:off x="3182112" y="3611880"/>
            <a:ext cx="164592" cy="365760"/>
          </a:xfrm>
          <a:prstGeom prst="chevron">
            <a:avLst/>
          </a:prstGeom>
          <a:solidFill>
            <a:srgbClr val="8AA1B8"/>
          </a:solidFill>
          <a:ln w="12700">
            <a:solidFill>
              <a:srgbClr val="8AA1B8"/>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Price with discipline</a:t>
            </a:r>
            <a:endParaRPr lang="en-US" sz="1500" dirty="0"/>
          </a:p>
          <a:p>
            <a:pPr indent="0" marL="0">
              <a:buNone/>
            </a:pPr>
            <a:r>
              <a:rPr lang="en-US" sz="1400" dirty="0">
                <a:solidFill>
                  <a:schemeClr val="tx1"/>
                </a:solidFill>
              </a:rPr>
              <a:t>Underwrite run-rate EBITDA plus organic growth; cap the multiple; fund with a mix that protects rating</a:t>
            </a:r>
            <a:endParaRPr lang="en-US" sz="1500" dirty="0"/>
          </a:p>
        </p:txBody>
      </p:sp>
      <p:sp>
        <p:nvSpPr>
          <p:cNvPr id="12" name="Flow arrow 2"/>
          <p:cNvSpPr/>
          <p:nvPr/>
        </p:nvSpPr>
        <p:spPr>
          <a:xfrm>
            <a:off x="6016752" y="3611880"/>
            <a:ext cx="164592" cy="365760"/>
          </a:xfrm>
          <a:prstGeom prst="chevron">
            <a:avLst/>
          </a:prstGeom>
          <a:solidFill>
            <a:srgbClr val="8AA1B8"/>
          </a:solidFill>
          <a:ln w="12700">
            <a:solidFill>
              <a:srgbClr val="8AA1B8"/>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Keep the engine running</a:t>
            </a:r>
            <a:endParaRPr lang="en-US" sz="1500" dirty="0"/>
          </a:p>
          <a:p>
            <a:pPr indent="0" marL="0">
              <a:buNone/>
            </a:pPr>
            <a:r>
              <a:rPr lang="en-US" sz="1400" dirty="0">
                <a:solidFill>
                  <a:schemeClr val="tx1"/>
                </a:solidFill>
              </a:rPr>
              <a:t>Retain platform management and sales team; ring-fence growth capex; avoid forced integration in year one</a:t>
            </a:r>
            <a:endParaRPr lang="en-US" sz="1500" dirty="0"/>
          </a:p>
        </p:txBody>
      </p:sp>
      <p:sp>
        <p:nvSpPr>
          <p:cNvPr id="15" name="Flow arrow 3"/>
          <p:cNvSpPr/>
          <p:nvPr/>
        </p:nvSpPr>
        <p:spPr>
          <a:xfrm>
            <a:off x="8851392" y="3611880"/>
            <a:ext cx="164592" cy="365760"/>
          </a:xfrm>
          <a:prstGeom prst="chevron">
            <a:avLst/>
          </a:prstGeom>
          <a:solidFill>
            <a:srgbClr val="8AA1B8"/>
          </a:solidFill>
          <a:ln w="12700">
            <a:solidFill>
              <a:srgbClr val="8AA1B8"/>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Cross-sell and scale</a:t>
            </a:r>
            <a:endParaRPr lang="en-US" sz="1500" dirty="0"/>
          </a:p>
          <a:p>
            <a:pPr indent="0" marL="0">
              <a:buNone/>
            </a:pPr>
            <a:r>
              <a:rPr lang="en-US" sz="1400" dirty="0">
                <a:solidFill>
                  <a:schemeClr val="tx1"/>
                </a:solidFill>
              </a:rPr>
              <a:t>Bundle towers + platform for carriers, add sites via SBA land and build skills, tuck in smaller bolt-ons</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REIT access to capital, a proven M&amp;A and integration engine, and executive relationships with every major carrier.</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The only route proven to build a second pillar at speed: American Tower did it with CoreSite in 2021.</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Platform deals are large, pricey and can grow</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8AA1B8"/>
          </a:solidFill>
          <a:ln w="12700">
            <a:solidFill>
              <a:srgbClr val="8AA1B8"/>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Interconnection data centers</a:t>
            </a:r>
            <a:endParaRPr lang="en-US" sz="1500" dirty="0"/>
          </a:p>
          <a:p>
            <a:pPr indent="0" marL="0">
              <a:buNone/>
            </a:pPr>
            <a:r>
              <a:rPr lang="en-US" sz="1400" dirty="0">
                <a:solidFill>
                  <a:schemeClr val="tx1"/>
                </a:solidFill>
              </a:rPr>
              <a:t>Colocation and cross-connects with network effects; CoreSite proved it inside a tower REIT</a:t>
            </a:r>
            <a:endParaRPr lang="en-US" sz="1500" dirty="0"/>
          </a:p>
        </p:txBody>
      </p:sp>
      <p:sp>
        <p:nvSpPr>
          <p:cNvPr id="7" name="Payer marker 2"/>
          <p:cNvSpPr/>
          <p:nvPr/>
        </p:nvSpPr>
        <p:spPr>
          <a:xfrm>
            <a:off x="548640" y="2724912"/>
            <a:ext cx="329184" cy="329184"/>
          </a:xfrm>
          <a:prstGeom prst="ellipse">
            <a:avLst/>
          </a:prstGeom>
          <a:solidFill>
            <a:srgbClr val="8AA1B8"/>
          </a:solidFill>
          <a:ln w="12700">
            <a:solidFill>
              <a:srgbClr val="8AA1B8"/>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LatAm data center platform</a:t>
            </a:r>
            <a:endParaRPr lang="en-US" sz="1500" dirty="0"/>
          </a:p>
          <a:p>
            <a:pPr indent="0" marL="0">
              <a:buNone/>
            </a:pPr>
            <a:r>
              <a:rPr lang="en-US" sz="1400" dirty="0">
                <a:solidFill>
                  <a:schemeClr val="tx1"/>
                </a:solidFill>
              </a:rPr>
              <a:t>Cloud and AI demand in Brazil, where SBA already operates; ODATA/Scala show buyer appetite</a:t>
            </a:r>
            <a:endParaRPr lang="en-US" sz="1500" dirty="0"/>
          </a:p>
        </p:txBody>
      </p:sp>
      <p:sp>
        <p:nvSpPr>
          <p:cNvPr id="10" name="Payer marker 3"/>
          <p:cNvSpPr/>
          <p:nvPr/>
        </p:nvSpPr>
        <p:spPr>
          <a:xfrm>
            <a:off x="548640" y="3639312"/>
            <a:ext cx="329184" cy="329184"/>
          </a:xfrm>
          <a:prstGeom prst="ellipse">
            <a:avLst/>
          </a:prstGeom>
          <a:solidFill>
            <a:srgbClr val="8AA1B8"/>
          </a:solidFill>
          <a:ln w="12700">
            <a:solidFill>
              <a:srgbClr val="8AA1B8"/>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Neutral-host indoor/DAS</a:t>
            </a:r>
            <a:endParaRPr lang="en-US" sz="1500" dirty="0"/>
          </a:p>
          <a:p>
            <a:pPr indent="0" marL="0">
              <a:buNone/>
            </a:pPr>
            <a:r>
              <a:rPr lang="en-US" sz="1400" dirty="0">
                <a:solidFill>
                  <a:schemeClr val="tx1"/>
                </a:solidFill>
              </a:rPr>
              <a:t>Carriers share coverage in venues, transit, campuses; long contracts, tower-like tenancy</a:t>
            </a:r>
            <a:endParaRPr lang="en-US" sz="1500" dirty="0"/>
          </a:p>
        </p:txBody>
      </p:sp>
      <p:sp>
        <p:nvSpPr>
          <p:cNvPr id="13" name="Payer marker 4"/>
          <p:cNvSpPr/>
          <p:nvPr/>
        </p:nvSpPr>
        <p:spPr>
          <a:xfrm>
            <a:off x="548640" y="4553712"/>
            <a:ext cx="329184" cy="329184"/>
          </a:xfrm>
          <a:prstGeom prst="ellipse">
            <a:avLst/>
          </a:prstGeom>
          <a:solidFill>
            <a:srgbClr val="8AA1B8"/>
          </a:solidFill>
          <a:ln w="12700">
            <a:solidFill>
              <a:srgbClr val="8AA1B8"/>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Regional dark fiber/backhaul</a:t>
            </a:r>
            <a:endParaRPr lang="en-US" sz="1500" dirty="0"/>
          </a:p>
          <a:p>
            <a:pPr indent="0" marL="0">
              <a:buNone/>
            </a:pPr>
            <a:r>
              <a:rPr lang="en-US" sz="1400" dirty="0">
                <a:solidFill>
                  <a:schemeClr val="tx1"/>
                </a:solidFill>
              </a:rPr>
              <a:t>Fiber to towers and edge sites; cuts carrier cost, but needs dense markets for good yields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The acquired platform's recurring rents and interconnection fees, grown through cross-selling to our carrier base</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US$ 10.1B</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Enterprise value AMT paid for CoreSite (closed Dec 2021), incl. assumed/repaid debt</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~29x</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Implied EV/EBITDA: US$ 10.1B vs. CoreSite Q3 2021 annualized adj. EBITDA of US$ 343M</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+14%</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CoreSite revenue growth YoY in Q3 2025 (US$ 267M), on retail leasing and AI demand</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5  |  Platform acquisition   ·   Sources: American Tower / Business Wire; AMT 8-K (Nov 2021), derived; Inside Towers / AMT Q3 2025.</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Learn from AMT, Crown Castle and LatAm deals</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Illustrative mid-size platform deal</a:t>
            </a:r>
            <a:endParaRPr lang="en-US" sz="1600" dirty="0"/>
          </a:p>
        </p:txBody>
      </p:sp>
      <p:graphicFrame>
        <p:nvGraphicFramePr>
          <p:cNvPr id="29"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Purchase price (EV)</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US$ 1.5B (~19 index pts)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Run-rate EBITDA at entry</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US$ 75M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Entry multiple / EBITDA yield</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20x / 5.0%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Synergies + organic growth (yr 5)</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+US$ 40M EBITDA</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Yield on cost by year 5</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only. Assumes ~10% EBITDA CAGR, modest cost/cross-sell synergies, growth capex excluded; real multiples range ~15x-30x.</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American Tower + CoreSite (2021)</a:t>
            </a:r>
            <a:endParaRPr lang="en-US" sz="1400" dirty="0"/>
          </a:p>
          <a:p>
            <a:pPr indent="0" marL="0">
              <a:buNone/>
            </a:pPr>
            <a:r>
              <a:rPr lang="en-US" sz="1300" dirty="0">
                <a:solidFill>
                  <a:schemeClr val="tx1"/>
                </a:solidFill>
              </a:rPr>
              <a:t>US$ 10.1B for an interconnection data center REIT; kept CoreSite brand and team; data center growth ~13-14% in 2025</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Crown Castle + Lightower (2017)</a:t>
            </a:r>
            <a:endParaRPr lang="en-US" sz="1400" dirty="0"/>
          </a:p>
          <a:p>
            <a:pPr indent="0" marL="0">
              <a:buNone/>
            </a:pPr>
            <a:r>
              <a:rPr lang="en-US" sz="1300" dirty="0">
                <a:solidFill>
                  <a:schemeClr val="tx1"/>
                </a:solidFill>
              </a:rPr>
              <a:t>US$ 7.1B for ~32k fiber route miles to feed small cells; returns lagged and fiber/small cells were sold in 2025 for US$ 8.5B</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Aligned + ODATA (2022-23)</a:t>
            </a:r>
            <a:endParaRPr lang="en-US" sz="1400" dirty="0"/>
          </a:p>
          <a:p>
            <a:pPr indent="0" marL="0">
              <a:buNone/>
            </a:pPr>
            <a:r>
              <a:rPr lang="en-US" sz="1300" dirty="0">
                <a:solidFill>
                  <a:schemeClr val="tx1"/>
                </a:solidFill>
              </a:rPr>
              <a:t>Macquarie-backed Aligned bought ODATA (Brazil, Mexico, Colombia, Chile), reportedly ~US$ 1.8B, to enter LatAm at scale</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0-12 months: thesis</a:t>
            </a:r>
            <a:endParaRPr lang="en-US" sz="1400" dirty="0"/>
          </a:p>
          <a:p>
            <a:pPr indent="0" marL="0">
              <a:buNone/>
            </a:pPr>
            <a:r>
              <a:rPr lang="en-US" sz="1200" dirty="0">
                <a:solidFill>
                  <a:schemeClr val="tx1"/>
                </a:solidFill>
              </a:rPr>
              <a:t>Pick 1-2 platform types, build target list in US/Brazil, set price and leverage guardrails, line up partner capital</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12-24 months: acquire</a:t>
            </a:r>
            <a:endParaRPr lang="en-US" sz="1400" dirty="0"/>
          </a:p>
          <a:p>
            <a:pPr indent="0" marL="0">
              <a:buNone/>
            </a:pPr>
            <a:r>
              <a:rPr lang="en-US" sz="1200" dirty="0">
                <a:solidFill>
                  <a:schemeClr val="tx1"/>
                </a:solidFill>
              </a:rPr>
              <a:t>Sign and close one platform (or JV stake with option to control); keep management; launch 100-day plan</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24-60 months: scale</a:t>
            </a:r>
            <a:endParaRPr lang="en-US" sz="1400" dirty="0"/>
          </a:p>
          <a:p>
            <a:pPr indent="0" marL="0">
              <a:buNone/>
            </a:pPr>
            <a:r>
              <a:rPr lang="en-US" sz="1200" dirty="0">
                <a:solidFill>
                  <a:schemeClr val="tx1"/>
                </a:solidFill>
              </a:rPr>
              <a:t>Cross-sell to carriers and cloud clients, fund bolt-ons and expansions, report the segment separately</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Platform revenue growth vs. underwriting (target &gt;10%)</a:t>
            </a:r>
            <a:endParaRPr lang="en-US" sz="1400" dirty="0"/>
          </a:p>
          <a:p>
            <a:pPr indent="0" marL="0">
              <a:buNone/>
            </a:pPr>
            <a:r>
              <a:rPr lang="en-US" sz="1200" dirty="0">
                <a:solidFill>
                  <a:schemeClr val="bg1"/>
                </a:solidFill>
              </a:rPr>
              <a:t>Yield on invested capital vs. WACC by year 3-5</a:t>
            </a:r>
            <a:endParaRPr lang="en-US" sz="1400" dirty="0"/>
          </a:p>
          <a:p>
            <a:pPr indent="0" marL="0">
              <a:buNone/>
            </a:pPr>
            <a:r>
              <a:rPr lang="en-US" sz="1200" dirty="0">
                <a:solidFill>
                  <a:schemeClr val="bg1"/>
                </a:solidFill>
              </a:rPr>
              <a:t>Tenants per asset / cross-connects and churn</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5  |  Platform acquisition   ·   Precedent sources: Business Wire; Inside Towers; CNBC; Broadband Breakfast; DCD; Data Center Frontier.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6: Edge and AI-RAN compute hubs</a:t>
            </a:r>
            <a:endParaRPr lang="en-US" sz="2800" dirty="0"/>
          </a:p>
        </p:txBody>
      </p:sp>
      <p:sp>
        <p:nvSpPr>
          <p:cNvPr id="3" name="Edge and AI-RAN hubs circle"/>
          <p:cNvSpPr/>
          <p:nvPr/>
        </p:nvSpPr>
        <p:spPr>
          <a:xfrm>
            <a:off x="548640" y="1371600"/>
            <a:ext cx="777240" cy="777240"/>
          </a:xfrm>
          <a:prstGeom prst="ellipse">
            <a:avLst/>
          </a:prstGeom>
          <a:solidFill>
            <a:srgbClr val="8AA1B8"/>
          </a:solidFill>
          <a:ln w="12700">
            <a:solidFill>
              <a:srgbClr val="8AA1B8"/>
            </a:solidFill>
            <a:prstDash val="solid"/>
          </a:ln>
        </p:spPr>
      </p:sp>
      <p:pic>
        <p:nvPicPr>
          <p:cNvPr id="4" name="Edge and AI-RAN hubs icon" descr="Edge and AI-RAN hubs">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Strategic options  |  What it is</a:t>
            </a:r>
            <a:endParaRPr lang="en-US" sz="1500" dirty="0"/>
          </a:p>
          <a:p>
            <a:pPr indent="0" marL="0">
              <a:buNone/>
            </a:pPr>
            <a:r>
              <a:rPr lang="en-US" sz="1500" dirty="0">
                <a:solidFill>
                  <a:schemeClr val="tx1"/>
                </a:solidFill>
              </a:rPr>
              <a:t>Install prefabricated powered pods at selected aggregation sites and lease them per kW, with space, power, cooling, fiber and security, to carriers running AI-RAN and pooled baseband, AI inference providers and CDNs. We own the shell, not the GPUs.</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Select hub sites</a:t>
            </a:r>
            <a:endParaRPr lang="en-US" sz="1500" dirty="0"/>
          </a:p>
          <a:p>
            <a:pPr indent="0" marL="0">
              <a:buNone/>
            </a:pPr>
            <a:r>
              <a:rPr lang="en-US" sz="1400" dirty="0">
                <a:solidFill>
                  <a:schemeClr val="tx1"/>
                </a:solidFill>
              </a:rPr>
              <a:t>Screen aggregation towers for fiber, grid power and land; SBA has pre-qualified 8,000 US towers for edge</a:t>
            </a:r>
            <a:endParaRPr lang="en-US" sz="1500" dirty="0"/>
          </a:p>
        </p:txBody>
      </p:sp>
      <p:sp>
        <p:nvSpPr>
          <p:cNvPr id="9" name="Flow arrow 1"/>
          <p:cNvSpPr/>
          <p:nvPr/>
        </p:nvSpPr>
        <p:spPr>
          <a:xfrm>
            <a:off x="3182112" y="3611880"/>
            <a:ext cx="164592" cy="365760"/>
          </a:xfrm>
          <a:prstGeom prst="chevron">
            <a:avLst/>
          </a:prstGeom>
          <a:solidFill>
            <a:srgbClr val="8AA1B8"/>
          </a:solidFill>
          <a:ln w="12700">
            <a:solidFill>
              <a:srgbClr val="8AA1B8"/>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Drop prefab pods</a:t>
            </a:r>
            <a:endParaRPr lang="en-US" sz="1500" dirty="0"/>
          </a:p>
          <a:p>
            <a:pPr indent="0" marL="0">
              <a:buNone/>
            </a:pPr>
            <a:r>
              <a:rPr lang="en-US" sz="1400" dirty="0">
                <a:solidFill>
                  <a:schemeClr val="tx1"/>
                </a:solidFill>
              </a:rPr>
              <a:t>Factory-built 250-1,000 kW powered shells: space, power, cooling-ready, fiber entry and security</a:t>
            </a:r>
            <a:endParaRPr lang="en-US" sz="1500" dirty="0"/>
          </a:p>
        </p:txBody>
      </p:sp>
      <p:sp>
        <p:nvSpPr>
          <p:cNvPr id="12" name="Flow arrow 2"/>
          <p:cNvSpPr/>
          <p:nvPr/>
        </p:nvSpPr>
        <p:spPr>
          <a:xfrm>
            <a:off x="6016752" y="3611880"/>
            <a:ext cx="164592" cy="365760"/>
          </a:xfrm>
          <a:prstGeom prst="chevron">
            <a:avLst/>
          </a:prstGeom>
          <a:solidFill>
            <a:srgbClr val="8AA1B8"/>
          </a:solidFill>
          <a:ln w="12700">
            <a:solidFill>
              <a:srgbClr val="8AA1B8"/>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Lease per kW</a:t>
            </a:r>
            <a:endParaRPr lang="en-US" sz="1500" dirty="0"/>
          </a:p>
          <a:p>
            <a:pPr indent="0" marL="0">
              <a:buNone/>
            </a:pPr>
            <a:r>
              <a:rPr lang="en-US" sz="1400" dirty="0">
                <a:solidFill>
                  <a:schemeClr val="tx1"/>
                </a:solidFill>
              </a:rPr>
              <a:t>Anchor carrier pools AI-RAN/vRAN baseband; inference, CDN and enterprise tenants fill the rest</a:t>
            </a:r>
            <a:endParaRPr lang="en-US" sz="1500" dirty="0"/>
          </a:p>
        </p:txBody>
      </p:sp>
      <p:sp>
        <p:nvSpPr>
          <p:cNvPr id="15" name="Flow arrow 3"/>
          <p:cNvSpPr/>
          <p:nvPr/>
        </p:nvSpPr>
        <p:spPr>
          <a:xfrm>
            <a:off x="8851392" y="3611880"/>
            <a:ext cx="164592" cy="365760"/>
          </a:xfrm>
          <a:prstGeom prst="chevron">
            <a:avLst/>
          </a:prstGeom>
          <a:solidFill>
            <a:srgbClr val="8AA1B8"/>
          </a:solidFill>
          <a:ln w="12700">
            <a:solidFill>
              <a:srgbClr val="8AA1B8"/>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Sell interconnection</a:t>
            </a:r>
            <a:endParaRPr lang="en-US" sz="1500" dirty="0"/>
          </a:p>
          <a:p>
            <a:pPr indent="0" marL="0">
              <a:buNone/>
            </a:pPr>
            <a:r>
              <a:rPr lang="en-US" sz="1400" dirty="0">
                <a:solidFill>
                  <a:schemeClr val="tx1"/>
                </a:solidFill>
              </a:rPr>
              <a:t>Neutral cross-connects between tenants and fiber; tenants own GPUs, towerco owns the shell</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Sites with power, fiber and permits close to users, plus master agreements with the carriers that will run AI-RAN.</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Positions the company inside the AI-RAN and 6G cycle around 2030 instead of watching it from the outside.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AI-RAN and edge pull power to the cell edge</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8AA1B8"/>
          </a:solidFill>
          <a:ln w="12700">
            <a:solidFill>
              <a:srgbClr val="8AA1B8"/>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Mobile carriers</a:t>
            </a:r>
            <a:endParaRPr lang="en-US" sz="1500" dirty="0"/>
          </a:p>
          <a:p>
            <a:pPr indent="0" marL="0">
              <a:buNone/>
            </a:pPr>
            <a:r>
              <a:rPr lang="en-US" sz="1400" dirty="0">
                <a:solidFill>
                  <a:schemeClr val="tx1"/>
                </a:solidFill>
              </a:rPr>
              <a:t>Per-kW space and power to pool AI-RAN/vRAN baseband near cell clusters</a:t>
            </a:r>
            <a:endParaRPr lang="en-US" sz="1500" dirty="0"/>
          </a:p>
        </p:txBody>
      </p:sp>
      <p:sp>
        <p:nvSpPr>
          <p:cNvPr id="7" name="Payer marker 2"/>
          <p:cNvSpPr/>
          <p:nvPr/>
        </p:nvSpPr>
        <p:spPr>
          <a:xfrm>
            <a:off x="548640" y="2724912"/>
            <a:ext cx="329184" cy="329184"/>
          </a:xfrm>
          <a:prstGeom prst="ellipse">
            <a:avLst/>
          </a:prstGeom>
          <a:solidFill>
            <a:srgbClr val="8AA1B8"/>
          </a:solidFill>
          <a:ln w="12700">
            <a:solidFill>
              <a:srgbClr val="8AA1B8"/>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AI inference providers</a:t>
            </a:r>
            <a:endParaRPr lang="en-US" sz="1500" dirty="0"/>
          </a:p>
          <a:p>
            <a:pPr indent="0" marL="0">
              <a:buNone/>
            </a:pPr>
            <a:r>
              <a:rPr lang="en-US" sz="1400" dirty="0">
                <a:solidFill>
                  <a:schemeClr val="tx1"/>
                </a:solidFill>
              </a:rPr>
              <a:t>Low-latency powered racks for distributed inference ('AI grid' nodes)</a:t>
            </a:r>
            <a:endParaRPr lang="en-US" sz="1500" dirty="0"/>
          </a:p>
        </p:txBody>
      </p:sp>
      <p:sp>
        <p:nvSpPr>
          <p:cNvPr id="10" name="Payer marker 3"/>
          <p:cNvSpPr/>
          <p:nvPr/>
        </p:nvSpPr>
        <p:spPr>
          <a:xfrm>
            <a:off x="548640" y="3639312"/>
            <a:ext cx="329184" cy="329184"/>
          </a:xfrm>
          <a:prstGeom prst="ellipse">
            <a:avLst/>
          </a:prstGeom>
          <a:solidFill>
            <a:srgbClr val="8AA1B8"/>
          </a:solidFill>
          <a:ln w="12700">
            <a:solidFill>
              <a:srgbClr val="8AA1B8"/>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CDNs and cloud on-ramps</a:t>
            </a:r>
            <a:endParaRPr lang="en-US" sz="1500" dirty="0"/>
          </a:p>
          <a:p>
            <a:pPr indent="0" marL="0">
              <a:buNone/>
            </a:pPr>
            <a:r>
              <a:rPr lang="en-US" sz="1400" dirty="0">
                <a:solidFill>
                  <a:schemeClr val="tx1"/>
                </a:solidFill>
              </a:rPr>
              <a:t>Edge cache and peering points closer to users, plus cross-connect fees</a:t>
            </a:r>
            <a:endParaRPr lang="en-US" sz="1500" dirty="0"/>
          </a:p>
        </p:txBody>
      </p:sp>
      <p:sp>
        <p:nvSpPr>
          <p:cNvPr id="13" name="Payer marker 4"/>
          <p:cNvSpPr/>
          <p:nvPr/>
        </p:nvSpPr>
        <p:spPr>
          <a:xfrm>
            <a:off x="548640" y="4553712"/>
            <a:ext cx="329184" cy="329184"/>
          </a:xfrm>
          <a:prstGeom prst="ellipse">
            <a:avLst/>
          </a:prstGeom>
          <a:solidFill>
            <a:srgbClr val="8AA1B8"/>
          </a:solidFill>
          <a:ln w="12700">
            <a:solidFill>
              <a:srgbClr val="8AA1B8"/>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Enterprises and public sector</a:t>
            </a:r>
            <a:endParaRPr lang="en-US" sz="1500" dirty="0"/>
          </a:p>
          <a:p>
            <a:pPr indent="0" marL="0">
              <a:buNone/>
            </a:pPr>
            <a:r>
              <a:rPr lang="en-US" sz="1400" dirty="0">
                <a:solidFill>
                  <a:schemeClr val="tx1"/>
                </a:solidFill>
              </a:rPr>
              <a:t>Local compute for video analytics, robotics and sovereign data workloads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Rent per contracted kW, space fees per pod and interconnection fees between tenants</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&gt;US$200B</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Cumulative AI-RAN market opportunity expected by 2030</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US$39.8B</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Global edge data center market by 2030, up from US$15.4B in 2024 (17.1% CAGR)</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2027</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First commercial Nokia AI-RAN deployments on Nvidia; trials 2026, scale availability 2028</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6  |  Edge and AI-RAN hubs   ·   Sources: Omdia (via Nvidia/Nokia); ResearchAndMarkets; Fierce Network / Nokia.</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 by peers; ramp ahead of the 6G cycle</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One 500 kW hub pod (illustrative)</a:t>
            </a:r>
            <a:endParaRPr lang="en-US" sz="1600" dirty="0"/>
          </a:p>
        </p:txBody>
      </p:sp>
      <p:graphicFrame>
        <p:nvGraphicFramePr>
          <p:cNvPr id="32"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Capex: shell, power, cooling, fiber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~US$5M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Leased load at maturity (80%)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400 kW</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Price per kW-month</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US$200-250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Annual revenue incl. cross-connects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~US$1.1-1.3M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EBITDA margin / cash yield</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~60% / ~13-15%</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power pass-through excluded; 10-yr anchor lease; tenant owns IT and GPUs; ramp to 80% over 3 years.</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American Tower edge data centers</a:t>
            </a:r>
            <a:endParaRPr lang="en-US" sz="1400" dirty="0"/>
          </a:p>
          <a:p>
            <a:pPr indent="0" marL="0">
              <a:buNone/>
            </a:pPr>
            <a:r>
              <a:rPr lang="en-US" sz="1300" dirty="0">
                <a:solidFill>
                  <a:schemeClr val="tx1"/>
                </a:solidFill>
              </a:rPr>
              <a:t>Raleigh RA1 at tower base: 1 MW at launch, up to 4 MW; 1,000+ ATC sites deemed feasible for multi-MW edge</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SBA Edge (SBA Communications)</a:t>
            </a:r>
            <a:endParaRPr lang="en-US" sz="1400" dirty="0"/>
          </a:p>
          <a:p>
            <a:pPr indent="0" marL="0">
              <a:buNone/>
            </a:pPr>
            <a:r>
              <a:rPr lang="en-US" sz="1300" dirty="0">
                <a:solidFill>
                  <a:schemeClr val="tx1"/>
                </a:solidFill>
              </a:rPr>
              <a:t>Shelter-style edge sites at towers (e.g., Arlington, TX); 40-50 sites live or in development by 2023</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Vapor IO + Crown Castle</a:t>
            </a:r>
            <a:endParaRPr lang="en-US" sz="1400" dirty="0"/>
          </a:p>
          <a:p>
            <a:pPr indent="0" marL="0">
              <a:buNone/>
            </a:pPr>
            <a:r>
              <a:rPr lang="en-US" sz="1300" dirty="0">
                <a:solidFill>
                  <a:schemeClr val="tx1"/>
                </a:solidFill>
              </a:rPr>
              <a:t>Kinetic Edge micro data centers at tower bases, Chicago first; Crown Castle took a minority stake</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Y0-1: Pilot hubs</a:t>
            </a:r>
            <a:endParaRPr lang="en-US" sz="1400" dirty="0"/>
          </a:p>
          <a:p>
            <a:pPr indent="0" marL="0">
              <a:buNone/>
            </a:pPr>
            <a:r>
              <a:rPr lang="en-US" sz="1200" dirty="0">
                <a:solidFill>
                  <a:schemeClr val="tx1"/>
                </a:solidFill>
              </a:rPr>
              <a:t>5-10 US hub pods with one carrier AI-RAN anchor plus a CDN or inference tenant; standard pod design and per-kW contract</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Y2-3: Scale US</a:t>
            </a:r>
            <a:endParaRPr lang="en-US" sz="1400" dirty="0"/>
          </a:p>
          <a:p>
            <a:pPr indent="0" marL="0">
              <a:buNone/>
            </a:pPr>
            <a:r>
              <a:rPr lang="en-US" sz="1200" dirty="0">
                <a:solidFill>
                  <a:schemeClr val="tx1"/>
                </a:solidFill>
              </a:rPr>
              <a:t>100+ pods in top metros; 2+ paying tenant types per pod; 5-10 yr leases; interconnection product live</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Y4-6: Expand, 6G-ready</a:t>
            </a:r>
            <a:endParaRPr lang="en-US" sz="1400" dirty="0"/>
          </a:p>
          <a:p>
            <a:pPr indent="0" marL="0">
              <a:buNone/>
            </a:pPr>
            <a:r>
              <a:rPr lang="en-US" sz="1200" dirty="0">
                <a:solidFill>
                  <a:schemeClr val="tx1"/>
                </a:solidFill>
              </a:rPr>
              <a:t>Replicate in Brazil and Central America; MW-class hubs at selected sites aligned to 6G and AI grid rollouts</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Leased kW and utilization per pod</a:t>
            </a:r>
            <a:endParaRPr lang="en-US" sz="1400" dirty="0"/>
          </a:p>
          <a:p>
            <a:pPr indent="0" marL="0">
              <a:buNone/>
            </a:pPr>
            <a:r>
              <a:rPr lang="en-US" sz="1200" dirty="0">
                <a:solidFill>
                  <a:schemeClr val="bg1"/>
                </a:solidFill>
              </a:rPr>
              <a:t>Tenants per pod (target 2+)</a:t>
            </a:r>
            <a:endParaRPr lang="en-US" sz="1400" dirty="0"/>
          </a:p>
          <a:p>
            <a:pPr indent="0" marL="0">
              <a:buNone/>
            </a:pPr>
            <a:r>
              <a:rPr lang="en-US" sz="1200" dirty="0">
                <a:solidFill>
                  <a:schemeClr val="bg1"/>
                </a:solidFill>
              </a:rPr>
              <a:t>Cross-connects per site</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6  |  Edge and AI-RAN hubs   ·   Precedent sources: DCD; Data Center Frontier.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7: Neutral satellite gateways</a:t>
            </a:r>
            <a:endParaRPr lang="en-US" sz="2800" dirty="0"/>
          </a:p>
        </p:txBody>
      </p:sp>
      <p:sp>
        <p:nvSpPr>
          <p:cNvPr id="3" name="Satellite gateways circle"/>
          <p:cNvSpPr/>
          <p:nvPr/>
        </p:nvSpPr>
        <p:spPr>
          <a:xfrm>
            <a:off x="548640" y="1371600"/>
            <a:ext cx="777240" cy="777240"/>
          </a:xfrm>
          <a:prstGeom prst="ellipse">
            <a:avLst/>
          </a:prstGeom>
          <a:solidFill>
            <a:srgbClr val="8AA1B8"/>
          </a:solidFill>
          <a:ln w="12700">
            <a:solidFill>
              <a:srgbClr val="8AA1B8"/>
            </a:solidFill>
            <a:prstDash val="solid"/>
          </a:ln>
        </p:spPr>
      </p:sp>
      <p:pic>
        <p:nvPicPr>
          <p:cNvPr id="4" name="Satellite gateways icon" descr="Satellite gateways">    </p:cNvPr>
          <p:cNvPicPr>
            <a:picLocks noChangeAspect="1"/>
          </p:cNvPicPr>
          <p:nvPr/>
        </p:nvPicPr>
        <p:blipFill>
          <a:blip r:embed="rId1"/>
          <a:stretch>
            <a:fillRect/>
          </a:stretch>
        </p:blipFill>
        <p:spPr>
          <a:xfrm>
            <a:off x="742950" y="1565910"/>
            <a:ext cx="388620" cy="388620"/>
          </a:xfrm>
          <a:prstGeom prst="rect">
            <a:avLst/>
          </a:prstGeom>
        </p:spPr>
      </p:pic>
      <p:sp>
        <p:nvSpPr>
          <p:cNvPr id="5" name="Text 2"/>
          <p:cNvSpPr txBox="1"/>
          <p:nvPr/>
        </p:nvSpPr>
        <p:spPr>
          <a:xfrm>
            <a:off x="1508760" y="1325880"/>
            <a:ext cx="10104120" cy="1143000"/>
          </a:xfrm>
          <a:prstGeom prst="rect">
            <a:avLst/>
          </a:prstGeom>
          <a:noFill/>
          <a:ln/>
        </p:spPr>
        <p:txBody>
          <a:bodyPr wrap="square" lIns="0" tIns="0" rIns="0" bIns="0" rtlCol="0" anchor="t"/>
          <a:lstStyle/>
          <a:p>
            <a:pPr indent="0" marL="0">
              <a:buNone/>
            </a:pPr>
            <a:r>
              <a:rPr lang="en-US" sz="1300" b="1" dirty="0">
                <a:solidFill>
                  <a:schemeClr val="accent3"/>
                </a:solidFill>
              </a:rPr>
              <a:t>Strategic options  |  What it is</a:t>
            </a:r>
            <a:endParaRPr lang="en-US" sz="1500" dirty="0"/>
          </a:p>
          <a:p>
            <a:pPr indent="0" marL="0">
              <a:buNone/>
            </a:pPr>
            <a:r>
              <a:rPr lang="en-US" sz="1500" dirty="0">
                <a:solidFill>
                  <a:schemeClr val="tx1"/>
                </a:solidFill>
              </a:rPr>
              <a:t>Build shared ground stations on large sites for LEO broadband and direct-to-device constellations. Several satellite operators install antennas in one compound and pay per antenna position, plus power and cross-connect fees.</a:t>
            </a:r>
            <a:endParaRPr lang="en-US" sz="1500" dirty="0"/>
          </a:p>
        </p:txBody>
      </p:sp>
      <p:sp>
        <p:nvSpPr>
          <p:cNvPr id="6" name="Text 3"/>
          <p:cNvSpPr txBox="1"/>
          <p:nvPr/>
        </p:nvSpPr>
        <p:spPr>
          <a:xfrm>
            <a:off x="548640" y="2606040"/>
            <a:ext cx="5486400" cy="320040"/>
          </a:xfrm>
          <a:prstGeom prst="rect">
            <a:avLst/>
          </a:prstGeom>
          <a:noFill/>
          <a:ln/>
        </p:spPr>
        <p:txBody>
          <a:bodyPr wrap="square" lIns="0" tIns="0" rIns="0" bIns="0" rtlCol="0" anchor="t"/>
          <a:lstStyle/>
          <a:p>
            <a:pPr indent="0" marL="0">
              <a:buNone/>
            </a:pPr>
            <a:r>
              <a:rPr lang="en-US" sz="1600" b="1" dirty="0">
                <a:solidFill>
                  <a:schemeClr val="tx2"/>
                </a:solidFill>
              </a:rPr>
              <a:t>How it works</a:t>
            </a:r>
            <a:endParaRPr lang="en-US" sz="1600" dirty="0"/>
          </a:p>
        </p:txBody>
      </p:sp>
      <p:sp>
        <p:nvSpPr>
          <p:cNvPr id="7" name="Step 1"/>
          <p:cNvSpPr/>
          <p:nvPr/>
        </p:nvSpPr>
        <p:spPr>
          <a:xfrm>
            <a:off x="54864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68580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1  Select gateway sites</a:t>
            </a:r>
            <a:endParaRPr lang="en-US" sz="1500" dirty="0"/>
          </a:p>
          <a:p>
            <a:pPr indent="0" marL="0">
              <a:buNone/>
            </a:pPr>
            <a:r>
              <a:rPr lang="en-US" sz="1400" dirty="0">
                <a:solidFill>
                  <a:schemeClr val="tx1"/>
                </a:solidFill>
              </a:rPr>
              <a:t>Screen large tower parcels with land, permits, grid power, fiber and low RF interference for gateway use</a:t>
            </a:r>
            <a:endParaRPr lang="en-US" sz="1500" dirty="0"/>
          </a:p>
        </p:txBody>
      </p:sp>
      <p:sp>
        <p:nvSpPr>
          <p:cNvPr id="9" name="Flow arrow 1"/>
          <p:cNvSpPr/>
          <p:nvPr/>
        </p:nvSpPr>
        <p:spPr>
          <a:xfrm>
            <a:off x="3182112" y="3611880"/>
            <a:ext cx="164592" cy="365760"/>
          </a:xfrm>
          <a:prstGeom prst="chevron">
            <a:avLst/>
          </a:prstGeom>
          <a:solidFill>
            <a:srgbClr val="8AA1B8"/>
          </a:solidFill>
          <a:ln w="12700">
            <a:solidFill>
              <a:srgbClr val="8AA1B8"/>
            </a:solidFill>
            <a:prstDash val="solid"/>
          </a:ln>
        </p:spPr>
      </p:sp>
      <p:sp>
        <p:nvSpPr>
          <p:cNvPr id="10" name="Step 2"/>
          <p:cNvSpPr/>
          <p:nvPr/>
        </p:nvSpPr>
        <p:spPr>
          <a:xfrm>
            <a:off x="338328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352044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2  Build shared compound</a:t>
            </a:r>
            <a:endParaRPr lang="en-US" sz="1500" dirty="0"/>
          </a:p>
          <a:p>
            <a:pPr indent="0" marL="0">
              <a:buNone/>
            </a:pPr>
            <a:r>
              <a:rPr lang="en-US" sz="1400" dirty="0">
                <a:solidFill>
                  <a:schemeClr val="tx1"/>
                </a:solidFill>
              </a:rPr>
              <a:t>Prepare pads, power, backup, cooling, security and fiber meet-me room for 6-20 antenna positions per site</a:t>
            </a:r>
            <a:endParaRPr lang="en-US" sz="1500" dirty="0"/>
          </a:p>
        </p:txBody>
      </p:sp>
      <p:sp>
        <p:nvSpPr>
          <p:cNvPr id="12" name="Flow arrow 2"/>
          <p:cNvSpPr/>
          <p:nvPr/>
        </p:nvSpPr>
        <p:spPr>
          <a:xfrm>
            <a:off x="6016752" y="3611880"/>
            <a:ext cx="164592" cy="365760"/>
          </a:xfrm>
          <a:prstGeom prst="chevron">
            <a:avLst/>
          </a:prstGeom>
          <a:solidFill>
            <a:srgbClr val="8AA1B8"/>
          </a:solidFill>
          <a:ln w="12700">
            <a:solidFill>
              <a:srgbClr val="8AA1B8"/>
            </a:solidFill>
            <a:prstDash val="solid"/>
          </a:ln>
        </p:spPr>
      </p:sp>
      <p:sp>
        <p:nvSpPr>
          <p:cNvPr id="13" name="Step 3"/>
          <p:cNvSpPr/>
          <p:nvPr/>
        </p:nvSpPr>
        <p:spPr>
          <a:xfrm>
            <a:off x="621792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635508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3  Lease antenna positions</a:t>
            </a:r>
            <a:endParaRPr lang="en-US" sz="1500" dirty="0"/>
          </a:p>
          <a:p>
            <a:pPr indent="0" marL="0">
              <a:buNone/>
            </a:pPr>
            <a:r>
              <a:rPr lang="en-US" sz="1400" dirty="0">
                <a:solidFill>
                  <a:schemeClr val="tx1"/>
                </a:solidFill>
              </a:rPr>
              <a:t>Rent pads to multiple LEO and D2D operators on 10+ year contracts with escalators, like a tower lease</a:t>
            </a:r>
            <a:endParaRPr lang="en-US" sz="1500" dirty="0"/>
          </a:p>
        </p:txBody>
      </p:sp>
      <p:sp>
        <p:nvSpPr>
          <p:cNvPr id="15" name="Flow arrow 3"/>
          <p:cNvSpPr/>
          <p:nvPr/>
        </p:nvSpPr>
        <p:spPr>
          <a:xfrm>
            <a:off x="8851392" y="3611880"/>
            <a:ext cx="164592" cy="365760"/>
          </a:xfrm>
          <a:prstGeom prst="chevron">
            <a:avLst/>
          </a:prstGeom>
          <a:solidFill>
            <a:srgbClr val="8AA1B8"/>
          </a:solidFill>
          <a:ln w="12700">
            <a:solidFill>
              <a:srgbClr val="8AA1B8"/>
            </a:solidFill>
            <a:prstDash val="solid"/>
          </a:ln>
        </p:spPr>
      </p:sp>
      <p:sp>
        <p:nvSpPr>
          <p:cNvPr id="16" name="Step 4"/>
          <p:cNvSpPr/>
          <p:nvPr/>
        </p:nvSpPr>
        <p:spPr>
          <a:xfrm>
            <a:off x="9052560" y="2926080"/>
            <a:ext cx="2606040" cy="1719072"/>
          </a:xfrm>
          <a:prstGeom prst="roundRect">
            <a:avLst>
              <a:gd name="adj" fmla="val 638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4"/>
          <p:cNvSpPr txBox="1"/>
          <p:nvPr/>
        </p:nvSpPr>
        <p:spPr>
          <a:xfrm>
            <a:off x="9189720" y="2999232"/>
            <a:ext cx="2359152" cy="1600200"/>
          </a:xfrm>
          <a:prstGeom prst="rect">
            <a:avLst/>
          </a:prstGeom>
          <a:noFill/>
          <a:ln/>
        </p:spPr>
        <p:txBody>
          <a:bodyPr wrap="square" lIns="0" tIns="0" rIns="0" bIns="0" rtlCol="0" anchor="t"/>
          <a:lstStyle/>
          <a:p>
            <a:pPr indent="0" marL="0">
              <a:buNone/>
            </a:pPr>
            <a:r>
              <a:rPr lang="en-US" sz="1500" b="1" dirty="0">
                <a:solidFill>
                  <a:schemeClr val="tx2"/>
                </a:solidFill>
              </a:rPr>
              <a:t>4  Add services and buy-ins</a:t>
            </a:r>
            <a:endParaRPr lang="en-US" sz="1500" dirty="0"/>
          </a:p>
          <a:p>
            <a:pPr indent="0" marL="0">
              <a:buNone/>
            </a:pPr>
            <a:r>
              <a:rPr lang="en-US" sz="1400" dirty="0">
                <a:solidFill>
                  <a:schemeClr val="tx1"/>
                </a:solidFill>
              </a:rPr>
              <a:t>Sell power, cross-connects and remote hands; buy captive gateway networks via sale-leaseback</a:t>
            </a:r>
            <a:endParaRPr lang="en-US" sz="1500" dirty="0"/>
          </a:p>
        </p:txBody>
      </p:sp>
      <p:sp>
        <p:nvSpPr>
          <p:cNvPr id="18" name="Why us card"/>
          <p:cNvSpPr/>
          <p:nvPr/>
        </p:nvSpPr>
        <p:spPr>
          <a:xfrm>
            <a:off x="54864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9" name="Text 16"/>
          <p:cNvSpPr txBox="1"/>
          <p:nvPr/>
        </p:nvSpPr>
        <p:spPr>
          <a:xfrm>
            <a:off x="77724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us</a:t>
            </a:r>
            <a:endParaRPr lang="en-US" sz="1500" dirty="0"/>
          </a:p>
          <a:p>
            <a:pPr indent="0" marL="0">
              <a:buNone/>
            </a:pPr>
            <a:r>
              <a:rPr lang="en-US" sz="1400" dirty="0">
                <a:solidFill>
                  <a:schemeClr val="bg1"/>
                </a:solidFill>
              </a:rPr>
              <a:t>Large sites with land, permits, power, fiber and security, spread across the Americas and Africa.</a:t>
            </a:r>
            <a:endParaRPr lang="en-US" sz="1500" dirty="0"/>
          </a:p>
        </p:txBody>
      </p:sp>
      <p:sp>
        <p:nvSpPr>
          <p:cNvPr id="20" name="Why it can transform card"/>
          <p:cNvSpPr/>
          <p:nvPr/>
        </p:nvSpPr>
        <p:spPr>
          <a:xfrm>
            <a:off x="6217920" y="4800600"/>
            <a:ext cx="5440680" cy="1188720"/>
          </a:xfrm>
          <a:prstGeom prst="roundRect">
            <a:avLst>
              <a:gd name="adj" fmla="val 923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21" name="Text 18"/>
          <p:cNvSpPr txBox="1"/>
          <p:nvPr/>
        </p:nvSpPr>
        <p:spPr>
          <a:xfrm>
            <a:off x="6446520" y="4873752"/>
            <a:ext cx="4983480" cy="1051560"/>
          </a:xfrm>
          <a:prstGeom prst="rect">
            <a:avLst/>
          </a:prstGeom>
          <a:noFill/>
          <a:ln/>
        </p:spPr>
        <p:txBody>
          <a:bodyPr wrap="square" lIns="0" tIns="0" rIns="0" bIns="0" rtlCol="0" anchor="t"/>
          <a:lstStyle/>
          <a:p>
            <a:pPr indent="0" marL="0">
              <a:buNone/>
            </a:pPr>
            <a:r>
              <a:rPr lang="en-US" sz="1500" b="1" dirty="0">
                <a:solidFill>
                  <a:schemeClr val="accent1"/>
                </a:solidFill>
              </a:rPr>
              <a:t>Why it can transform</a:t>
            </a:r>
            <a:endParaRPr lang="en-US" sz="1500" dirty="0"/>
          </a:p>
          <a:p>
            <a:pPr indent="0" marL="0">
              <a:buNone/>
            </a:pPr>
            <a:r>
              <a:rPr lang="en-US" sz="1400" dirty="0">
                <a:solidFill>
                  <a:schemeClr val="bg1"/>
                </a:solidFill>
              </a:rPr>
              <a:t>Turns the satellite disruption threat into a tenant and hedges the rural tower base.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LEO fleets need hundreds of new ground sites</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t"/>
          <a:lstStyle/>
          <a:p>
            <a:pPr indent="0" marL="0">
              <a:buNone/>
            </a:pPr>
            <a:r>
              <a:rPr lang="en-US" sz="1600" b="1" dirty="0">
                <a:solidFill>
                  <a:schemeClr val="tx2"/>
                </a:solidFill>
              </a:rPr>
              <a:t>Who pays</a:t>
            </a:r>
            <a:endParaRPr lang="en-US" sz="1600" dirty="0"/>
          </a:p>
        </p:txBody>
      </p:sp>
      <p:sp>
        <p:nvSpPr>
          <p:cNvPr id="4" name="Payer marker 1"/>
          <p:cNvSpPr/>
          <p:nvPr/>
        </p:nvSpPr>
        <p:spPr>
          <a:xfrm>
            <a:off x="548640" y="1810512"/>
            <a:ext cx="329184" cy="329184"/>
          </a:xfrm>
          <a:prstGeom prst="ellipse">
            <a:avLst/>
          </a:prstGeom>
          <a:solidFill>
            <a:srgbClr val="8AA1B8"/>
          </a:solidFill>
          <a:ln w="12700">
            <a:solidFill>
              <a:srgbClr val="8AA1B8"/>
            </a:solidFill>
            <a:prstDash val="solid"/>
          </a:ln>
        </p:spPr>
      </p:sp>
      <p:sp>
        <p:nvSpPr>
          <p:cNvPr id="5" name="Text 3"/>
          <p:cNvSpPr txBox="1"/>
          <p:nvPr/>
        </p:nvSpPr>
        <p:spPr>
          <a:xfrm>
            <a:off x="548640" y="18105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6" name="Text 4"/>
          <p:cNvSpPr txBox="1"/>
          <p:nvPr/>
        </p:nvSpPr>
        <p:spPr>
          <a:xfrm>
            <a:off x="1051560" y="17373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LEO broadband operators</a:t>
            </a:r>
            <a:endParaRPr lang="en-US" sz="1500" dirty="0"/>
          </a:p>
          <a:p>
            <a:pPr indent="0" marL="0">
              <a:buNone/>
            </a:pPr>
            <a:r>
              <a:rPr lang="en-US" sz="1400" dirty="0">
                <a:solidFill>
                  <a:schemeClr val="tx1"/>
                </a:solidFill>
              </a:rPr>
              <a:t>Antenna pad rent, power and fiber cross-connects at gateways (e.g., Amazon Leo, OneWeb)</a:t>
            </a:r>
            <a:endParaRPr lang="en-US" sz="1500" dirty="0"/>
          </a:p>
        </p:txBody>
      </p:sp>
      <p:sp>
        <p:nvSpPr>
          <p:cNvPr id="7" name="Payer marker 2"/>
          <p:cNvSpPr/>
          <p:nvPr/>
        </p:nvSpPr>
        <p:spPr>
          <a:xfrm>
            <a:off x="548640" y="2724912"/>
            <a:ext cx="329184" cy="329184"/>
          </a:xfrm>
          <a:prstGeom prst="ellipse">
            <a:avLst/>
          </a:prstGeom>
          <a:solidFill>
            <a:srgbClr val="8AA1B8"/>
          </a:solidFill>
          <a:ln w="12700">
            <a:solidFill>
              <a:srgbClr val="8AA1B8"/>
            </a:solidFill>
            <a:prstDash val="solid"/>
          </a:ln>
        </p:spPr>
      </p:sp>
      <p:sp>
        <p:nvSpPr>
          <p:cNvPr id="8" name="Text 6"/>
          <p:cNvSpPr txBox="1"/>
          <p:nvPr/>
        </p:nvSpPr>
        <p:spPr>
          <a:xfrm>
            <a:off x="548640" y="27249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9" name="Text 7"/>
          <p:cNvSpPr txBox="1"/>
          <p:nvPr/>
        </p:nvSpPr>
        <p:spPr>
          <a:xfrm>
            <a:off x="1051560" y="26517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D2D satellite operators</a:t>
            </a:r>
            <a:endParaRPr lang="en-US" sz="1500" dirty="0"/>
          </a:p>
          <a:p>
            <a:pPr indent="0" marL="0">
              <a:buNone/>
            </a:pPr>
            <a:r>
              <a:rPr lang="en-US" sz="1400" dirty="0">
                <a:solidFill>
                  <a:schemeClr val="tx1"/>
                </a:solidFill>
              </a:rPr>
              <a:t>Gateways near MNO core networks, plus colocation of 3GPP ground equipment</a:t>
            </a:r>
            <a:endParaRPr lang="en-US" sz="1500" dirty="0"/>
          </a:p>
        </p:txBody>
      </p:sp>
      <p:sp>
        <p:nvSpPr>
          <p:cNvPr id="10" name="Payer marker 3"/>
          <p:cNvSpPr/>
          <p:nvPr/>
        </p:nvSpPr>
        <p:spPr>
          <a:xfrm>
            <a:off x="548640" y="3639312"/>
            <a:ext cx="329184" cy="329184"/>
          </a:xfrm>
          <a:prstGeom prst="ellipse">
            <a:avLst/>
          </a:prstGeom>
          <a:solidFill>
            <a:srgbClr val="8AA1B8"/>
          </a:solidFill>
          <a:ln w="12700">
            <a:solidFill>
              <a:srgbClr val="8AA1B8"/>
            </a:solidFill>
            <a:prstDash val="solid"/>
          </a:ln>
        </p:spPr>
      </p:sp>
      <p:sp>
        <p:nvSpPr>
          <p:cNvPr id="11" name="Text 9"/>
          <p:cNvSpPr txBox="1"/>
          <p:nvPr/>
        </p:nvSpPr>
        <p:spPr>
          <a:xfrm>
            <a:off x="548640" y="36393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2" name="Text 10"/>
          <p:cNvSpPr txBox="1"/>
          <p:nvPr/>
        </p:nvSpPr>
        <p:spPr>
          <a:xfrm>
            <a:off x="1051560" y="35661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Mobile network operators</a:t>
            </a:r>
            <a:endParaRPr lang="en-US" sz="1500" dirty="0"/>
          </a:p>
          <a:p>
            <a:pPr indent="0" marL="0">
              <a:buNone/>
            </a:pPr>
            <a:r>
              <a:rPr lang="en-US" sz="1400" dirty="0">
                <a:solidFill>
                  <a:schemeClr val="tx1"/>
                </a:solidFill>
              </a:rPr>
              <a:t>Interconnect and hosting of their D2D partner gateways next to their own sites</a:t>
            </a:r>
            <a:endParaRPr lang="en-US" sz="1500" dirty="0"/>
          </a:p>
        </p:txBody>
      </p:sp>
      <p:sp>
        <p:nvSpPr>
          <p:cNvPr id="13" name="Payer marker 4"/>
          <p:cNvSpPr/>
          <p:nvPr/>
        </p:nvSpPr>
        <p:spPr>
          <a:xfrm>
            <a:off x="548640" y="4553712"/>
            <a:ext cx="329184" cy="329184"/>
          </a:xfrm>
          <a:prstGeom prst="ellipse">
            <a:avLst/>
          </a:prstGeom>
          <a:solidFill>
            <a:srgbClr val="8AA1B8"/>
          </a:solidFill>
          <a:ln w="12700">
            <a:solidFill>
              <a:srgbClr val="8AA1B8"/>
            </a:solidFill>
            <a:prstDash val="solid"/>
          </a:ln>
        </p:spPr>
      </p:sp>
      <p:sp>
        <p:nvSpPr>
          <p:cNvPr id="14" name="Text 12"/>
          <p:cNvSpPr txBox="1"/>
          <p:nvPr/>
        </p:nvSpPr>
        <p:spPr>
          <a:xfrm>
            <a:off x="548640" y="4553712"/>
            <a:ext cx="329184" cy="329184"/>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Text 13"/>
          <p:cNvSpPr txBox="1"/>
          <p:nvPr/>
        </p:nvSpPr>
        <p:spPr>
          <a:xfrm>
            <a:off x="1051560" y="4480560"/>
            <a:ext cx="4846320" cy="868680"/>
          </a:xfrm>
          <a:prstGeom prst="rect">
            <a:avLst/>
          </a:prstGeom>
          <a:noFill/>
          <a:ln/>
        </p:spPr>
        <p:txBody>
          <a:bodyPr wrap="square" lIns="0" tIns="0" rIns="0" bIns="0" rtlCol="0" anchor="t"/>
          <a:lstStyle/>
          <a:p>
            <a:pPr indent="0" marL="0">
              <a:buNone/>
            </a:pPr>
            <a:r>
              <a:rPr lang="en-US" sz="1500" b="1" dirty="0">
                <a:solidFill>
                  <a:schemeClr val="tx2"/>
                </a:solidFill>
              </a:rPr>
              <a:t>EO and gov. satellite users</a:t>
            </a:r>
            <a:endParaRPr lang="en-US" sz="1500" dirty="0"/>
          </a:p>
          <a:p>
            <a:pPr indent="0" marL="0">
              <a:buNone/>
            </a:pPr>
            <a:r>
              <a:rPr lang="en-US" sz="1400" dirty="0">
                <a:solidFill>
                  <a:schemeClr val="tx1"/>
                </a:solidFill>
              </a:rPr>
              <a:t>Shared antenna capacity and secure hosting for data downlink, often via GSaaS partners</a:t>
            </a:r>
            <a:endParaRPr lang="en-US" sz="1500" dirty="0"/>
          </a:p>
        </p:txBody>
      </p:sp>
      <p:sp>
        <p:nvSpPr>
          <p:cNvPr id="16" name="Revenue model card"/>
          <p:cNvSpPr/>
          <p:nvPr/>
        </p:nvSpPr>
        <p:spPr>
          <a:xfrm>
            <a:off x="548640" y="5440680"/>
            <a:ext cx="5349240" cy="548640"/>
          </a:xfrm>
          <a:prstGeom prst="roundRect">
            <a:avLst>
              <a:gd name="adj" fmla="val 200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7" name="Text 15"/>
          <p:cNvSpPr txBox="1"/>
          <p:nvPr/>
        </p:nvSpPr>
        <p:spPr>
          <a:xfrm>
            <a:off x="731520" y="5486400"/>
            <a:ext cx="5029200" cy="457200"/>
          </a:xfrm>
          <a:prstGeom prst="rect">
            <a:avLst/>
          </a:prstGeom>
          <a:noFill/>
          <a:ln/>
        </p:spPr>
        <p:txBody>
          <a:bodyPr wrap="square" lIns="0" tIns="0" rIns="0" bIns="0" rtlCol="0" anchor="ctr"/>
          <a:lstStyle/>
          <a:p>
            <a:pPr indent="0" marL="0">
              <a:buNone/>
            </a:pPr>
            <a:r>
              <a:rPr lang="en-US" sz="1300" b="1" dirty="0">
                <a:solidFill>
                  <a:schemeClr val="tx2"/>
                </a:solidFill>
              </a:rPr>
              <a:t>How it earns: </a:t>
            </a:r>
            <a:pPr indent="0" marL="0">
              <a:buNone/>
            </a:pPr>
            <a:r>
              <a:rPr lang="en-US" sz="1300" dirty="0">
                <a:solidFill>
                  <a:schemeClr val="tx1"/>
                </a:solidFill>
              </a:rPr>
              <a:t>Rent per antenna position on 10 to 15 year contracts, power and fiber cross-connect fees</a:t>
            </a:r>
            <a:endParaRPr lang="en-US" sz="1300" dirty="0"/>
          </a:p>
        </p:txBody>
      </p:sp>
      <p:sp>
        <p:nvSpPr>
          <p:cNvPr id="18" name="Text 16"/>
          <p:cNvSpPr txBox="1"/>
          <p:nvPr/>
        </p:nvSpPr>
        <p:spPr>
          <a:xfrm>
            <a:off x="6263640" y="1325880"/>
            <a:ext cx="5394960" cy="320040"/>
          </a:xfrm>
          <a:prstGeom prst="rect">
            <a:avLst/>
          </a:prstGeom>
          <a:noFill/>
          <a:ln/>
        </p:spPr>
        <p:txBody>
          <a:bodyPr wrap="square" lIns="0" tIns="0" rIns="0" bIns="0" rtlCol="0" anchor="t"/>
          <a:lstStyle/>
          <a:p>
            <a:pPr indent="0" marL="0">
              <a:buNone/>
            </a:pPr>
            <a:r>
              <a:rPr lang="en-US" sz="1600" b="1" dirty="0">
                <a:solidFill>
                  <a:schemeClr val="tx2"/>
                </a:solidFill>
              </a:rPr>
              <a:t>Market signals</a:t>
            </a:r>
            <a:endParaRPr lang="en-US" sz="1600" dirty="0"/>
          </a:p>
        </p:txBody>
      </p:sp>
      <p:sp>
        <p:nvSpPr>
          <p:cNvPr id="19" name="Stat card 1"/>
          <p:cNvSpPr/>
          <p:nvPr/>
        </p:nvSpPr>
        <p:spPr>
          <a:xfrm>
            <a:off x="6263640" y="1737360"/>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0" name="Text 18"/>
          <p:cNvSpPr txBox="1"/>
          <p:nvPr/>
        </p:nvSpPr>
        <p:spPr>
          <a:xfrm>
            <a:off x="6446520" y="1847088"/>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300+</a:t>
            </a:r>
            <a:endParaRPr lang="en-US" sz="2600" dirty="0"/>
          </a:p>
        </p:txBody>
      </p:sp>
      <p:sp>
        <p:nvSpPr>
          <p:cNvPr id="21" name="Text 19"/>
          <p:cNvSpPr txBox="1"/>
          <p:nvPr/>
        </p:nvSpPr>
        <p:spPr>
          <a:xfrm>
            <a:off x="6446520" y="2377440"/>
            <a:ext cx="5029200" cy="594360"/>
          </a:xfrm>
          <a:prstGeom prst="rect">
            <a:avLst/>
          </a:prstGeom>
          <a:noFill/>
          <a:ln/>
        </p:spPr>
        <p:txBody>
          <a:bodyPr wrap="square" lIns="0" tIns="0" rIns="0" bIns="0" rtlCol="0" anchor="t"/>
          <a:lstStyle/>
          <a:p>
            <a:pPr indent="0" marL="0">
              <a:buNone/>
            </a:pPr>
            <a:r>
              <a:rPr lang="en-US" sz="1400" dirty="0">
                <a:solidFill>
                  <a:schemeClr val="tx1"/>
                </a:solidFill>
              </a:rPr>
              <a:t>Ground stations Amazon Leo plans to install to connect its LEO constellation</a:t>
            </a:r>
            <a:endParaRPr lang="en-US" sz="1400" dirty="0"/>
          </a:p>
        </p:txBody>
      </p:sp>
      <p:sp>
        <p:nvSpPr>
          <p:cNvPr id="22" name="Stat card 2"/>
          <p:cNvSpPr/>
          <p:nvPr/>
        </p:nvSpPr>
        <p:spPr>
          <a:xfrm>
            <a:off x="6263640" y="3172968"/>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3" name="Text 21"/>
          <p:cNvSpPr txBox="1"/>
          <p:nvPr/>
        </p:nvSpPr>
        <p:spPr>
          <a:xfrm>
            <a:off x="6446520" y="3282696"/>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US$ 82.7B</a:t>
            </a:r>
            <a:endParaRPr lang="en-US" sz="2600" dirty="0"/>
          </a:p>
        </p:txBody>
      </p:sp>
      <p:sp>
        <p:nvSpPr>
          <p:cNvPr id="24" name="Text 22"/>
          <p:cNvSpPr txBox="1"/>
          <p:nvPr/>
        </p:nvSpPr>
        <p:spPr>
          <a:xfrm>
            <a:off x="6446520" y="3813048"/>
            <a:ext cx="5029200" cy="594360"/>
          </a:xfrm>
          <a:prstGeom prst="rect">
            <a:avLst/>
          </a:prstGeom>
          <a:noFill/>
          <a:ln/>
        </p:spPr>
        <p:txBody>
          <a:bodyPr wrap="square" lIns="0" tIns="0" rIns="0" bIns="0" rtlCol="0" anchor="t"/>
          <a:lstStyle/>
          <a:p>
            <a:pPr indent="0" marL="0">
              <a:buNone/>
            </a:pPr>
            <a:r>
              <a:rPr lang="en-US" sz="1400" dirty="0">
                <a:solidFill>
                  <a:schemeClr val="tx1"/>
                </a:solidFill>
              </a:rPr>
              <a:t>Satellite ground station market by 2030, from US$ 41.0B in 2025; 15.1% CAGR, GSaaS fastest</a:t>
            </a:r>
            <a:endParaRPr lang="en-US" sz="1400" dirty="0"/>
          </a:p>
        </p:txBody>
      </p:sp>
      <p:sp>
        <p:nvSpPr>
          <p:cNvPr id="25" name="Stat card 3"/>
          <p:cNvSpPr/>
          <p:nvPr/>
        </p:nvSpPr>
        <p:spPr>
          <a:xfrm>
            <a:off x="6263640" y="4608576"/>
            <a:ext cx="5394960" cy="1298448"/>
          </a:xfrm>
          <a:prstGeom prst="roundRect">
            <a:avLst>
              <a:gd name="adj" fmla="val 845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6" name="Text 24"/>
          <p:cNvSpPr txBox="1"/>
          <p:nvPr/>
        </p:nvSpPr>
        <p:spPr>
          <a:xfrm>
            <a:off x="6446520" y="4718304"/>
            <a:ext cx="502920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US$ 17B</a:t>
            </a:r>
            <a:endParaRPr lang="en-US" sz="2600" dirty="0"/>
          </a:p>
        </p:txBody>
      </p:sp>
      <p:sp>
        <p:nvSpPr>
          <p:cNvPr id="27" name="Text 25"/>
          <p:cNvSpPr txBox="1"/>
          <p:nvPr/>
        </p:nvSpPr>
        <p:spPr>
          <a:xfrm>
            <a:off x="6446520" y="5248656"/>
            <a:ext cx="5029200" cy="594360"/>
          </a:xfrm>
          <a:prstGeom prst="rect">
            <a:avLst/>
          </a:prstGeom>
          <a:noFill/>
          <a:ln/>
        </p:spPr>
        <p:txBody>
          <a:bodyPr wrap="square" lIns="0" tIns="0" rIns="0" bIns="0" rtlCol="0" anchor="t"/>
          <a:lstStyle/>
          <a:p>
            <a:pPr indent="0" marL="0">
              <a:buNone/>
            </a:pPr>
            <a:r>
              <a:rPr lang="en-US" sz="1400" dirty="0">
                <a:solidFill>
                  <a:schemeClr val="tx1"/>
                </a:solidFill>
              </a:rPr>
              <a:t>SpaceX deal for EchoStar AWS-4/H-block spectrum to scale Starlink Direct to Cell</a:t>
            </a:r>
            <a:endParaRPr lang="en-US" sz="1400" dirty="0"/>
          </a:p>
        </p:txBody>
      </p:sp>
      <p:sp>
        <p:nvSpPr>
          <p:cNvPr id="28" name="Text 2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7  |  Satellite gateways   ·   Sources: DCD (Dec 2025); MarketsandMarkets; The Register.</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anchor tenant to global gateway platform</a:t>
            </a:r>
            <a:endParaRPr lang="en-US" sz="2800" dirty="0"/>
          </a:p>
        </p:txBody>
      </p:sp>
      <p:sp>
        <p:nvSpPr>
          <p:cNvPr id="3" name="Economics card"/>
          <p:cNvSpPr/>
          <p:nvPr/>
        </p:nvSpPr>
        <p:spPr>
          <a:xfrm>
            <a:off x="548640" y="1325880"/>
            <a:ext cx="5257800" cy="3108960"/>
          </a:xfrm>
          <a:prstGeom prst="roundRect">
            <a:avLst>
              <a:gd name="adj" fmla="val 3529"/>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731520" y="1417320"/>
            <a:ext cx="4892040" cy="594360"/>
          </a:xfrm>
          <a:prstGeom prst="rect">
            <a:avLst/>
          </a:prstGeom>
          <a:noFill/>
          <a:ln/>
        </p:spPr>
        <p:txBody>
          <a:bodyPr wrap="square" lIns="0" tIns="0" rIns="0" bIns="0" rtlCol="0" anchor="t"/>
          <a:lstStyle/>
          <a:p>
            <a:pPr indent="0" marL="0">
              <a:buNone/>
            </a:pPr>
            <a:r>
              <a:rPr lang="en-US" sz="1600" b="1" dirty="0">
                <a:solidFill>
                  <a:schemeClr val="tx2"/>
                </a:solidFill>
              </a:rPr>
              <a:t>Illustrative economics</a:t>
            </a:r>
            <a:endParaRPr lang="en-US" sz="1600" dirty="0"/>
          </a:p>
          <a:p>
            <a:pPr indent="0" marL="0">
              <a:buNone/>
            </a:pPr>
            <a:r>
              <a:rPr lang="en-US" sz="1200" dirty="0">
                <a:solidFill>
                  <a:schemeClr val="accent3"/>
                </a:solidFill>
              </a:rPr>
              <a:t>Shared gateway compound (illustrative)</a:t>
            </a:r>
            <a:endParaRPr lang="en-US" sz="1600" dirty="0"/>
          </a:p>
        </p:txBody>
      </p:sp>
      <p:graphicFrame>
        <p:nvGraphicFramePr>
          <p:cNvPr id="35" name="Economics table"/>
          <p:cNvGraphicFramePr>
            <a:graphicFrameLocks noGrp="1"/>
          </p:cNvGraphicFramePr>
          <p:nvPr>
            <p:extLst>
              <p:ext uri="{D42A27DB-BD31-4B8C-83A1-F6EECF244321}">
                <p14:modId xmlns:p14="http://schemas.microsoft.com/office/powerpoint/2010/main" val="1579011935"/>
              </p:ext>
            </p:extLst>
          </p:nvPr>
        </p:nvGraphicFramePr>
        <p:xfrm>
          <a:off x="731520" y="2011680"/>
          <a:ext cx="4892040" cy="914400"/>
        </p:xfrm>
        <a:graphic>
          <a:graphicData uri="http://schemas.openxmlformats.org/drawingml/2006/table">
            <a:tbl>
              <a:tblPr/>
              <a:tblGrid>
                <a:gridCol w="2743200"/>
                <a:gridCol w="2148840"/>
              </a:tblGrid>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Antenna positions per site</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12 (2-3 operators)</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Rent per position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US$ 40-60k</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Power + cross-connect add-on</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+30% of rent</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Revenue per site per year</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~US$ 0.7-0.9M</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Capex per site / EBITDA margin</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4213D"/>
                          </a:solidFill>
                          <a:latin typeface="Calibri" pitchFamily="34" charset="0"/>
                          <a:ea typeface="Calibri" pitchFamily="34" charset="-122"/>
                          <a:cs typeface="Calibri" pitchFamily="34" charset="-120"/>
                        </a:rPr>
                        <a:t>US$ 4-6M / ~60%</a:t>
                      </a:r>
                      <a:endParaRPr lang="en-US" sz="1200" dirty="0">
                        <a:latin typeface="Calibri" charset="0"/>
                        <a:ea typeface="Calibri" charset="0"/>
                        <a:cs typeface="Calibri" charset="0"/>
                      </a:endParaRPr>
                    </a:p>
                  </a:txBody>
                  <a:tcPr marL="45720" marR="45720" marT="45720" marB="45720">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31520" y="3931920"/>
            <a:ext cx="4892040" cy="457200"/>
          </a:xfrm>
          <a:prstGeom prst="rect">
            <a:avLst/>
          </a:prstGeom>
          <a:noFill/>
          <a:ln/>
        </p:spPr>
        <p:txBody>
          <a:bodyPr wrap="square" lIns="0" tIns="0" rIns="0" bIns="0" rtlCol="0" anchor="t"/>
          <a:lstStyle/>
          <a:p>
            <a:pPr indent="0" marL="0">
              <a:buNone/>
            </a:pPr>
            <a:r>
              <a:rPr lang="en-US" sz="1000" i="1" dirty="0">
                <a:solidFill>
                  <a:schemeClr val="accent3"/>
                </a:solidFill>
              </a:rPr>
              <a:t>Illustrative: reuses owned land and permits; 10-15y contracts; ~10% unlevered yield at full tenancy; excludes antennas owned by operators.</a:t>
            </a:r>
            <a:endParaRPr lang="en-US" sz="1000" dirty="0"/>
          </a:p>
        </p:txBody>
      </p:sp>
      <p:sp>
        <p:nvSpPr>
          <p:cNvPr id="7" name="Text 4"/>
          <p:cNvSpPr txBox="1"/>
          <p:nvPr/>
        </p:nvSpPr>
        <p:spPr>
          <a:xfrm>
            <a:off x="6080760" y="1325880"/>
            <a:ext cx="5577840" cy="320040"/>
          </a:xfrm>
          <a:prstGeom prst="rect">
            <a:avLst/>
          </a:prstGeom>
          <a:noFill/>
          <a:ln/>
        </p:spPr>
        <p:txBody>
          <a:bodyPr wrap="square" lIns="0" tIns="0" rIns="0" bIns="0" rtlCol="0" anchor="t"/>
          <a:lstStyle/>
          <a:p>
            <a:pPr indent="0" marL="0">
              <a:buNone/>
            </a:pPr>
            <a:r>
              <a:rPr lang="en-US" sz="1600" b="1" dirty="0">
                <a:solidFill>
                  <a:schemeClr val="tx2"/>
                </a:solidFill>
              </a:rPr>
              <a:t>Precedents</a:t>
            </a:r>
            <a:endParaRPr lang="en-US" sz="1600" dirty="0"/>
          </a:p>
        </p:txBody>
      </p:sp>
      <p:sp>
        <p:nvSpPr>
          <p:cNvPr id="8" name="Text 5"/>
          <p:cNvSpPr txBox="1"/>
          <p:nvPr/>
        </p:nvSpPr>
        <p:spPr>
          <a:xfrm>
            <a:off x="6080760" y="1691640"/>
            <a:ext cx="5577840" cy="841248"/>
          </a:xfrm>
          <a:prstGeom prst="rect">
            <a:avLst/>
          </a:prstGeom>
          <a:noFill/>
          <a:ln/>
        </p:spPr>
        <p:txBody>
          <a:bodyPr wrap="square" lIns="0" tIns="0" rIns="0" bIns="0" rtlCol="0" anchor="t"/>
          <a:lstStyle/>
          <a:p>
            <a:pPr indent="0" marL="0">
              <a:buNone/>
            </a:pPr>
            <a:r>
              <a:rPr lang="en-US" sz="1400" b="1" dirty="0">
                <a:solidFill>
                  <a:schemeClr val="tx2"/>
                </a:solidFill>
              </a:rPr>
              <a:t>American Tower - AST SpaceMobile</a:t>
            </a:r>
            <a:endParaRPr lang="en-US" sz="1400" dirty="0"/>
          </a:p>
          <a:p>
            <a:pPr indent="0" marL="0">
              <a:buNone/>
            </a:pPr>
            <a:r>
              <a:rPr lang="en-US" sz="1300" dirty="0">
                <a:solidFill>
                  <a:schemeClr val="tx1"/>
                </a:solidFill>
              </a:rPr>
              <a:t>2022 term sheet for AST gateway equipment on American Tower sites and data centers under a global master lease, plus managed services</a:t>
            </a:r>
            <a:endParaRPr lang="en-US" sz="1400" dirty="0"/>
          </a:p>
        </p:txBody>
      </p:sp>
      <p:sp>
        <p:nvSpPr>
          <p:cNvPr id="9" name="Text 6"/>
          <p:cNvSpPr txBox="1"/>
          <p:nvPr/>
        </p:nvSpPr>
        <p:spPr>
          <a:xfrm>
            <a:off x="6080760" y="2560320"/>
            <a:ext cx="5577840" cy="841248"/>
          </a:xfrm>
          <a:prstGeom prst="rect">
            <a:avLst/>
          </a:prstGeom>
          <a:noFill/>
          <a:ln/>
        </p:spPr>
        <p:txBody>
          <a:bodyPr wrap="square" lIns="0" tIns="0" rIns="0" bIns="0" rtlCol="0" anchor="t"/>
          <a:lstStyle/>
          <a:p>
            <a:pPr indent="0" marL="0">
              <a:buNone/>
            </a:pPr>
            <a:r>
              <a:rPr lang="en-US" sz="1400" b="1" dirty="0">
                <a:solidFill>
                  <a:schemeClr val="tx2"/>
                </a:solidFill>
              </a:rPr>
              <a:t>Telstra - OneWeb teleports</a:t>
            </a:r>
            <a:endParaRPr lang="en-US" sz="1400" dirty="0"/>
          </a:p>
          <a:p>
            <a:pPr indent="0" marL="0">
              <a:buNone/>
            </a:pPr>
            <a:r>
              <a:rPr lang="en-US" sz="1300" dirty="0">
                <a:solidFill>
                  <a:schemeClr val="tx1"/>
                </a:solidFill>
              </a:rPr>
              <a:t>Ten-year agreement for Telstra to build, host and run three OneWeb gateway teleports in Australia with 24/7 monitoring</a:t>
            </a:r>
            <a:endParaRPr lang="en-US" sz="1400" dirty="0"/>
          </a:p>
        </p:txBody>
      </p:sp>
      <p:sp>
        <p:nvSpPr>
          <p:cNvPr id="10" name="Text 7"/>
          <p:cNvSpPr txBox="1"/>
          <p:nvPr/>
        </p:nvSpPr>
        <p:spPr>
          <a:xfrm>
            <a:off x="6080760" y="3429000"/>
            <a:ext cx="5577840" cy="841248"/>
          </a:xfrm>
          <a:prstGeom prst="rect">
            <a:avLst/>
          </a:prstGeom>
          <a:noFill/>
          <a:ln/>
        </p:spPr>
        <p:txBody>
          <a:bodyPr wrap="square" lIns="0" tIns="0" rIns="0" bIns="0" rtlCol="0" anchor="t"/>
          <a:lstStyle/>
          <a:p>
            <a:pPr indent="0" marL="0">
              <a:buNone/>
            </a:pPr>
            <a:r>
              <a:rPr lang="en-US" sz="1400" b="1" dirty="0">
                <a:solidFill>
                  <a:schemeClr val="tx2"/>
                </a:solidFill>
              </a:rPr>
              <a:t>KSAT and AWS Ground Station</a:t>
            </a:r>
            <a:endParaRPr lang="en-US" sz="1400" dirty="0"/>
          </a:p>
          <a:p>
            <a:pPr indent="0" marL="0">
              <a:buNone/>
            </a:pPr>
            <a:r>
              <a:rPr lang="en-US" sz="1300" dirty="0">
                <a:solidFill>
                  <a:schemeClr val="tx1"/>
                </a:solidFill>
              </a:rPr>
              <a:t>Shared-antenna models: KSAT runs 260+ antennas at 26 sites; AWS rents antenna time per minute to many satellite operators</a:t>
            </a:r>
            <a:endParaRPr lang="en-US" sz="1400" dirty="0"/>
          </a:p>
        </p:txBody>
      </p:sp>
      <p:sp>
        <p:nvSpPr>
          <p:cNvPr id="11" name="Plan card 1"/>
          <p:cNvSpPr/>
          <p:nvPr/>
        </p:nvSpPr>
        <p:spPr>
          <a:xfrm>
            <a:off x="54864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2" name="Text 9"/>
          <p:cNvSpPr txBox="1"/>
          <p:nvPr/>
        </p:nvSpPr>
        <p:spPr>
          <a:xfrm>
            <a:off x="68580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Years 0-1: Anchor</a:t>
            </a:r>
            <a:endParaRPr lang="en-US" sz="1400" dirty="0"/>
          </a:p>
          <a:p>
            <a:pPr indent="0" marL="0">
              <a:buNone/>
            </a:pPr>
            <a:r>
              <a:rPr lang="en-US" sz="1200" dirty="0">
                <a:solidFill>
                  <a:schemeClr val="tx1"/>
                </a:solidFill>
              </a:rPr>
              <a:t>Map 50 candidate sites in US, Brazil, Africa; sign one anchor LEO or D2D operator; build 2-3 pilot compounds</a:t>
            </a:r>
            <a:endParaRPr lang="en-US" sz="1400" dirty="0"/>
          </a:p>
        </p:txBody>
      </p:sp>
      <p:sp>
        <p:nvSpPr>
          <p:cNvPr id="13" name="Plan card 2"/>
          <p:cNvSpPr/>
          <p:nvPr/>
        </p:nvSpPr>
        <p:spPr>
          <a:xfrm>
            <a:off x="333756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1"/>
          <p:cNvSpPr txBox="1"/>
          <p:nvPr/>
        </p:nvSpPr>
        <p:spPr>
          <a:xfrm>
            <a:off x="347472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Years 2-3: Multi-tenant</a:t>
            </a:r>
            <a:endParaRPr lang="en-US" sz="1400" dirty="0"/>
          </a:p>
          <a:p>
            <a:pPr indent="0" marL="0">
              <a:buNone/>
            </a:pPr>
            <a:r>
              <a:rPr lang="en-US" sz="1200" dirty="0">
                <a:solidFill>
                  <a:schemeClr val="tx1"/>
                </a:solidFill>
              </a:rPr>
              <a:t>Second operator on same sites; standard master lease; 20+ compounds; first captive gateway sale-leaseback</a:t>
            </a:r>
            <a:endParaRPr lang="en-US" sz="1400" dirty="0"/>
          </a:p>
        </p:txBody>
      </p:sp>
      <p:sp>
        <p:nvSpPr>
          <p:cNvPr id="15" name="Plan card 3"/>
          <p:cNvSpPr/>
          <p:nvPr/>
        </p:nvSpPr>
        <p:spPr>
          <a:xfrm>
            <a:off x="6126480" y="4572000"/>
            <a:ext cx="2651760" cy="1463040"/>
          </a:xfrm>
          <a:prstGeom prst="roundRect">
            <a:avLst>
              <a:gd name="adj" fmla="val 7500"/>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6" name="Text 13"/>
          <p:cNvSpPr txBox="1"/>
          <p:nvPr/>
        </p:nvSpPr>
        <p:spPr>
          <a:xfrm>
            <a:off x="6263640" y="4626864"/>
            <a:ext cx="2377440" cy="1371600"/>
          </a:xfrm>
          <a:prstGeom prst="rect">
            <a:avLst/>
          </a:prstGeom>
          <a:noFill/>
          <a:ln/>
        </p:spPr>
        <p:txBody>
          <a:bodyPr wrap="square" lIns="0" tIns="0" rIns="0" bIns="0" rtlCol="0" anchor="t"/>
          <a:lstStyle/>
          <a:p>
            <a:pPr indent="0" marL="0">
              <a:buNone/>
            </a:pPr>
            <a:r>
              <a:rPr lang="en-US" sz="1400" b="1" dirty="0">
                <a:solidFill>
                  <a:schemeClr val="tx2"/>
                </a:solidFill>
              </a:rPr>
              <a:t>Years 4-5: Platform</a:t>
            </a:r>
            <a:endParaRPr lang="en-US" sz="1400" dirty="0"/>
          </a:p>
          <a:p>
            <a:pPr indent="0" marL="0">
              <a:buNone/>
            </a:pPr>
            <a:r>
              <a:rPr lang="en-US" sz="1200" dirty="0">
                <a:solidFill>
                  <a:schemeClr val="tx1"/>
                </a:solidFill>
              </a:rPr>
              <a:t>60+ compounds across regions; GSaaS partnerships; bundle with edge data centers and fiber for backhaul</a:t>
            </a:r>
            <a:endParaRPr lang="en-US" sz="1400" dirty="0"/>
          </a:p>
        </p:txBody>
      </p:sp>
      <p:sp>
        <p:nvSpPr>
          <p:cNvPr id="17" name="Plan card 4"/>
          <p:cNvSpPr/>
          <p:nvPr/>
        </p:nvSpPr>
        <p:spPr>
          <a:xfrm>
            <a:off x="8915400" y="4572000"/>
            <a:ext cx="26517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8" name="Text 15"/>
          <p:cNvSpPr txBox="1"/>
          <p:nvPr/>
        </p:nvSpPr>
        <p:spPr>
          <a:xfrm>
            <a:off x="9052560" y="4626864"/>
            <a:ext cx="2377440" cy="1371600"/>
          </a:xfrm>
          <a:prstGeom prst="rect">
            <a:avLst/>
          </a:prstGeom>
          <a:noFill/>
          <a:ln/>
        </p:spPr>
        <p:txBody>
          <a:bodyPr wrap="square" lIns="0" tIns="0" rIns="0" bIns="0" rtlCol="0" anchor="t"/>
          <a:lstStyle/>
          <a:p>
            <a:pPr indent="0" marL="0">
              <a:buNone/>
            </a:pPr>
            <a:r>
              <a:rPr lang="en-US" sz="1400" b="1" dirty="0">
                <a:solidFill>
                  <a:schemeClr val="accent1"/>
                </a:solidFill>
              </a:rPr>
              <a:t>KPIs to track</a:t>
            </a:r>
            <a:endParaRPr lang="en-US" sz="1400" dirty="0"/>
          </a:p>
          <a:p>
            <a:pPr indent="0" marL="0">
              <a:buNone/>
            </a:pPr>
            <a:r>
              <a:rPr lang="en-US" sz="1200" dirty="0">
                <a:solidFill>
                  <a:schemeClr val="bg1"/>
                </a:solidFill>
              </a:rPr>
              <a:t>Antenna positions leased and tenants per compound</a:t>
            </a:r>
            <a:endParaRPr lang="en-US" sz="1400" dirty="0"/>
          </a:p>
          <a:p>
            <a:pPr indent="0" marL="0">
              <a:buNone/>
            </a:pPr>
            <a:r>
              <a:rPr lang="en-US" sz="1200" dirty="0">
                <a:solidFill>
                  <a:schemeClr val="bg1"/>
                </a:solidFill>
              </a:rPr>
              <a:t>Revenue per compound and annual escalator</a:t>
            </a:r>
            <a:endParaRPr lang="en-US" sz="1400" dirty="0"/>
          </a:p>
          <a:p>
            <a:pPr indent="0" marL="0">
              <a:buNone/>
            </a:pPr>
            <a:r>
              <a:rPr lang="en-US" sz="1200" dirty="0">
                <a:solidFill>
                  <a:schemeClr val="bg1"/>
                </a:solidFill>
              </a:rPr>
              <a:t>Weighted average remaining contract term (years)</a:t>
            </a:r>
            <a:endParaRPr lang="en-US" sz="14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Idea 7  |  Satellite gateways   ·   Precedent sources: AST SpaceMobile SEC filing; Telstra / Business Wire; KSAT; Amazon press. Economics are illustrative.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Recommended path</a:t>
            </a:r>
            <a:endParaRPr lang="en-US" sz="2800" dirty="0"/>
          </a:p>
        </p:txBody>
      </p:sp>
      <p:sp>
        <p:nvSpPr>
          <p:cNvPr id="3" name="Phase card 1"/>
          <p:cNvSpPr/>
          <p:nvPr/>
        </p:nvSpPr>
        <p:spPr>
          <a:xfrm>
            <a:off x="548640" y="1417320"/>
            <a:ext cx="3520440" cy="3291840"/>
          </a:xfrm>
          <a:prstGeom prst="roundRect">
            <a:avLst>
              <a:gd name="adj" fmla="val 3333"/>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822960" y="1645920"/>
            <a:ext cx="3017520" cy="365760"/>
          </a:xfrm>
          <a:prstGeom prst="rect">
            <a:avLst/>
          </a:prstGeom>
          <a:noFill/>
          <a:ln/>
        </p:spPr>
        <p:txBody>
          <a:bodyPr wrap="square" lIns="0" tIns="0" rIns="0" bIns="0" rtlCol="0" anchor="t"/>
          <a:lstStyle/>
          <a:p>
            <a:pPr indent="0" marL="0">
              <a:buNone/>
            </a:pPr>
            <a:r>
              <a:rPr lang="en-US" sz="1400" b="1" dirty="0">
                <a:solidFill>
                  <a:schemeClr val="accent5"/>
                </a:solidFill>
              </a:rPr>
              <a:t>0 to 12 months</a:t>
            </a:r>
            <a:endParaRPr lang="en-US" sz="1400" dirty="0"/>
          </a:p>
        </p:txBody>
      </p:sp>
      <p:sp>
        <p:nvSpPr>
          <p:cNvPr id="5" name="Text 3"/>
          <p:cNvSpPr txBox="1"/>
          <p:nvPr/>
        </p:nvSpPr>
        <p:spPr>
          <a:xfrm>
            <a:off x="822960" y="2011680"/>
            <a:ext cx="3017520" cy="64008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Prove</a:t>
            </a:r>
            <a:endParaRPr lang="en-US" sz="2800" dirty="0"/>
          </a:p>
        </p:txBody>
      </p:sp>
      <p:sp>
        <p:nvSpPr>
          <p:cNvPr id="6" name="Text 4"/>
          <p:cNvSpPr txBox="1"/>
          <p:nvPr/>
        </p:nvSpPr>
        <p:spPr>
          <a:xfrm>
            <a:off x="82296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Site platform: 3 pilot master agreements</a:t>
            </a:r>
            <a:endParaRPr lang="en-US" sz="1500" dirty="0"/>
          </a:p>
          <a:p>
            <a:pPr marL="342900" indent="-342900">
              <a:spcAft>
                <a:spcPts val="1000"/>
              </a:spcAft>
              <a:buSzPct val="100000"/>
              <a:buChar char="•"/>
            </a:pPr>
            <a:r>
              <a:rPr lang="en-US" sz="1500" dirty="0">
                <a:solidFill>
                  <a:schemeClr val="bg1"/>
                </a:solidFill>
              </a:rPr>
              <a:t>Energy-as-a-Service: 500-site pilot</a:t>
            </a:r>
            <a:endParaRPr lang="en-US" sz="1500" dirty="0"/>
          </a:p>
          <a:p>
            <a:pPr marL="342900" indent="-342900">
              <a:spcAft>
                <a:spcPts val="1000"/>
              </a:spcAft>
              <a:buSzPct val="100000"/>
              <a:buChar char="•"/>
            </a:pPr>
            <a:r>
              <a:rPr lang="en-US" sz="1500" dirty="0">
                <a:solidFill>
                  <a:schemeClr val="bg1"/>
                </a:solidFill>
              </a:rPr>
              <a:t>Build the captive-asset map</a:t>
            </a:r>
            <a:endParaRPr lang="en-US" sz="1500" dirty="0"/>
          </a:p>
        </p:txBody>
      </p:sp>
      <p:sp>
        <p:nvSpPr>
          <p:cNvPr id="7" name="Phase arrow 1"/>
          <p:cNvSpPr/>
          <p:nvPr/>
        </p:nvSpPr>
        <p:spPr>
          <a:xfrm>
            <a:off x="4096512" y="2852928"/>
            <a:ext cx="182880" cy="411480"/>
          </a:xfrm>
          <a:prstGeom prst="chevron">
            <a:avLst/>
          </a:prstGeom>
          <a:solidFill>
            <a:srgbClr val="F4A300"/>
          </a:solidFill>
          <a:ln w="12700">
            <a:solidFill>
              <a:srgbClr val="F4A300"/>
            </a:solidFill>
            <a:prstDash val="solid"/>
          </a:ln>
        </p:spPr>
      </p:sp>
      <p:sp>
        <p:nvSpPr>
          <p:cNvPr id="8" name="Phase card 2"/>
          <p:cNvSpPr/>
          <p:nvPr/>
        </p:nvSpPr>
        <p:spPr>
          <a:xfrm>
            <a:off x="4297680" y="1417320"/>
            <a:ext cx="3520440" cy="3291840"/>
          </a:xfrm>
          <a:prstGeom prst="roundRect">
            <a:avLst>
              <a:gd name="adj" fmla="val 333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Text 7"/>
          <p:cNvSpPr txBox="1"/>
          <p:nvPr/>
        </p:nvSpPr>
        <p:spPr>
          <a:xfrm>
            <a:off x="4572000" y="164592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12 to 36 months</a:t>
            </a:r>
            <a:endParaRPr lang="en-US" sz="1400" dirty="0"/>
          </a:p>
        </p:txBody>
      </p:sp>
      <p:sp>
        <p:nvSpPr>
          <p:cNvPr id="10" name="Text 8"/>
          <p:cNvSpPr txBox="1"/>
          <p:nvPr/>
        </p:nvSpPr>
        <p:spPr>
          <a:xfrm>
            <a:off x="4572000" y="2011680"/>
            <a:ext cx="301752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Scale</a:t>
            </a:r>
            <a:endParaRPr lang="en-US" sz="2800" dirty="0"/>
          </a:p>
        </p:txBody>
      </p:sp>
      <p:sp>
        <p:nvSpPr>
          <p:cNvPr id="11" name="Text 9"/>
          <p:cNvSpPr txBox="1"/>
          <p:nvPr/>
        </p:nvSpPr>
        <p:spPr>
          <a:xfrm>
            <a:off x="457200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Roll out the winning pilots across markets</a:t>
            </a:r>
            <a:endParaRPr lang="en-US" sz="1500" dirty="0"/>
          </a:p>
          <a:p>
            <a:pPr marL="342900" indent="-342900">
              <a:spcAft>
                <a:spcPts val="1000"/>
              </a:spcAft>
              <a:buSzPct val="100000"/>
              <a:buChar char="•"/>
            </a:pPr>
            <a:r>
              <a:rPr lang="en-US" sz="1500" dirty="0">
                <a:solidFill>
                  <a:schemeClr val="tx1"/>
                </a:solidFill>
              </a:rPr>
              <a:t>First HubCo portfolio, starting with Millicom</a:t>
            </a:r>
            <a:endParaRPr lang="en-US" sz="1500" dirty="0"/>
          </a:p>
          <a:p>
            <a:pPr marL="342900" indent="-342900">
              <a:spcAft>
                <a:spcPts val="1000"/>
              </a:spcAft>
              <a:buSzPct val="100000"/>
              <a:buChar char="•"/>
            </a:pPr>
            <a:r>
              <a:rPr lang="en-US" sz="1500" dirty="0">
                <a:solidFill>
                  <a:schemeClr val="tx1"/>
                </a:solidFill>
              </a:rPr>
              <a:t>Partner and capital for powered land</a:t>
            </a:r>
            <a:endParaRPr lang="en-US" sz="1500" dirty="0"/>
          </a:p>
        </p:txBody>
      </p:sp>
      <p:sp>
        <p:nvSpPr>
          <p:cNvPr id="12" name="Phase arrow 2"/>
          <p:cNvSpPr/>
          <p:nvPr/>
        </p:nvSpPr>
        <p:spPr>
          <a:xfrm>
            <a:off x="7845552" y="2852928"/>
            <a:ext cx="182880" cy="411480"/>
          </a:xfrm>
          <a:prstGeom prst="chevron">
            <a:avLst/>
          </a:prstGeom>
          <a:solidFill>
            <a:srgbClr val="F4A300"/>
          </a:solidFill>
          <a:ln w="12700">
            <a:solidFill>
              <a:srgbClr val="F4A300"/>
            </a:solidFill>
            <a:prstDash val="solid"/>
          </a:ln>
        </p:spPr>
      </p:sp>
      <p:sp>
        <p:nvSpPr>
          <p:cNvPr id="13" name="Phase card 3"/>
          <p:cNvSpPr/>
          <p:nvPr/>
        </p:nvSpPr>
        <p:spPr>
          <a:xfrm>
            <a:off x="8046720" y="1417320"/>
            <a:ext cx="3520440" cy="3291840"/>
          </a:xfrm>
          <a:prstGeom prst="roundRect">
            <a:avLst>
              <a:gd name="adj" fmla="val 333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2"/>
          <p:cNvSpPr txBox="1"/>
          <p:nvPr/>
        </p:nvSpPr>
        <p:spPr>
          <a:xfrm>
            <a:off x="8321040" y="164592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36+ months</a:t>
            </a:r>
            <a:endParaRPr lang="en-US" sz="1400" dirty="0"/>
          </a:p>
        </p:txBody>
      </p:sp>
      <p:sp>
        <p:nvSpPr>
          <p:cNvPr id="15" name="Text 13"/>
          <p:cNvSpPr txBox="1"/>
          <p:nvPr/>
        </p:nvSpPr>
        <p:spPr>
          <a:xfrm>
            <a:off x="8321040" y="2011680"/>
            <a:ext cx="301752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Transform</a:t>
            </a:r>
            <a:endParaRPr lang="en-US" sz="2800" dirty="0"/>
          </a:p>
        </p:txBody>
      </p:sp>
      <p:sp>
        <p:nvSpPr>
          <p:cNvPr id="16" name="Text 14"/>
          <p:cNvSpPr txBox="1"/>
          <p:nvPr/>
        </p:nvSpPr>
        <p:spPr>
          <a:xfrm>
            <a:off x="832104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Platform acquisition if the pilots confirm demand</a:t>
            </a:r>
            <a:endParaRPr lang="en-US" sz="1500" dirty="0"/>
          </a:p>
          <a:p>
            <a:pPr marL="342900" indent="-342900">
              <a:spcAft>
                <a:spcPts val="1000"/>
              </a:spcAft>
              <a:buSzPct val="100000"/>
              <a:buChar char="•"/>
            </a:pPr>
            <a:r>
              <a:rPr lang="en-US" sz="1500" dirty="0">
                <a:solidFill>
                  <a:schemeClr val="tx1"/>
                </a:solidFill>
              </a:rPr>
              <a:t>Edge and AI-RAN hubs with the 6G cycle</a:t>
            </a:r>
            <a:endParaRPr lang="en-US" sz="1500" dirty="0"/>
          </a:p>
          <a:p>
            <a:pPr marL="342900" indent="-342900">
              <a:spcAft>
                <a:spcPts val="1000"/>
              </a:spcAft>
              <a:buSzPct val="100000"/>
              <a:buChar char="•"/>
            </a:pPr>
            <a:r>
              <a:rPr lang="en-US" sz="1500" dirty="0">
                <a:solidFill>
                  <a:schemeClr val="tx1"/>
                </a:solidFill>
              </a:rPr>
              <a:t>Satellite gateways as constellations scale</a:t>
            </a:r>
            <a:endParaRPr lang="en-US" sz="1500" dirty="0"/>
          </a:p>
        </p:txBody>
      </p:sp>
      <p:sp>
        <p:nvSpPr>
          <p:cNvPr id="17" name="Gate banner"/>
          <p:cNvSpPr/>
          <p:nvPr/>
        </p:nvSpPr>
        <p:spPr>
          <a:xfrm>
            <a:off x="548640" y="4983480"/>
            <a:ext cx="11109960" cy="914400"/>
          </a:xfrm>
          <a:prstGeom prst="roundRect">
            <a:avLst>
              <a:gd name="adj" fmla="val 12000"/>
            </a:avLst>
          </a:prstGeom>
          <a:solidFill>
            <a:srgbClr val="F4A300"/>
          </a:solidFill>
          <a:ln w="12700">
            <a:solidFill>
              <a:srgbClr val="F4A300"/>
            </a:solidFill>
            <a:prstDash val="solid"/>
          </a:ln>
          <a:effectLst>
            <a:outerShdw sx="100000" sy="100000" kx="0" ky="0" algn="bl" rotWithShape="0" blurRad="76200" dist="25400" dir="5400000">
              <a:srgbClr val="9AA5B1">
                <a:alpha val="25000"/>
              </a:srgbClr>
            </a:outerShdw>
          </a:effectLst>
        </p:spPr>
      </p:sp>
      <p:sp>
        <p:nvSpPr>
          <p:cNvPr id="18" name="Evidence gate circle"/>
          <p:cNvSpPr/>
          <p:nvPr/>
        </p:nvSpPr>
        <p:spPr>
          <a:xfrm>
            <a:off x="777240" y="5120640"/>
            <a:ext cx="640080" cy="640080"/>
          </a:xfrm>
          <a:prstGeom prst="ellipse">
            <a:avLst/>
          </a:prstGeom>
          <a:solidFill>
            <a:srgbClr val="14213D"/>
          </a:solidFill>
          <a:ln w="12700">
            <a:solidFill>
              <a:srgbClr val="14213D"/>
            </a:solidFill>
            <a:prstDash val="solid"/>
          </a:ln>
        </p:spPr>
      </p:sp>
      <p:pic>
        <p:nvPicPr>
          <p:cNvPr id="19" name="Evidence gate icon" descr="Evidence gate">    </p:cNvPr>
          <p:cNvPicPr>
            <a:picLocks noChangeAspect="1"/>
          </p:cNvPicPr>
          <p:nvPr/>
        </p:nvPicPr>
        <p:blipFill>
          <a:blip r:embed="rId1"/>
          <a:stretch>
            <a:fillRect/>
          </a:stretch>
        </p:blipFill>
        <p:spPr>
          <a:xfrm>
            <a:off x="937260" y="5280660"/>
            <a:ext cx="320040" cy="320040"/>
          </a:xfrm>
          <a:prstGeom prst="rect">
            <a:avLst/>
          </a:prstGeom>
        </p:spPr>
      </p:pic>
      <p:sp>
        <p:nvSpPr>
          <p:cNvPr id="20" name="Text 17"/>
          <p:cNvSpPr txBox="1"/>
          <p:nvPr/>
        </p:nvSpPr>
        <p:spPr>
          <a:xfrm>
            <a:off x="1645920" y="5074920"/>
            <a:ext cx="9784080" cy="731520"/>
          </a:xfrm>
          <a:prstGeom prst="rect">
            <a:avLst/>
          </a:prstGeom>
          <a:noFill/>
          <a:ln/>
        </p:spPr>
        <p:txBody>
          <a:bodyPr wrap="square" lIns="0" tIns="0" rIns="0" bIns="0" rtlCol="0" anchor="ctr"/>
          <a:lstStyle/>
          <a:p>
            <a:pPr indent="0" marL="0">
              <a:buNone/>
            </a:pPr>
            <a:r>
              <a:rPr lang="en-US" sz="1600" b="1" dirty="0">
                <a:solidFill>
                  <a:schemeClr val="tx2"/>
                </a:solidFill>
              </a:rPr>
              <a:t>Each step is gated by real-world evidence: signed pilots, measured margins and a repeatable deployment cost. Large capital only follows proof.</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Apply the tower playbook to a new asset</a:t>
            </a: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nchor="t"/>
          <a:lstStyle/>
          <a:p>
            <a:pPr algn="l" indent="0" marL="0">
              <a:buNone/>
            </a:pPr>
            <a:r>
              <a:rPr lang="en-US" sz="2000" dirty="0">
                <a:solidFill>
                  <a:schemeClr val="accent1"/>
                </a:solidFill>
              </a:rPr>
              <a:t>Shared asset  |  Long contracts  |  Acquired scale</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Sources</a:t>
            </a:r>
            <a:endParaRPr lang="en-US" sz="2800" dirty="0"/>
          </a:p>
        </p:txBody>
      </p:sp>
      <p:sp>
        <p:nvSpPr>
          <p:cNvPr id="3" name="Text 1"/>
          <p:cNvSpPr txBox="1"/>
          <p:nvPr/>
        </p:nvSpPr>
        <p:spPr>
          <a:xfrm>
            <a:off x="548640" y="1371600"/>
            <a:ext cx="1106424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American Tower, Q4 and full-year 2025 results; SEC filings on Verizon (2015) and Telxius (2021) transactions</a:t>
            </a:r>
            <a:endParaRPr lang="en-US" sz="1400" dirty="0"/>
          </a:p>
          <a:p>
            <a:pPr marL="342900" indent="-342900">
              <a:spcAft>
                <a:spcPts val="600"/>
              </a:spcAft>
              <a:buSzPct val="100000"/>
              <a:buChar char="•"/>
            </a:pPr>
            <a:r>
              <a:rPr lang="en-US" sz="1400" dirty="0">
                <a:solidFill>
                  <a:schemeClr val="tx1"/>
                </a:solidFill>
              </a:rPr>
              <a:t>SBA Communications, Q4 2025 results and 2026 outlook; 2025 10-Q; Millicom transaction (2025)</a:t>
            </a:r>
            <a:endParaRPr lang="en-US" sz="1400" dirty="0"/>
          </a:p>
          <a:p>
            <a:pPr marL="342900" indent="-342900">
              <a:spcAft>
                <a:spcPts val="600"/>
              </a:spcAft>
              <a:buSzPct val="100000"/>
              <a:buChar char="•"/>
            </a:pPr>
            <a:r>
              <a:rPr lang="en-US" sz="1400" dirty="0">
                <a:solidFill>
                  <a:schemeClr val="tx1"/>
                </a:solidFill>
              </a:rPr>
              <a:t>Crown Castle: sale of fiber and small cells to Zayo and EQT (DCD, Wireless Estimator, 2025 to 2026)</a:t>
            </a:r>
            <a:endParaRPr lang="en-US" sz="1400" dirty="0"/>
          </a:p>
          <a:p>
            <a:pPr marL="342900" indent="-342900">
              <a:spcAft>
                <a:spcPts val="600"/>
              </a:spcAft>
              <a:buSzPct val="100000"/>
              <a:buChar char="•"/>
            </a:pPr>
            <a:r>
              <a:rPr lang="en-US" sz="1400" dirty="0">
                <a:solidFill>
                  <a:schemeClr val="tx1"/>
                </a:solidFill>
              </a:rPr>
              <a:t>Inside Towers and Wireless Estimator: 2026 tower organic growth and DISH/EchoStar terminations</a:t>
            </a:r>
            <a:endParaRPr lang="en-US" sz="1400" dirty="0"/>
          </a:p>
          <a:p>
            <a:pPr marL="342900" indent="-342900">
              <a:spcAft>
                <a:spcPts val="600"/>
              </a:spcAft>
              <a:buSzPct val="100000"/>
              <a:buChar char="•"/>
            </a:pPr>
            <a:r>
              <a:rPr lang="en-US" sz="1400" dirty="0">
                <a:solidFill>
                  <a:schemeClr val="tx1"/>
                </a:solidFill>
              </a:rPr>
              <a:t>Simply Safe Dividends: tower REIT share performance since 2022; Barclays downgrade (Yahoo Finance)</a:t>
            </a:r>
            <a:endParaRPr lang="en-US" sz="1400" dirty="0"/>
          </a:p>
          <a:p>
            <a:pPr marL="342900" indent="-342900">
              <a:spcAft>
                <a:spcPts val="600"/>
              </a:spcAft>
              <a:buSzPct val="100000"/>
              <a:buChar char="•"/>
            </a:pPr>
            <a:r>
              <a:rPr lang="en-US" sz="1400" dirty="0">
                <a:solidFill>
                  <a:schemeClr val="tx1"/>
                </a:solidFill>
              </a:rPr>
              <a:t>Dell'Oro (telecom capex 2023, RAN market 2026); TelecomLead (2026 capex outlook)</a:t>
            </a:r>
            <a:endParaRPr lang="en-US" sz="1400" dirty="0"/>
          </a:p>
          <a:p>
            <a:pPr marL="342900" indent="-342900">
              <a:spcAft>
                <a:spcPts val="600"/>
              </a:spcAft>
              <a:buSzPct val="100000"/>
              <a:buChar char="•"/>
            </a:pPr>
            <a:r>
              <a:rPr lang="en-US" sz="1400" dirty="0">
                <a:solidFill>
                  <a:schemeClr val="tx1"/>
                </a:solidFill>
              </a:rPr>
              <a:t>GSMA: 5G-era mobile network cost evolution; MarketsandMarkets: in-building wireless market</a:t>
            </a:r>
            <a:endParaRPr lang="en-US" sz="1400" dirty="0"/>
          </a:p>
          <a:p>
            <a:pPr marL="342900" indent="-342900">
              <a:spcAft>
                <a:spcPts val="600"/>
              </a:spcAft>
              <a:buSzPct val="100000"/>
              <a:buChar char="•"/>
            </a:pPr>
            <a:r>
              <a:rPr lang="en-US" sz="1400" dirty="0">
                <a:solidFill>
                  <a:schemeClr val="tx1"/>
                </a:solidFill>
              </a:rPr>
              <a:t>Nvidia GTC 2026 and Nokia AI-RAN announcements; Omdia AI-RAN forecast</a:t>
            </a:r>
            <a:endParaRPr lang="en-US" sz="1400" dirty="0"/>
          </a:p>
          <a:p>
            <a:pPr marL="342900" indent="-342900">
              <a:spcAft>
                <a:spcPts val="600"/>
              </a:spcAft>
              <a:buSzPct val="100000"/>
              <a:buChar char="•"/>
            </a:pPr>
            <a:r>
              <a:rPr lang="en-US" sz="1400" dirty="0">
                <a:solidFill>
                  <a:schemeClr val="tx1"/>
                </a:solidFill>
              </a:rPr>
              <a:t>Norton Rose Fulbright, Capacity and TowerXchange: tower sharing models and sale-leaseback structures</a:t>
            </a:r>
            <a:endParaRPr lang="en-US" sz="1400" dirty="0"/>
          </a:p>
          <a:p>
            <a:pPr marL="342900" indent="-342900">
              <a:spcAft>
                <a:spcPts val="600"/>
              </a:spcAft>
              <a:buSzPct val="100000"/>
              <a:buChar char="•"/>
            </a:pPr>
            <a:r>
              <a:rPr lang="en-US" sz="1400" dirty="0">
                <a:solidFill>
                  <a:schemeClr val="tx1"/>
                </a:solidFill>
              </a:rPr>
              <a:t>Christensen; O'Reilly and Tushman; Zook (Bain); McKinsey business-building research</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Appendix: idea sources (1)</a:t>
            </a:r>
            <a:endParaRPr lang="en-US" sz="2800" dirty="0"/>
          </a:p>
        </p:txBody>
      </p:sp>
      <p:sp>
        <p:nvSpPr>
          <p:cNvPr id="3" name="Text 1"/>
          <p:cNvSpPr txBox="1"/>
          <p:nvPr/>
        </p:nvSpPr>
        <p:spPr>
          <a:xfrm>
            <a:off x="548640" y="1280160"/>
            <a:ext cx="11064240" cy="5029200"/>
          </a:xfrm>
          <a:prstGeom prst="rect">
            <a:avLst/>
          </a:prstGeom>
          <a:noFill/>
          <a:ln/>
        </p:spPr>
        <p:txBody>
          <a:bodyPr wrap="square" lIns="0" tIns="0" rIns="0" bIns="0" rtlCol="0" anchor="t"/>
          <a:lstStyle/>
          <a:p>
            <a:pPr indent="0" marL="0">
              <a:spcAft>
                <a:spcPts val="200"/>
              </a:spcAft>
              <a:buNone/>
            </a:pPr>
            <a:r>
              <a:rPr lang="en-US" sz="1200" b="1" dirty="0">
                <a:solidFill>
                  <a:schemeClr val="tx2"/>
                </a:solidFill>
              </a:rPr>
              <a:t>Idea 1: Site platform</a:t>
            </a:r>
            <a:endParaRPr lang="en-US" sz="1000" dirty="0"/>
          </a:p>
          <a:p>
            <a:pPr indent="0" marL="0">
              <a:spcAft>
                <a:spcPts val="200"/>
              </a:spcAft>
              <a:buNone/>
            </a:pPr>
            <a:r>
              <a:rPr lang="en-US" sz="1000" dirty="0">
                <a:solidFill>
                  <a:schemeClr val="tx1"/>
                </a:solidFill>
              </a:rPr>
              <a:t>BloombergNEF confirms energy storage has reached the 100 GW era (pv magazine, May 2026) - https://www.pv-magazine.com/?p=69000</a:t>
            </a:r>
            <a:endParaRPr lang="en-US" sz="1000" dirty="0"/>
          </a:p>
          <a:p>
            <a:pPr indent="0" marL="0">
              <a:spcAft>
                <a:spcPts val="200"/>
              </a:spcAft>
              <a:buNone/>
            </a:pPr>
            <a:r>
              <a:rPr lang="en-US" sz="1000" dirty="0">
                <a:solidFill>
                  <a:schemeClr val="tx1"/>
                </a:solidFill>
              </a:rPr>
              <a:t>Berg estimates private LTE/5G market (Mobile Europe) - https://www.mobileeurope.co.uk/berg-estimates-private-lte-5g-market-will-reach-8-9bn-in-2029/</a:t>
            </a:r>
            <a:endParaRPr lang="en-US" sz="1000" dirty="0"/>
          </a:p>
          <a:p>
            <a:pPr indent="0" marL="0">
              <a:spcAft>
                <a:spcPts val="200"/>
              </a:spcAft>
              <a:buNone/>
            </a:pPr>
            <a:r>
              <a:rPr lang="en-US" sz="1000" dirty="0">
                <a:solidFill>
                  <a:schemeClr val="tx1"/>
                </a:solidFill>
              </a:rPr>
              <a:t>Landholders scoop $30,000 per hectare per year to host 5 MW batteries (pv magazine Australia) - https://www.pv-magazine-australia.com/?p=14107</a:t>
            </a:r>
            <a:endParaRPr lang="en-US" sz="1000" dirty="0"/>
          </a:p>
          <a:p>
            <a:pPr indent="0" marL="0">
              <a:spcAft>
                <a:spcPts val="200"/>
              </a:spcAft>
              <a:buNone/>
            </a:pPr>
            <a:r>
              <a:rPr lang="en-US" sz="1000" dirty="0">
                <a:solidFill>
                  <a:schemeClr val="tx1"/>
                </a:solidFill>
              </a:rPr>
              <a:t>Anterix launches utility tower access product with Crown Castle (Anterix) - https://investors.anterix.com/news-releases/news-release-details/anterix-launches-groundbreaking-utility-tower-access-product</a:t>
            </a:r>
            <a:endParaRPr lang="en-US" sz="1000" dirty="0"/>
          </a:p>
          <a:p>
            <a:pPr indent="0" marL="0">
              <a:spcAft>
                <a:spcPts val="200"/>
              </a:spcAft>
              <a:buNone/>
            </a:pPr>
            <a:r>
              <a:rPr lang="en-US" sz="1000" dirty="0">
                <a:solidFill>
                  <a:schemeClr val="tx1"/>
                </a:solidFill>
              </a:rPr>
              <a:t>Anterix TowerX press release (Utility Dive) - https://www.utilitydive.com/press-release/20251114-anterix-launches-groundbreaking-utility-tower-access-product-with-crown-cas-1/</a:t>
            </a:r>
            <a:endParaRPr lang="en-US" sz="1000" dirty="0"/>
          </a:p>
          <a:p>
            <a:pPr indent="0" marL="0">
              <a:spcAft>
                <a:spcPts val="200"/>
              </a:spcAft>
              <a:buNone/>
            </a:pPr>
            <a:r>
              <a:rPr lang="en-US" sz="1000" dirty="0">
                <a:solidFill>
                  <a:schemeClr val="tx1"/>
                </a:solidFill>
              </a:rPr>
              <a:t>Arqiva wins Musk's Starlink services (Advanced Television) - https://advanced-television.com/?p=173583</a:t>
            </a:r>
            <a:endParaRPr lang="en-US" sz="1000" dirty="0"/>
          </a:p>
          <a:p>
            <a:pPr indent="0" marL="0">
              <a:spcAft>
                <a:spcPts val="200"/>
              </a:spcAft>
              <a:buNone/>
            </a:pPr>
            <a:r>
              <a:rPr lang="en-US" sz="1000" dirty="0">
                <a:solidFill>
                  <a:schemeClr val="tx1"/>
                </a:solidFill>
              </a:rPr>
              <a:t>Netmore and Cellnex UK partner to deploy LoRaWAN network (Business Wire, Oct 2024) - https://www.businesswire.com/news/home/20241022934926/en/Netmore-and-Cellnex-UK-Partner-to-Deploy-and-Densify-UK-LoRaWAN-Network-Using-Streetworks-Monopole-Infrastructure</a:t>
            </a:r>
            <a:endParaRPr lang="en-US" sz="1000" dirty="0"/>
          </a:p>
          <a:p>
            <a:pPr indent="0" marL="0">
              <a:spcAft>
                <a:spcPts val="200"/>
              </a:spcAft>
              <a:buNone/>
            </a:pPr>
            <a:r>
              <a:rPr lang="en-US" sz="1000" dirty="0">
                <a:solidFill>
                  <a:schemeClr val="tx1"/>
                </a:solidFill>
              </a:rPr>
              <a:t>Netmore puts LoRaWAN on Cellnex poles for UK smart meter rollout (RCR Wireless) - https://www.rcrwireless.com/20241030/uncategorized/netmore-puts-lorawan-on-cellnex-poles-for-uk-smart-meter-rollout</a:t>
            </a:r>
            <a:endParaRPr lang="en-US" sz="1000" dirty="0"/>
          </a:p>
          <a:p>
            <a:pPr indent="0" marL="0">
              <a:spcAft>
                <a:spcPts val="200"/>
              </a:spcAft>
              <a:buNone/>
            </a:pPr>
            <a:r>
              <a:rPr lang="en-US" sz="1000" dirty="0">
                <a:solidFill>
                  <a:schemeClr val="tx1"/>
                </a:solidFill>
              </a:rPr>
              <a:t>Battery storage land lease: what landowners should know (escalators 2-3%) - https://legalclarity.org/battery-storage-land-lease-what-landowners-should-know/</a:t>
            </a:r>
            <a:endParaRPr lang="en-US" sz="1000" dirty="0"/>
          </a:p>
          <a:p>
            <a:pPr indent="0" marL="0">
              <a:spcAft>
                <a:spcPts val="200"/>
              </a:spcAft>
              <a:buNone/>
            </a:pPr>
            <a:r>
              <a:rPr lang="en-US" sz="1000" dirty="0">
                <a:solidFill>
                  <a:schemeClr val="tx1"/>
                </a:solidFill>
              </a:rPr>
              <a:t>Utilities sector to invest $2B in private 5G/4G by 2026, SNS Telecom &amp; IT (Edge IR) - https://edgeir.com/utilities-sector-to-invest-2b-in-private-5g-4g-by-2026-sns-telecom-it-report-says-20231030</a:t>
            </a:r>
            <a:endParaRPr lang="en-US" sz="1000" dirty="0"/>
          </a:p>
          <a:p>
            <a:pPr indent="0" marL="0">
              <a:spcAft>
                <a:spcPts val="200"/>
              </a:spcAft>
              <a:buNone/>
            </a:pPr>
            <a:r>
              <a:rPr lang="en-US" sz="1000" dirty="0">
                <a:solidFill>
                  <a:schemeClr val="tx1"/>
                </a:solidFill>
              </a:rPr>
              <a:t>Business clinic: is a battery storage offer a good deal (Farmers Weekly) - https://www.fwi.co.uk/business/business-management/business-clinic/business-clinic-is-battery-storage-offer-a-good-deal</a:t>
            </a:r>
            <a:endParaRPr lang="en-US" sz="1000" dirty="0"/>
          </a:p>
          <a:p>
            <a:pPr indent="0" marL="0">
              <a:spcAft>
                <a:spcPts val="200"/>
              </a:spcAft>
              <a:buNone/>
            </a:pPr>
            <a:r>
              <a:rPr lang="en-US" sz="1200" b="1" dirty="0">
                <a:solidFill>
                  <a:schemeClr val="tx2"/>
                </a:solidFill>
              </a:rPr>
              <a:t>Idea 2: Energy-as-a-Service</a:t>
            </a:r>
            <a:endParaRPr lang="en-US" sz="1000" dirty="0"/>
          </a:p>
          <a:p>
            <a:pPr indent="0" marL="0">
              <a:spcAft>
                <a:spcPts val="200"/>
              </a:spcAft>
              <a:buNone/>
            </a:pPr>
            <a:r>
              <a:rPr lang="en-US" sz="1000" dirty="0">
                <a:solidFill>
                  <a:schemeClr val="tx1"/>
                </a:solidFill>
              </a:rPr>
              <a:t>GSMA - Energy Efficiency: An Overview - https://www.gsma.com/solutions-and-impact/technologies/networks/gsma_resources/energy-efficiency-an-overview/</a:t>
            </a:r>
            <a:endParaRPr lang="en-US" sz="1000" dirty="0"/>
          </a:p>
          <a:p>
            <a:pPr indent="0" marL="0">
              <a:spcAft>
                <a:spcPts val="200"/>
              </a:spcAft>
              <a:buNone/>
            </a:pPr>
            <a:r>
              <a:rPr lang="en-US" sz="1000" dirty="0">
                <a:solidFill>
                  <a:schemeClr val="tx1"/>
                </a:solidFill>
              </a:rPr>
              <a:t>GSMA - 5G-era Mobile Network Cost Evolution - https://www.gsma.com/solutions-and-impact/technologies/networks/gsma_resources/5g-era-mobile-network-cost-evolution/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Appendix: idea sources (2)</a:t>
            </a:r>
            <a:endParaRPr lang="en-US" sz="2800" dirty="0"/>
          </a:p>
        </p:txBody>
      </p:sp>
      <p:sp>
        <p:nvSpPr>
          <p:cNvPr id="3" name="Text 1"/>
          <p:cNvSpPr txBox="1"/>
          <p:nvPr/>
        </p:nvSpPr>
        <p:spPr>
          <a:xfrm>
            <a:off x="548640" y="1280160"/>
            <a:ext cx="11064240" cy="5029200"/>
          </a:xfrm>
          <a:prstGeom prst="rect">
            <a:avLst/>
          </a:prstGeom>
          <a:noFill/>
          <a:ln/>
        </p:spPr>
        <p:txBody>
          <a:bodyPr wrap="square" lIns="0" tIns="0" rIns="0" bIns="0" rtlCol="0" anchor="t"/>
          <a:lstStyle/>
          <a:p>
            <a:pPr indent="0" marL="0">
              <a:spcAft>
                <a:spcPts val="200"/>
              </a:spcAft>
              <a:buNone/>
            </a:pPr>
            <a:r>
              <a:rPr lang="en-US" sz="1000" dirty="0">
                <a:solidFill>
                  <a:schemeClr val="tx1"/>
                </a:solidFill>
              </a:rPr>
              <a:t>BloombergNEF - Lithium-ion battery pack prices 2025 - https://about.bnef.com/insights/clean-energy/lithium-ion-battery-pack-prices/</a:t>
            </a:r>
            <a:endParaRPr lang="en-US" sz="1000" dirty="0"/>
          </a:p>
          <a:p>
            <a:pPr indent="0" marL="0">
              <a:spcAft>
                <a:spcPts val="200"/>
              </a:spcAft>
              <a:buNone/>
            </a:pPr>
            <a:r>
              <a:rPr lang="en-US" sz="1000" dirty="0">
                <a:solidFill>
                  <a:schemeClr val="tx1"/>
                </a:solidFill>
              </a:rPr>
              <a:t>US DOE - Pathways to Commercial Liftoff: Virtual Power Plants - https://liftoff.energy.gov/wp-content/uploads/2023/10/LIFTOFF_DOE_VVP_10062023_v4.pdf</a:t>
            </a:r>
            <a:endParaRPr lang="en-US" sz="1000" dirty="0"/>
          </a:p>
          <a:p>
            <a:pPr indent="0" marL="0">
              <a:spcAft>
                <a:spcPts val="200"/>
              </a:spcAft>
              <a:buNone/>
            </a:pPr>
            <a:r>
              <a:rPr lang="en-US" sz="1000" dirty="0">
                <a:solidFill>
                  <a:schemeClr val="tx1"/>
                </a:solidFill>
              </a:rPr>
              <a:t>Energy Monitor / eeNews - Elisa base stations create virtual power plant in Finland - https://www.eenewseurope.com/en/ai-enabled-basestations-create-virtual-power-plant-in-finland/</a:t>
            </a:r>
            <a:endParaRPr lang="en-US" sz="1000" dirty="0"/>
          </a:p>
          <a:p>
            <a:pPr indent="0" marL="0">
              <a:spcAft>
                <a:spcPts val="200"/>
              </a:spcAft>
              <a:buNone/>
            </a:pPr>
            <a:r>
              <a:rPr lang="en-US" sz="1000" dirty="0">
                <a:solidFill>
                  <a:schemeClr val="tx1"/>
                </a:solidFill>
              </a:rPr>
              <a:t>Enlit - Finland invests in 150MWh VPP - https://www.enlit.world/library/finland-invests-in-150mwh-vpp</a:t>
            </a:r>
            <a:endParaRPr lang="en-US" sz="1000" dirty="0"/>
          </a:p>
          <a:p>
            <a:pPr indent="0" marL="0">
              <a:spcAft>
                <a:spcPts val="200"/>
              </a:spcAft>
              <a:buNone/>
            </a:pPr>
            <a:r>
              <a:rPr lang="en-US" sz="1000" dirty="0">
                <a:solidFill>
                  <a:schemeClr val="tx1"/>
                </a:solidFill>
              </a:rPr>
              <a:t>Elisa Industriq - DNA Tower becomes world's first tower company to offer battery capacity in reserve markets - https://www.elisaindustriq.com/resources/press-releases/dna-tower-becomes-worlds-first-tower-company-to-offer-battery-capacity-in-electricity-reserve-markets-with-elisa-des</a:t>
            </a:r>
            <a:endParaRPr lang="en-US" sz="1000" dirty="0"/>
          </a:p>
          <a:p>
            <a:pPr indent="0" marL="0">
              <a:spcAft>
                <a:spcPts val="200"/>
              </a:spcAft>
              <a:buNone/>
            </a:pPr>
            <a:r>
              <a:rPr lang="en-US" sz="1000" dirty="0">
                <a:solidFill>
                  <a:schemeClr val="tx1"/>
                </a:solidFill>
              </a:rPr>
              <a:t>TechAfrica News - ATC Africa green initiatives: 350M invested, 43.5M liters diesel saved - https://techafricanews.com/2023/10/10/atc-africas-green-initiatives-350m-invested-43-5m-liters-of-diesel-saved-117000-mtco2e-avoided/</a:t>
            </a:r>
            <a:endParaRPr lang="en-US" sz="1000" dirty="0"/>
          </a:p>
          <a:p>
            <a:pPr indent="0" marL="0">
              <a:spcAft>
                <a:spcPts val="200"/>
              </a:spcAft>
              <a:buNone/>
            </a:pPr>
            <a:r>
              <a:rPr lang="en-US" sz="1000" dirty="0">
                <a:solidFill>
                  <a:schemeClr val="tx1"/>
                </a:solidFill>
              </a:rPr>
              <a:t>TechCabal - IHS Towers revenue and hybrid power sites - https://techcabal.com/2025/03/19/mtn-airtel-drive-57-of-ihs-towers-revenue/</a:t>
            </a:r>
            <a:endParaRPr lang="en-US" sz="1000" dirty="0"/>
          </a:p>
          <a:p>
            <a:pPr indent="0" marL="0">
              <a:spcAft>
                <a:spcPts val="200"/>
              </a:spcAft>
              <a:buNone/>
            </a:pPr>
            <a:r>
              <a:rPr lang="en-US" sz="1000" dirty="0">
                <a:solidFill>
                  <a:schemeClr val="tx1"/>
                </a:solidFill>
              </a:rPr>
              <a:t>AP via WTOP - Africa's cellphone towers turn to solar as diesel costs surge - https://wtop.com/world/2026/05/africas-cellphone-towers-turn-to-solar-as-diesel-costs-surge/</a:t>
            </a:r>
            <a:endParaRPr lang="en-US" sz="1000" dirty="0"/>
          </a:p>
          <a:p>
            <a:pPr indent="0" marL="0">
              <a:spcAft>
                <a:spcPts val="200"/>
              </a:spcAft>
              <a:buNone/>
            </a:pPr>
            <a:r>
              <a:rPr lang="en-US" sz="1000" dirty="0">
                <a:solidFill>
                  <a:schemeClr val="tx1"/>
                </a:solidFill>
              </a:rPr>
              <a:t>GSMA Intelligence - Telcos and virtual power plants - https://gsmaintelligence.com/research/telcos-and-virtual-power-plants-green-energy-green-profit</a:t>
            </a:r>
            <a:endParaRPr lang="en-US" sz="1000" dirty="0"/>
          </a:p>
          <a:p>
            <a:pPr indent="0" marL="0">
              <a:spcAft>
                <a:spcPts val="200"/>
              </a:spcAft>
              <a:buNone/>
            </a:pPr>
            <a:r>
              <a:rPr lang="en-US" sz="1000" dirty="0">
                <a:solidFill>
                  <a:schemeClr val="tx1"/>
                </a:solidFill>
              </a:rPr>
              <a:t>Emaldo - Finnish ancillary services market review - https://emaldo.com/insights/emaldo-market-review-the-finnish-ancillary-services-market</a:t>
            </a:r>
            <a:endParaRPr lang="en-US" sz="1000" dirty="0"/>
          </a:p>
          <a:p>
            <a:pPr indent="0" marL="0">
              <a:spcAft>
                <a:spcPts val="200"/>
              </a:spcAft>
              <a:buNone/>
            </a:pPr>
            <a:r>
              <a:rPr lang="en-US" sz="1200" b="1" dirty="0">
                <a:solidFill>
                  <a:schemeClr val="tx2"/>
                </a:solidFill>
              </a:rPr>
              <a:t>Idea 3: HubCo</a:t>
            </a:r>
            <a:endParaRPr lang="en-US" sz="1000" dirty="0"/>
          </a:p>
          <a:p>
            <a:pPr indent="0" marL="0">
              <a:spcAft>
                <a:spcPts val="200"/>
              </a:spcAft>
              <a:buNone/>
            </a:pPr>
            <a:r>
              <a:rPr lang="en-US" sz="1000" dirty="0">
                <a:solidFill>
                  <a:schemeClr val="tx1"/>
                </a:solidFill>
              </a:rPr>
              <a:t>AT&amp;T Announces Structured Sale-Leaseback to Reign Capital - https://about.att.com/story/2025/reign-capital.html</a:t>
            </a:r>
            <a:endParaRPr lang="en-US" sz="1000" dirty="0"/>
          </a:p>
          <a:p>
            <a:pPr indent="0" marL="0">
              <a:spcAft>
                <a:spcPts val="200"/>
              </a:spcAft>
              <a:buNone/>
            </a:pPr>
            <a:r>
              <a:rPr lang="en-US" sz="1000" dirty="0">
                <a:solidFill>
                  <a:schemeClr val="tx1"/>
                </a:solidFill>
              </a:rPr>
              <a:t>AT&amp;T signs $850m sale-leaseback for 74 copper central offices (DCD) - https://www.datacenterdynamics.com/en/news/att-signs-850m-sale-leaseback-deal-for-74-copper-network-central-offices/</a:t>
            </a:r>
            <a:endParaRPr lang="en-US" sz="1000" dirty="0"/>
          </a:p>
          <a:p>
            <a:pPr indent="0" marL="0">
              <a:spcAft>
                <a:spcPts val="200"/>
              </a:spcAft>
              <a:buNone/>
            </a:pPr>
            <a:r>
              <a:rPr lang="en-US" sz="1000" dirty="0">
                <a:solidFill>
                  <a:schemeClr val="tx1"/>
                </a:solidFill>
              </a:rPr>
              <a:t>Equinix Reports Second-Quarter 2025 Results - https://newsroom.equinix.com/2025-07-30-Equinix-Reports-Second-Quarter-2025-Results</a:t>
            </a:r>
            <a:endParaRPr lang="en-US" sz="1000" dirty="0"/>
          </a:p>
          <a:p>
            <a:pPr indent="0" marL="0">
              <a:spcAft>
                <a:spcPts val="200"/>
              </a:spcAft>
              <a:buNone/>
            </a:pPr>
            <a:r>
              <a:rPr lang="en-US" sz="1000" dirty="0">
                <a:solidFill>
                  <a:schemeClr val="tx1"/>
                </a:solidFill>
              </a:rPr>
              <a:t>Edge Data Center Market Analysis and Forecast 2025-2034 (ResearchAndMarkets) - https://www.businesswire.com/news/home/20250328154305/en/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Appendix: idea sources (3)</a:t>
            </a:r>
            <a:endParaRPr lang="en-US" sz="2800" dirty="0"/>
          </a:p>
        </p:txBody>
      </p:sp>
      <p:sp>
        <p:nvSpPr>
          <p:cNvPr id="3" name="Text 1"/>
          <p:cNvSpPr txBox="1"/>
          <p:nvPr/>
        </p:nvSpPr>
        <p:spPr>
          <a:xfrm>
            <a:off x="548640" y="1280160"/>
            <a:ext cx="11064240" cy="5029200"/>
          </a:xfrm>
          <a:prstGeom prst="rect">
            <a:avLst/>
          </a:prstGeom>
          <a:noFill/>
          <a:ln/>
        </p:spPr>
        <p:txBody>
          <a:bodyPr wrap="square" lIns="0" tIns="0" rIns="0" bIns="0" rtlCol="0" anchor="t"/>
          <a:lstStyle/>
          <a:p>
            <a:pPr indent="0" marL="0">
              <a:spcAft>
                <a:spcPts val="200"/>
              </a:spcAft>
              <a:buNone/>
            </a:pPr>
            <a:r>
              <a:rPr lang="en-US" sz="1000" dirty="0">
                <a:solidFill>
                  <a:schemeClr val="tx1"/>
                </a:solidFill>
              </a:rPr>
              <a:t>BT sells UK property portfolio (GlobeSt, 2001) - https://www.globest.com/2001/06/14/bt-sells-uk-property-portfolio</a:t>
            </a:r>
            <a:endParaRPr lang="en-US" sz="1000" dirty="0"/>
          </a:p>
          <a:p>
            <a:pPr indent="0" marL="0">
              <a:spcAft>
                <a:spcPts val="200"/>
              </a:spcAft>
              <a:buNone/>
            </a:pPr>
            <a:r>
              <a:rPr lang="en-US" sz="1000" dirty="0">
                <a:solidFill>
                  <a:schemeClr val="tx1"/>
                </a:solidFill>
              </a:rPr>
              <a:t>Telefonica convierte su legacy en mini data centers (TeleSemana) - https://www.telesemana.com/blog/2026/01/29/telefonica-convierte-su-legacy-en-mini-data-centers-pero-el-reto-esta-en-venderlos-como-cloud/</a:t>
            </a:r>
            <a:endParaRPr lang="en-US" sz="1000" dirty="0"/>
          </a:p>
          <a:p>
            <a:pPr indent="0" marL="0">
              <a:spcAft>
                <a:spcPts val="200"/>
              </a:spcAft>
              <a:buNone/>
            </a:pPr>
            <a:r>
              <a:rPr lang="en-US" sz="1000" dirty="0">
                <a:solidFill>
                  <a:schemeClr val="tx1"/>
                </a:solidFill>
              </a:rPr>
              <a:t>Five Verizon central offices for sale in Massachusetts (DCD) - https://www.datacenterdynamics.com/en/news/five-verizon-central-offices-for-sale-in-massachusetts/</a:t>
            </a:r>
            <a:endParaRPr lang="en-US" sz="1000" dirty="0"/>
          </a:p>
          <a:p>
            <a:pPr indent="0" marL="0">
              <a:spcAft>
                <a:spcPts val="200"/>
              </a:spcAft>
              <a:buNone/>
            </a:pPr>
            <a:r>
              <a:rPr lang="en-US" sz="1000" dirty="0">
                <a:solidFill>
                  <a:schemeClr val="tx1"/>
                </a:solidFill>
              </a:rPr>
              <a:t>Openreach closes first legacy UK exchange (ISPreview) - https://www.ispreview.co.uk/index.php/2025/11/openreach-officially-closes-first-legacy-uk-exchange-deddington.html</a:t>
            </a:r>
            <a:endParaRPr lang="en-US" sz="1000" dirty="0"/>
          </a:p>
          <a:p>
            <a:pPr indent="0" marL="0">
              <a:spcAft>
                <a:spcPts val="200"/>
              </a:spcAft>
              <a:buNone/>
            </a:pPr>
            <a:r>
              <a:rPr lang="en-US" sz="1000" dirty="0">
                <a:solidFill>
                  <a:schemeClr val="tx1"/>
                </a:solidFill>
              </a:rPr>
              <a:t>Vivo: R$ 650 milhoes com cobre e imoveis (Teletime) - https://teletime.com.br/28/07/2026/vivo-650-milhoes/</a:t>
            </a:r>
            <a:endParaRPr lang="en-US" sz="1000" dirty="0"/>
          </a:p>
          <a:p>
            <a:pPr indent="0" marL="0">
              <a:spcAft>
                <a:spcPts val="200"/>
              </a:spcAft>
              <a:buNone/>
            </a:pPr>
            <a:r>
              <a:rPr lang="en-US" sz="1200" b="1" dirty="0">
                <a:solidFill>
                  <a:schemeClr val="tx2"/>
                </a:solidFill>
              </a:rPr>
              <a:t>Idea 4: Powered land</a:t>
            </a:r>
            <a:endParaRPr lang="en-US" sz="1000" dirty="0"/>
          </a:p>
          <a:p>
            <a:pPr indent="0" marL="0">
              <a:spcAft>
                <a:spcPts val="200"/>
              </a:spcAft>
              <a:buNone/>
            </a:pPr>
            <a:r>
              <a:rPr lang="en-US" sz="1000" dirty="0">
                <a:solidFill>
                  <a:schemeClr val="tx1"/>
                </a:solidFill>
              </a:rPr>
              <a:t>LBNL - Queued Up: 2025 Edition - https://emp.lbl.gov/publications/queued-2025-edition-characteristics</a:t>
            </a:r>
            <a:endParaRPr lang="en-US" sz="1000" dirty="0"/>
          </a:p>
          <a:p>
            <a:pPr indent="0" marL="0">
              <a:spcAft>
                <a:spcPts val="200"/>
              </a:spcAft>
              <a:buNone/>
            </a:pPr>
            <a:r>
              <a:rPr lang="en-US" sz="1000" dirty="0">
                <a:solidFill>
                  <a:schemeClr val="tx1"/>
                </a:solidFill>
              </a:rPr>
              <a:t>CBRE - North America Data Center Trends H1 2026 - https://www.cbre.com/insights/books/north-america-data-center-trends-h1-2026</a:t>
            </a:r>
            <a:endParaRPr lang="en-US" sz="1000" dirty="0"/>
          </a:p>
          <a:p>
            <a:pPr indent="0" marL="0">
              <a:spcAft>
                <a:spcPts val="200"/>
              </a:spcAft>
              <a:buNone/>
            </a:pPr>
            <a:r>
              <a:rPr lang="en-US" sz="1000" dirty="0">
                <a:solidFill>
                  <a:schemeClr val="tx1"/>
                </a:solidFill>
              </a:rPr>
              <a:t>CBRE press release - Demand outpaces supply despite record construction - https://www.cbre.com/press-releases/north-american-data-center-demand-continues-to-outpace-supply-despite-record-construction</a:t>
            </a:r>
            <a:endParaRPr lang="en-US" sz="1000" dirty="0"/>
          </a:p>
          <a:p>
            <a:pPr indent="0" marL="0">
              <a:spcAft>
                <a:spcPts val="200"/>
              </a:spcAft>
              <a:buNone/>
            </a:pPr>
            <a:r>
              <a:rPr lang="en-US" sz="1000" dirty="0">
                <a:solidFill>
                  <a:schemeClr val="tx1"/>
                </a:solidFill>
              </a:rPr>
              <a:t>The Energy Mag - MARA buys Texas site for AI, bitcoin mining in deal worth up to $600M - https://theenergymag.com/news/2026-07-09/mara-texas-bitcoin-ai-power-campus</a:t>
            </a:r>
            <a:endParaRPr lang="en-US" sz="1000" dirty="0"/>
          </a:p>
          <a:p>
            <a:pPr indent="0" marL="0">
              <a:spcAft>
                <a:spcPts val="200"/>
              </a:spcAft>
              <a:buNone/>
            </a:pPr>
            <a:r>
              <a:rPr lang="en-US" sz="1000" dirty="0">
                <a:solidFill>
                  <a:schemeClr val="tx1"/>
                </a:solidFill>
              </a:rPr>
              <a:t>Data Center Frontier - Tract's master-planned land and infrastructure approach - https://www.datacenterfrontier.com/site-selection/article/55308975/scaling-up-tracts-master-planned-land-and-infrastructure-approach-to-data-center-development</a:t>
            </a:r>
            <a:endParaRPr lang="en-US" sz="1000" dirty="0"/>
          </a:p>
          <a:p>
            <a:pPr indent="0" marL="0">
              <a:spcAft>
                <a:spcPts val="200"/>
              </a:spcAft>
              <a:buNone/>
            </a:pPr>
            <a:r>
              <a:rPr lang="en-US" sz="1000" dirty="0">
                <a:solidFill>
                  <a:schemeClr val="tx1"/>
                </a:solidFill>
              </a:rPr>
              <a:t>Public Power - Companies unveil largest natural gas powered data center campus - https://www.publicpower.org/periodical/article/companies-unveil-largest-natural-gas-powered-data-center-campus-us</a:t>
            </a:r>
            <a:endParaRPr lang="en-US" sz="1000" dirty="0"/>
          </a:p>
          <a:p>
            <a:pPr indent="0" marL="0">
              <a:spcAft>
                <a:spcPts val="200"/>
              </a:spcAft>
              <a:buNone/>
            </a:pPr>
            <a:r>
              <a:rPr lang="en-US" sz="1000" dirty="0">
                <a:solidFill>
                  <a:schemeClr val="tx1"/>
                </a:solidFill>
              </a:rPr>
              <a:t>Utility Dive - Homer City gas-fired power station data center - https://www.utilitydive.com/news/homer-city-gas-fired-power-station-data-center-firstenergy/744332/</a:t>
            </a:r>
            <a:endParaRPr lang="en-US" sz="1000" dirty="0"/>
          </a:p>
          <a:p>
            <a:pPr indent="0" marL="0">
              <a:spcAft>
                <a:spcPts val="200"/>
              </a:spcAft>
              <a:buNone/>
            </a:pPr>
            <a:r>
              <a:rPr lang="en-US" sz="1000" dirty="0">
                <a:solidFill>
                  <a:schemeClr val="tx1"/>
                </a:solidFill>
              </a:rPr>
              <a:t>Bisnow - Data center sites are warping the market for developable land - https://www.bisnow.com/news/national/data-center-development/data-center-sites-are-warping-the-market-for-developable-land-134771</a:t>
            </a:r>
            <a:endParaRPr lang="en-US" sz="1000" dirty="0"/>
          </a:p>
          <a:p>
            <a:pPr indent="0" marL="0">
              <a:spcAft>
                <a:spcPts val="200"/>
              </a:spcAft>
              <a:buNone/>
            </a:pPr>
            <a:r>
              <a:rPr lang="en-US" sz="1200" b="1" dirty="0">
                <a:solidFill>
                  <a:schemeClr val="tx2"/>
                </a:solidFill>
              </a:rPr>
              <a:t>Idea 5: Platform acquisition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Appendix: idea sources (4)</a:t>
            </a:r>
            <a:endParaRPr lang="en-US" sz="2800" dirty="0"/>
          </a:p>
        </p:txBody>
      </p:sp>
      <p:sp>
        <p:nvSpPr>
          <p:cNvPr id="3" name="Text 1"/>
          <p:cNvSpPr txBox="1"/>
          <p:nvPr/>
        </p:nvSpPr>
        <p:spPr>
          <a:xfrm>
            <a:off x="548640" y="1280160"/>
            <a:ext cx="11064240" cy="5029200"/>
          </a:xfrm>
          <a:prstGeom prst="rect">
            <a:avLst/>
          </a:prstGeom>
          <a:noFill/>
          <a:ln/>
        </p:spPr>
        <p:txBody>
          <a:bodyPr wrap="square" lIns="0" tIns="0" rIns="0" bIns="0" rtlCol="0" anchor="t"/>
          <a:lstStyle/>
          <a:p>
            <a:pPr indent="0" marL="0">
              <a:spcAft>
                <a:spcPts val="200"/>
              </a:spcAft>
              <a:buNone/>
            </a:pPr>
            <a:r>
              <a:rPr lang="en-US" sz="1000" dirty="0">
                <a:solidFill>
                  <a:schemeClr val="tx1"/>
                </a:solidFill>
              </a:rPr>
              <a:t>American Tower Completes Acquisition of CoreSite Realty - https://www.businesswire.com/news/home/20211228005115/en/American-Tower-Completes-Acquisition-of-CoreSite-Realty-Corporation</a:t>
            </a:r>
            <a:endParaRPr lang="en-US" sz="1000" dirty="0"/>
          </a:p>
          <a:p>
            <a:pPr indent="0" marL="0">
              <a:spcAft>
                <a:spcPts val="200"/>
              </a:spcAft>
              <a:buNone/>
            </a:pPr>
            <a:r>
              <a:rPr lang="en-US" sz="1000" dirty="0">
                <a:solidFill>
                  <a:schemeClr val="tx1"/>
                </a:solidFill>
              </a:rPr>
              <a:t>AMT 8-K: agreement to acquire CoreSite (Nov 2021) - https://www.sec.gov/Archives/edgar/data/1053507/000119312521328894/d245474dex991.htm</a:t>
            </a:r>
            <a:endParaRPr lang="en-US" sz="1000" dirty="0"/>
          </a:p>
          <a:p>
            <a:pPr indent="0" marL="0">
              <a:spcAft>
                <a:spcPts val="200"/>
              </a:spcAft>
              <a:buNone/>
            </a:pPr>
            <a:r>
              <a:rPr lang="en-US" sz="1000" dirty="0">
                <a:solidFill>
                  <a:schemeClr val="tx1"/>
                </a:solidFill>
              </a:rPr>
              <a:t>American Tower Raises Full-Year 2025 Outlook on Solid Q3 Results - https://insidetowers.com/american-tower-raises-full-year-2025-outlook-on-solid-q3-results/</a:t>
            </a:r>
            <a:endParaRPr lang="en-US" sz="1000" dirty="0"/>
          </a:p>
          <a:p>
            <a:pPr indent="0" marL="0">
              <a:spcAft>
                <a:spcPts val="200"/>
              </a:spcAft>
              <a:buNone/>
            </a:pPr>
            <a:r>
              <a:rPr lang="en-US" sz="1000" dirty="0">
                <a:solidFill>
                  <a:schemeClr val="tx1"/>
                </a:solidFill>
              </a:rPr>
              <a:t>Tower operator Crown Castle to buy Lightower - https://www.cnbc.com/2017/07/19/tower-operator-crown-castle-to-buy-lightower.html</a:t>
            </a:r>
            <a:endParaRPr lang="en-US" sz="1000" dirty="0"/>
          </a:p>
          <a:p>
            <a:pPr indent="0" marL="0">
              <a:spcAft>
                <a:spcPts val="200"/>
              </a:spcAft>
              <a:buNone/>
            </a:pPr>
            <a:r>
              <a:rPr lang="en-US" sz="1000" dirty="0">
                <a:solidFill>
                  <a:schemeClr val="tx1"/>
                </a:solidFill>
              </a:rPr>
              <a:t>Crown Castle Selling Fiber, Small Cell Businesses for $8.5 Billion - https://broadbandbreakfast.com/crown-castle-selling-fiber-small-cell-businesses-for-8-5-billion/</a:t>
            </a:r>
            <a:endParaRPr lang="en-US" sz="1000" dirty="0"/>
          </a:p>
          <a:p>
            <a:pPr indent="0" marL="0">
              <a:spcAft>
                <a:spcPts val="200"/>
              </a:spcAft>
              <a:buNone/>
            </a:pPr>
            <a:r>
              <a:rPr lang="en-US" sz="1000" dirty="0">
                <a:solidFill>
                  <a:schemeClr val="tx1"/>
                </a:solidFill>
              </a:rPr>
              <a:t>Crown Castle completes $8.5B sale of fiber and small cells - https://www.datacenterdynamics.com/en/news/crown-castle-completes-85bn-sale-of-fiber-and-small-cells-assets/</a:t>
            </a:r>
            <a:endParaRPr lang="en-US" sz="1000" dirty="0"/>
          </a:p>
          <a:p>
            <a:pPr indent="0" marL="0">
              <a:spcAft>
                <a:spcPts val="200"/>
              </a:spcAft>
              <a:buNone/>
            </a:pPr>
            <a:r>
              <a:rPr lang="en-US" sz="1000" dirty="0">
                <a:solidFill>
                  <a:schemeClr val="tx1"/>
                </a:solidFill>
              </a:rPr>
              <a:t>Aligned Data Centers acquires Brazil's ODATA - https://datacenterdynamics.com/en/news/aligned-data-centers-acquires-brazils-odata</a:t>
            </a:r>
            <a:endParaRPr lang="en-US" sz="1000" dirty="0"/>
          </a:p>
          <a:p>
            <a:pPr indent="0" marL="0">
              <a:spcAft>
                <a:spcPts val="200"/>
              </a:spcAft>
              <a:buNone/>
            </a:pPr>
            <a:r>
              <a:rPr lang="en-US" sz="1000" dirty="0">
                <a:solidFill>
                  <a:schemeClr val="tx1"/>
                </a:solidFill>
              </a:rPr>
              <a:t>Aligned Data Centers Enters Latin America With Acquisition of ODATA - https://www.datacenterfrontier.com/finance/article/21438806/aligned-goes-global-with-acquisition-of-odata</a:t>
            </a:r>
            <a:endParaRPr lang="en-US" sz="1000" dirty="0"/>
          </a:p>
          <a:p>
            <a:pPr indent="0" marL="0">
              <a:spcAft>
                <a:spcPts val="200"/>
              </a:spcAft>
              <a:buNone/>
            </a:pPr>
            <a:r>
              <a:rPr lang="en-US" sz="1200" b="1" dirty="0">
                <a:solidFill>
                  <a:schemeClr val="tx2"/>
                </a:solidFill>
              </a:rPr>
              <a:t>Idea 6: Edge and AI-RAN hubs</a:t>
            </a:r>
            <a:endParaRPr lang="en-US" sz="1000" dirty="0"/>
          </a:p>
          <a:p>
            <a:pPr indent="0" marL="0">
              <a:spcAft>
                <a:spcPts val="200"/>
              </a:spcAft>
              <a:buNone/>
            </a:pPr>
            <a:r>
              <a:rPr lang="en-US" sz="1000" dirty="0">
                <a:solidFill>
                  <a:schemeClr val="tx1"/>
                </a:solidFill>
              </a:rPr>
              <a:t>Nvidia - Telecom leaders build AI grids (GTC 2026) - https://blogs.nvidia.com/blog/telecom-ai-grids-inference</a:t>
            </a:r>
            <a:endParaRPr lang="en-US" sz="1000" dirty="0"/>
          </a:p>
          <a:p>
            <a:pPr indent="0" marL="0">
              <a:spcAft>
                <a:spcPts val="200"/>
              </a:spcAft>
              <a:buNone/>
            </a:pPr>
            <a:r>
              <a:rPr lang="en-US" sz="1000" dirty="0">
                <a:solidFill>
                  <a:schemeClr val="tx1"/>
                </a:solidFill>
              </a:rPr>
              <a:t>Fierce Network - Nokia promises commercial AI-RAN in 2027 - https://www.fierce-network.com/wireless/nokia-promises-commercial-ai-ran-2027</a:t>
            </a:r>
            <a:endParaRPr lang="en-US" sz="1000" dirty="0"/>
          </a:p>
          <a:p>
            <a:pPr indent="0" marL="0">
              <a:spcAft>
                <a:spcPts val="200"/>
              </a:spcAft>
              <a:buNone/>
            </a:pPr>
            <a:r>
              <a:rPr lang="en-US" sz="1000" dirty="0">
                <a:solidFill>
                  <a:schemeClr val="tx1"/>
                </a:solidFill>
              </a:rPr>
              <a:t>RCR Wireless - Nvidia positions AI-RAN with Nokia, T-Mobile - https://www.rcrwireless.com/20260317/network-infrastructure/nvidia-ai-ran-nokia-t-mobile</a:t>
            </a:r>
            <a:endParaRPr lang="en-US" sz="1000" dirty="0"/>
          </a:p>
          <a:p>
            <a:pPr indent="0" marL="0">
              <a:spcAft>
                <a:spcPts val="200"/>
              </a:spcAft>
              <a:buNone/>
            </a:pPr>
            <a:r>
              <a:rPr lang="en-US" sz="1000" dirty="0">
                <a:solidFill>
                  <a:schemeClr val="tx1"/>
                </a:solidFill>
              </a:rPr>
              <a:t>Fierce Network - T-Mobile and Nvidia push physical AI to the network edge - https://www.fierce-network.com/broadband/nvidia-gtc-t-mobile-and-nvidia-push-physical-ai-network-edge-0</a:t>
            </a:r>
            <a:endParaRPr lang="en-US" sz="1000" dirty="0"/>
          </a:p>
          <a:p>
            <a:pPr indent="0" marL="0">
              <a:spcAft>
                <a:spcPts val="200"/>
              </a:spcAft>
              <a:buNone/>
            </a:pPr>
            <a:r>
              <a:rPr lang="en-US" sz="1000" dirty="0">
                <a:solidFill>
                  <a:schemeClr val="tx1"/>
                </a:solidFill>
              </a:rPr>
              <a:t>ABI Research - Nvidia US$1B move on Nokia - https://www.abiresearch.com/market-research/insight/7787084-nvidias-bold-us1-billion-move-on-nokia-giv</a:t>
            </a:r>
            <a:endParaRPr lang="en-US" sz="1000" dirty="0"/>
          </a:p>
          <a:p>
            <a:pPr indent="0" marL="0">
              <a:spcAft>
                <a:spcPts val="200"/>
              </a:spcAft>
              <a:buNone/>
            </a:pPr>
            <a:r>
              <a:rPr lang="en-US" sz="1000" dirty="0">
                <a:solidFill>
                  <a:schemeClr val="tx1"/>
                </a:solidFill>
              </a:rPr>
              <a:t>ResearchAndMarkets - Edge Data Centers report 2025-2030 - https://www.businesswire.com/news/home/20251106247014/en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Appendix: idea sources (5)</a:t>
            </a:r>
            <a:endParaRPr lang="en-US" sz="2800" dirty="0"/>
          </a:p>
        </p:txBody>
      </p:sp>
      <p:sp>
        <p:nvSpPr>
          <p:cNvPr id="3" name="Text 1"/>
          <p:cNvSpPr txBox="1"/>
          <p:nvPr/>
        </p:nvSpPr>
        <p:spPr>
          <a:xfrm>
            <a:off x="548640" y="1280160"/>
            <a:ext cx="11064240" cy="5029200"/>
          </a:xfrm>
          <a:prstGeom prst="rect">
            <a:avLst/>
          </a:prstGeom>
          <a:noFill/>
          <a:ln/>
        </p:spPr>
        <p:txBody>
          <a:bodyPr wrap="square" lIns="0" tIns="0" rIns="0" bIns="0" rtlCol="0" anchor="t"/>
          <a:lstStyle/>
          <a:p>
            <a:pPr indent="0" marL="0">
              <a:spcAft>
                <a:spcPts val="200"/>
              </a:spcAft>
              <a:buNone/>
            </a:pPr>
            <a:r>
              <a:rPr lang="en-US" sz="1000" dirty="0">
                <a:solidFill>
                  <a:schemeClr val="tx1"/>
                </a:solidFill>
              </a:rPr>
              <a:t>DCD - American Tower opens edge data center in Raleigh - https://www.datacenterdynamics.com/en/news/american-tower-opens-edge-data-center-in-raleigh-north-carolina/</a:t>
            </a:r>
            <a:endParaRPr lang="en-US" sz="1000" dirty="0"/>
          </a:p>
          <a:p>
            <a:pPr indent="0" marL="0">
              <a:spcAft>
                <a:spcPts val="200"/>
              </a:spcAft>
              <a:buNone/>
            </a:pPr>
            <a:r>
              <a:rPr lang="en-US" sz="1000" dirty="0">
                <a:solidFill>
                  <a:schemeClr val="tx1"/>
                </a:solidFill>
              </a:rPr>
              <a:t>DCD - SBA has 30 or 40 edge facilities at tower sites - https://www.datacenterdynamics.com/en/news/sba-communications-has-30-or-40-edge-facilities-at-tower-sites/</a:t>
            </a:r>
            <a:endParaRPr lang="en-US" sz="1000" dirty="0"/>
          </a:p>
          <a:p>
            <a:pPr indent="0" marL="0">
              <a:spcAft>
                <a:spcPts val="200"/>
              </a:spcAft>
              <a:buNone/>
            </a:pPr>
            <a:r>
              <a:rPr lang="en-US" sz="1000" dirty="0">
                <a:solidFill>
                  <a:schemeClr val="tx1"/>
                </a:solidFill>
              </a:rPr>
              <a:t>DCD - SBA launches edge data center in Arlington, Texas - https://www.datacenterdynamics.com/en/news/sba-communications-launches-edge-data-center-at-tower-site-in-arlington-texas/</a:t>
            </a:r>
            <a:endParaRPr lang="en-US" sz="1000" dirty="0"/>
          </a:p>
          <a:p>
            <a:pPr indent="0" marL="0">
              <a:spcAft>
                <a:spcPts val="200"/>
              </a:spcAft>
              <a:buNone/>
            </a:pPr>
            <a:r>
              <a:rPr lang="en-US" sz="1000" dirty="0">
                <a:solidFill>
                  <a:schemeClr val="tx1"/>
                </a:solidFill>
              </a:rPr>
              <a:t>Data Center Frontier - Vapor IO edge architecture - https://datacenterfrontier.com/a-vision-for-the-edge-vapor-io-refines-network-data-center-designs/</a:t>
            </a:r>
            <a:endParaRPr lang="en-US" sz="1000" dirty="0"/>
          </a:p>
          <a:p>
            <a:pPr indent="0" marL="0">
              <a:spcAft>
                <a:spcPts val="200"/>
              </a:spcAft>
              <a:buNone/>
            </a:pPr>
            <a:r>
              <a:rPr lang="en-US" sz="1200" b="1" dirty="0">
                <a:solidFill>
                  <a:schemeClr val="tx2"/>
                </a:solidFill>
              </a:rPr>
              <a:t>Idea 7: Satellite gateways</a:t>
            </a:r>
            <a:endParaRPr lang="en-US" sz="1000" dirty="0"/>
          </a:p>
          <a:p>
            <a:pPr indent="0" marL="0">
              <a:spcAft>
                <a:spcPts val="200"/>
              </a:spcAft>
              <a:buNone/>
            </a:pPr>
            <a:r>
              <a:rPr lang="en-US" sz="1000" dirty="0">
                <a:solidFill>
                  <a:schemeClr val="tx1"/>
                </a:solidFill>
              </a:rPr>
              <a:t>DCD - Amazon Leo reveals plans for installation of more than 300 ground stations - https://www.datacenterdynamics.com/en/news/amazon-leo-reveals-plans-for-installation-of-more-than-300-ground-stations/</a:t>
            </a:r>
            <a:endParaRPr lang="en-US" sz="1000" dirty="0"/>
          </a:p>
          <a:p>
            <a:pPr indent="0" marL="0">
              <a:spcAft>
                <a:spcPts val="200"/>
              </a:spcAft>
              <a:buNone/>
            </a:pPr>
            <a:r>
              <a:rPr lang="en-US" sz="1000" dirty="0">
                <a:solidFill>
                  <a:schemeClr val="tx1"/>
                </a:solidFill>
              </a:rPr>
              <a:t>MarketsandMarkets - Satellite Ground Station Market worth $82.72 billion by 2030 - https://www.webull.com/news/13957181077505024</a:t>
            </a:r>
            <a:endParaRPr lang="en-US" sz="1000" dirty="0"/>
          </a:p>
          <a:p>
            <a:pPr indent="0" marL="0">
              <a:spcAft>
                <a:spcPts val="200"/>
              </a:spcAft>
              <a:buNone/>
            </a:pPr>
            <a:r>
              <a:rPr lang="en-US" sz="1000" dirty="0">
                <a:solidFill>
                  <a:schemeClr val="tx1"/>
                </a:solidFill>
              </a:rPr>
              <a:t>The Register - SpaceX bulks up Starlink Direct to Cell with $17B EchoStar spectrum deal - https://www.theregister.com/2025/09/09/spacex_echostar_spectrum_deal/</a:t>
            </a:r>
            <a:endParaRPr lang="en-US" sz="1000" dirty="0"/>
          </a:p>
          <a:p>
            <a:pPr indent="0" marL="0">
              <a:spcAft>
                <a:spcPts val="200"/>
              </a:spcAft>
              <a:buNone/>
            </a:pPr>
            <a:r>
              <a:rPr lang="en-US" sz="1000" dirty="0">
                <a:solidFill>
                  <a:schemeClr val="tx1"/>
                </a:solidFill>
              </a:rPr>
              <a:t>AST SpaceMobile 10-Q Q1 2022 (American Tower term sheet) - https://www.sec.gov/Archives/edgar/data/1780312/000095017022010115/asts-ast_spacemobile_q1_2022.pdf</a:t>
            </a:r>
            <a:endParaRPr lang="en-US" sz="1000" dirty="0"/>
          </a:p>
          <a:p>
            <a:pPr indent="0" marL="0">
              <a:spcAft>
                <a:spcPts val="200"/>
              </a:spcAft>
              <a:buNone/>
            </a:pPr>
            <a:r>
              <a:rPr lang="en-US" sz="1000" dirty="0">
                <a:solidFill>
                  <a:schemeClr val="tx1"/>
                </a:solidFill>
              </a:rPr>
              <a:t>Business Wire - Telstra to deliver teleport services for OneWeb in Australia - https://www.businesswire.com/news/home/20220322005537/en</a:t>
            </a:r>
            <a:endParaRPr lang="en-US" sz="1000" dirty="0"/>
          </a:p>
          <a:p>
            <a:pPr indent="0" marL="0">
              <a:spcAft>
                <a:spcPts val="200"/>
              </a:spcAft>
              <a:buNone/>
            </a:pPr>
            <a:r>
              <a:rPr lang="en-US" sz="1000" dirty="0">
                <a:solidFill>
                  <a:schemeClr val="tx1"/>
                </a:solidFill>
              </a:rPr>
              <a:t>KSAT - Company presentation - https://www.ksat.no/globalassets/ksat/documents/-company-presentation.pdf</a:t>
            </a:r>
            <a:endParaRPr lang="en-US" sz="1000" dirty="0"/>
          </a:p>
          <a:p>
            <a:pPr indent="0" marL="0">
              <a:spcAft>
                <a:spcPts val="200"/>
              </a:spcAft>
              <a:buNone/>
            </a:pPr>
            <a:r>
              <a:rPr lang="en-US" sz="1000" dirty="0">
                <a:solidFill>
                  <a:schemeClr val="tx1"/>
                </a:solidFill>
              </a:rPr>
              <a:t>Amazon - AWS announces AWS Ground Station - https://press.aboutamazon.com/2018/11/amazon-web-services-announces-aws-ground-station</a:t>
            </a:r>
            <a:endParaRPr lang="en-US" sz="1000" dirty="0"/>
          </a:p>
          <a:p>
            <a:pPr indent="0" marL="0">
              <a:spcAft>
                <a:spcPts val="200"/>
              </a:spcAft>
              <a:buNone/>
            </a:pPr>
            <a:r>
              <a:rPr lang="en-US" sz="1000" dirty="0">
                <a:solidFill>
                  <a:schemeClr val="tx1"/>
                </a:solidFill>
              </a:rPr>
              <a:t>DCD - Amazon Leo files for three new 6-antenna ground stations - https://www.datacenterdynamics.com/en/news/amazon-leo-files-for-three-new-6-antenna-ground-stations-in-florida-minnesota-and-texas/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Signal Steel">
  <a:themeElements>
    <a:clrScheme name="Signal Steel">
      <a:dk1>
        <a:srgbClr val="1B1F24"/>
      </a:dk1>
      <a:lt1>
        <a:srgbClr val="FFFFFF"/>
      </a:lt1>
      <a:dk2>
        <a:srgbClr val="14213D"/>
      </a:dk2>
      <a:lt2>
        <a:srgbClr val="EEF1F5"/>
      </a:lt2>
      <a:accent1>
        <a:srgbClr val="F4A300"/>
      </a:accent1>
      <a:accent2>
        <a:srgbClr val="2A9D8F"/>
      </a:accent2>
      <a:accent3>
        <a:srgbClr val="5C6B7A"/>
      </a:accent3>
      <a:accent4>
        <a:srgbClr val="C8553D"/>
      </a:accent4>
      <a:accent5>
        <a:srgbClr val="8AA1B8"/>
      </a:accent5>
      <a:accent6>
        <a:srgbClr val="3D5A80"/>
      </a:accent6>
      <a:hlink>
        <a:srgbClr val="2A9D8F"/>
      </a:hlink>
      <a:folHlink>
        <a:srgbClr val="3D5A80"/>
      </a:folHlink>
    </a:clrScheme>
    <a:fontScheme name="Signal Ste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Tower Sharing</dc:title>
  <dc:subject>PptxGenJS Presentation</dc:subject>
  <dc:creator>Business Model Lab</dc:creator>
  <cp:lastModifiedBy>Business Model Lab</cp:lastModifiedBy>
  <cp:revision>1</cp:revision>
  <dcterms:created xsi:type="dcterms:W3CDTF">2026-10-06T12:44:57Z</dcterms:created>
  <dcterms:modified xsi:type="dcterms:W3CDTF">2026-10-06T12:44:57Z</dcterms:modified>
</cp:coreProperties>
</file>
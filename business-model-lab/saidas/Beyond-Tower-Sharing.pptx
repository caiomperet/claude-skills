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4b08405-2b04-6d86-0876-63653fdc68ae}">
          <p14:sldIdLst>
            <p14:sldId id="256"/>
            <p14:sldId id="257"/>
          </p14:sldIdLst>
        </p14:section>
        <p14:section name="Why tower growth is slowing" id="{3e68d749-203b-7ad9-d480-ba1bee58c538}">
          <p14:sldIdLst>
            <p14:sldId id="258"/>
            <p14:sldId id="259"/>
            <p14:sldId id="260"/>
            <p14:sldId id="261"/>
            <p14:sldId id="262"/>
            <p14:sldId id="263"/>
          </p14:sldIdLst>
        </p14:section>
        <p14:section name="The growth ambition" id="{eb0cb658-02ca-0f3b-487f-c15111df340e}">
          <p14:sldIdLst>
            <p14:sldId id="264"/>
            <p14:sldId id="265"/>
            <p14:sldId id="266"/>
          </p14:sldIdLst>
        </p14:section>
        <p14:section name="Ideas with transformative potential" id="{9c3295ab-9a6e-a89b-a4df-294c651d5db1}">
          <p14:sldIdLst>
            <p14:sldId id="267"/>
            <p14:sldId id="268"/>
            <p14:sldId id="269"/>
            <p14:sldId id="270"/>
            <p14:sldId id="271"/>
            <p14:sldId id="272"/>
            <p14:sldId id="273"/>
          </p14:sldIdLst>
        </p14:section>
        <p14:section name="Next steps" id="{f4def07f-be2d-7d71-085c-9ba351aa6fad}">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Illustrative tower ROI by number of tenants (%)</a:t>
            </a:r>
          </a:p>
        </c:rich>
      </c:tx>
      <c:layout/>
      <c:overlay val="0"/>
    </c:title>
    <c:autoTitleDeleted val="0"/>
    <c:plotArea>
      <c:layout/>
      <c:barChart>
        <c:barDir val="col"/>
        <c:grouping val="clustered"/>
        <c:varyColors val="0"/>
        <c:ser>
          <c:idx val="0"/>
          <c:order val="0"/>
          <c:tx>
            <c:strRef>
              <c:f>Sheet1!$B$1</c:f>
              <c:strCache>
                <c:ptCount val="1"/>
                <c:pt idx="0">
                  <c:v>Tower ROI</c:v>
                </c:pt>
              </c:strCache>
            </c:strRef>
          </c:tx>
          <c:spPr>
            <a:solidFill>
              <a:srgbClr val="F4A300"/>
            </a:solidFill>
            <a:effectLst/>
          </c:spPr>
          <c:invertIfNegative val="0"/>
          <c:dLbls>
            <c:numFmt formatCode="0&quot;%&quot;" sourceLinked="0"/>
            <c:txPr>
              <a:bodyPr/>
              <a:lstStyle/>
              <a:p>
                <a:pPr>
                  <a:defRPr b="0" i="0" strike="noStrike" sz="1400" u="none">
                    <a:solidFill>
                      <a:srgbClr val="14213D"/>
                    </a:solidFill>
                    <a:latin typeface="+mn-lt"/>
                  </a:defRPr>
                </a:pPr>
              </a:p>
            </c:txPr>
            <c:showLegendKey val="0"/>
            <c:showVal val="1"/>
            <c:showCatName val="0"/>
            <c:showSerName val="0"/>
            <c:showPercent val="0"/>
            <c:showBubbleSize val="0"/>
            <c:showLeaderLines val="0"/>
          </c:dLbls>
          <c:cat>
            <c:multiLvlStrRef>
              <c:f>Sheet1!$A$2:$A$4</c:f>
              <c:multiLvlStrCache>
                <c:ptCount val="3"/>
                <c:lvl>
                  <c:pt idx="0">
                    <c:v>1 tenant</c:v>
                  </c:pt>
                  <c:pt idx="1">
                    <c:v>2 tenants</c:v>
                  </c:pt>
                  <c:pt idx="2">
                    <c:v>3 tenants</c:v>
                  </c:pt>
                </c:lvl>
              </c:multiLvlStrCache>
            </c:multiLvlStrRef>
          </c:cat>
          <c:val>
            <c:numRef>
              <c:f>Sheet1!$B$2:$B$4</c:f>
              <c:numCache>
                <c:formatCode>General</c:formatCode>
                <c:ptCount val="3"/>
                <c:pt idx="0">
                  <c:v>3</c:v>
                </c:pt>
                <c:pt idx="1">
                  <c:v>13</c:v>
                </c:pt>
                <c:pt idx="2">
                  <c:v>24</c:v>
                </c:pt>
              </c:numCache>
            </c:numRef>
          </c:val>
        </c:ser>
        <c:dLbls>
          <c:numFmt formatCode="0&quot;%&quot;" sourceLinked="0"/>
          <c:txPr>
            <a:bodyPr/>
            <a:lstStyle/>
            <a:p>
              <a:pPr>
                <a:defRPr b="0" i="0" strike="noStrike" sz="14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C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Tower REIT share price change since end of 2022 (%)</a:t>
            </a:r>
          </a:p>
        </c:rich>
      </c:tx>
      <c:layout/>
      <c:overlay val="0"/>
    </c:title>
    <c:autoTitleDeleted val="0"/>
    <c:plotArea>
      <c:layout/>
      <c:barChart>
        <c:barDir val="bar"/>
        <c:grouping val="clustered"/>
        <c:varyColors val="0"/>
        <c:ser>
          <c:idx val="0"/>
          <c:order val="0"/>
          <c:tx>
            <c:strRef>
              <c:f>Sheet1!$B$1</c:f>
              <c:strCache>
                <c:ptCount val="1"/>
                <c:pt idx="0">
                  <c:v>Share price change</c:v>
                </c:pt>
              </c:strCache>
            </c:strRef>
          </c:tx>
          <c:spPr>
            <a:solidFill>
              <a:srgbClr val="C8553D"/>
            </a:solidFill>
            <a:effectLst/>
          </c:spPr>
          <c:invertIfNegative val="0"/>
          <c:dLbls>
            <c:numFmt formatCode="0&quot;%&quot;" sourceLinked="0"/>
            <c:txPr>
              <a:bodyPr/>
              <a:lstStyle/>
              <a:p>
                <a:pPr>
                  <a:defRPr b="0" i="0" strike="noStrike" sz="1400" u="none">
                    <a:solidFill>
                      <a:srgbClr val="14213D"/>
                    </a:solidFill>
                    <a:latin typeface="+mn-lt"/>
                  </a:defRPr>
                </a:pPr>
              </a:p>
            </c:txPr>
            <c:showLegendKey val="0"/>
            <c:showVal val="1"/>
            <c:showCatName val="0"/>
            <c:showSerName val="0"/>
            <c:showPercent val="0"/>
            <c:showBubbleSize val="0"/>
            <c:showLeaderLines val="0"/>
          </c:dLbls>
          <c:cat>
            <c:multiLvlStrRef>
              <c:f>Sheet1!$A$2:$A$4</c:f>
              <c:multiLvlStrCache>
                <c:ptCount val="3"/>
                <c:lvl>
                  <c:pt idx="0">
                    <c:v>American Tower</c:v>
                  </c:pt>
                  <c:pt idx="1">
                    <c:v>Crown Castle</c:v>
                  </c:pt>
                  <c:pt idx="2">
                    <c:v>SBA</c:v>
                  </c:pt>
                </c:lvl>
              </c:multiLvlStrCache>
            </c:multiLvlStrRef>
          </c:cat>
          <c:val>
            <c:numRef>
              <c:f>Sheet1!$B$2:$B$4</c:f>
              <c:numCache>
                <c:formatCode>General</c:formatCode>
                <c:ptCount val="3"/>
                <c:pt idx="0">
                  <c:v>-2</c:v>
                </c:pt>
                <c:pt idx="1">
                  <c:v>-22</c:v>
                </c:pt>
                <c:pt idx="2">
                  <c:v>-29</c:v>
                </c:pt>
              </c:numCache>
            </c:numRef>
          </c:val>
        </c:ser>
        <c:dLbls>
          <c:numFmt formatCode="0&quot;%&quot;" sourceLinked="0"/>
          <c:txPr>
            <a:bodyPr/>
            <a:lstStyle/>
            <a:p>
              <a:pPr>
                <a:defRPr b="0" i="0" strike="noStrike" sz="14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barChart>
      <c:catAx>
        <c:axId val="2094734554"/>
        <c:scaling>
          <c:orientation val="minMax"/>
        </c:scaling>
        <c:delete val="0"/>
        <c:axPos val="l"/>
        <c:numFmt formatCode="General" sourceLinked="1"/>
        <c:majorTickMark val="out"/>
        <c:minorTickMark val="none"/>
        <c:tickLblPos val="high"/>
        <c:spPr>
          <a:ln w="12700" cap="flat">
            <a:solidFill>
              <a:srgbClr val="888888"/>
            </a:solidFill>
            <a:prstDash val="solid"/>
            <a:round/>
          </a:ln>
        </c:spPr>
        <c:txPr>
          <a:bodyPr/>
          <a:lstStyle/>
          <a:p>
            <a:pPr>
              <a:defRPr sz="13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DCE1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Annual revenue, US$ billions (SBA scale)</a:t>
            </a:r>
          </a:p>
        </c:rich>
      </c:tx>
      <c:layout/>
      <c:overlay val="0"/>
    </c:title>
    <c:autoTitleDeleted val="0"/>
    <c:plotArea>
      <c:layout/>
      <c:barChart>
        <c:barDir val="col"/>
        <c:grouping val="clustered"/>
        <c:varyColors val="0"/>
        <c:ser>
          <c:idx val="0"/>
          <c:order val="0"/>
          <c:tx>
            <c:strRef>
              <c:f>Sheet1!$B$1</c:f>
              <c:strCache>
                <c:ptCount val="1"/>
                <c:pt idx="0">
                  <c:v>Core tower business</c:v>
                </c:pt>
              </c:strCache>
            </c:strRef>
          </c:tx>
          <c:spPr>
            <a:solidFill>
              <a:srgbClr val="8AA1B8"/>
            </a:solidFill>
            <a:effectLst/>
          </c:spPr>
          <c:invertIfNegative val="0"/>
          <c:dLbls>
            <c:numFmt formatCode="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cat>
            <c:multiLvlStrRef>
              <c:f>Sheet1!$A$2:$A$5</c:f>
              <c:multiLvlStrCache>
                <c:ptCount val="4"/>
                <c:lvl>
                  <c:pt idx="0">
                    <c:v>Year 3</c:v>
                  </c:pt>
                  <c:pt idx="1">
                    <c:v>Year 5</c:v>
                  </c:pt>
                  <c:pt idx="2">
                    <c:v>Year 8</c:v>
                  </c:pt>
                  <c:pt idx="3">
                    <c:v>Year 12</c:v>
                  </c:pt>
                </c:lvl>
              </c:multiLvlStrCache>
            </c:multiLvlStrRef>
          </c:cat>
          <c:val>
            <c:numRef>
              <c:f>Sheet1!$B$2:$B$5</c:f>
              <c:numCache>
                <c:formatCode>General</c:formatCode>
                <c:ptCount val="4"/>
                <c:pt idx="0">
                  <c:v>3.1</c:v>
                </c:pt>
                <c:pt idx="1">
                  <c:v>3.3</c:v>
                </c:pt>
                <c:pt idx="2">
                  <c:v>3.62</c:v>
                </c:pt>
                <c:pt idx="3">
                  <c:v>4.07</c:v>
                </c:pt>
              </c:numCache>
            </c:numRef>
          </c:val>
        </c:ser>
        <c:ser>
          <c:idx val="1"/>
          <c:order val="1"/>
          <c:tx>
            <c:strRef>
              <c:f>Sheet1!$C$1</c:f>
              <c:strCache>
                <c:ptCount val="1"/>
                <c:pt idx="0">
                  <c:v>New business target</c:v>
                </c:pt>
              </c:strCache>
            </c:strRef>
          </c:tx>
          <c:spPr>
            <a:solidFill>
              <a:srgbClr val="F4A300"/>
            </a:solidFill>
            <a:effectLst/>
          </c:spPr>
          <c:invertIfNegative val="0"/>
          <c:dLbls>
            <c:numFmt formatCode="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cat>
            <c:multiLvlStrRef>
              <c:f>Sheet1!$A$2:$A$5</c:f>
              <c:multiLvlStrCache>
                <c:ptCount val="4"/>
                <c:lvl>
                  <c:pt idx="0">
                    <c:v>Year 3</c:v>
                  </c:pt>
                  <c:pt idx="1">
                    <c:v>Year 5</c:v>
                  </c:pt>
                  <c:pt idx="2">
                    <c:v>Year 8</c:v>
                  </c:pt>
                  <c:pt idx="3">
                    <c:v>Year 12</c:v>
                  </c:pt>
                </c:lvl>
              </c:multiLvlStrCache>
            </c:multiLvlStrRef>
          </c:cat>
          <c:val>
            <c:numRef>
              <c:f>Sheet1!$C$2:$C$5</c:f>
              <c:numCache>
                <c:formatCode>General</c:formatCode>
                <c:ptCount val="4"/>
                <c:pt idx="0">
                  <c:v>0.17</c:v>
                </c:pt>
                <c:pt idx="1">
                  <c:v>0.51</c:v>
                </c:pt>
                <c:pt idx="2">
                  <c:v>1.57</c:v>
                </c:pt>
                <c:pt idx="3">
                  <c:v>4.07</c:v>
                </c:pt>
              </c:numCache>
            </c:numRef>
          </c:val>
        </c:ser>
        <c:dLbls>
          <c:numFmt formatCode="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C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4213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summarizes the study: first the diagnosis of the tower market, then the growth ambition we defined, then the business ideas with the most potential, ordered by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tower business is still excellent but no longer a growth engine. The best replacement candidates apply the same playbook (shared asset, long contracts, acquired scale) to new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economics: once a tower is built, each new tenant is almost pure margin. Most of today's scale was acquired from carriers through sale-leasebacks, and the margin took two decades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benefits still exist. What changed is the number of carriers, how much they share among themselves, and their capex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Consolidation and RAN sharing are structural: they permanently reduce tenants per site. The capex cycle and interest rates are cyclical. DISH shows that long contracts protect less than assumed when a tenant exits.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end-2022 the three US tower REITs lagged the market badly. 2026 guidance shows organic growth close to zero once DISH is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premise that 5G needs fewer tall towers is only partly true. The tower stays, but growth from it is ending, and the new money is in energy, indoor, edge compute and satellite.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business as large as one that took 30 years is unrealistic in 5. So the target rises in steps. The decisive one is year 5: about half a billion dollars of revenue with 45% or more EBITDA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13 ideas tested, this tension appeared every time. The most promising ideas are those that close the gap: they reuse our assets and customers and have a credible route to scale through acquisition.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1 ideas reuse what we already have and can start with low capital. Tier 2 ideas need an acquisition pipeline. Tier 3 ideas are options to keep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purest tower economics of all ideas: no purchase price, minimal capex, high incremental margin. Its revenue pool starts small, so it is the foundation, not the whole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is the operators' number one pain. Owning the battery layer makes us their energy partner and opens a second customer, the grid, for the same asset.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rated the strongest idea from a fit perspective in the second round: current customer, clear acquisition route. It is a pipeline play: value depends on buying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idea has the largest upside but the heaviest capital. The tower lesson that applies is scarcity: whoever controls connected, permitted land controls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options need either a large acquisition or a technology cycle that is still forming. Keep them on the radar with low-cost monitoring and partnerships.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two low-capital ideas to prove demand and margins, build the acquisition pipeline in parallel, and only commit large capital once pilots confirm the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11880"/>
            <a:ext cx="10515600" cy="109728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49040"/>
            <a:ext cx="10515600" cy="82296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Beyond Tower Sharing  |  Business Model Lab</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4.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Beyond Tower Sharing</a:t>
            </a:r>
            <a:endParaRPr lang="en-US" sz="4400" dirty="0"/>
          </a:p>
        </p:txBody>
      </p:sp>
      <p:sp>
        <p:nvSpPr>
          <p:cNvPr id="3" name="Text 0"/>
          <p:cNvSpPr/>
          <p:nvPr>
            <p:ph idx="101" type="body" hasCustomPrompt="1"/>
          </p:nvPr>
        </p:nvSpPr>
        <p:spPr>
          <a:xfrm>
            <a:off x="731520" y="3611880"/>
            <a:ext cx="10515600" cy="1097280"/>
          </a:xfrm>
          <a:prstGeom prst="rect">
            <a:avLst/>
          </a:prstGeom>
          <a:noFill/>
          <a:ln/>
        </p:spPr>
        <p:txBody>
          <a:bodyPr wrap="square" rtlCol="0" anchor="t"/>
          <a:lstStyle/>
          <a:p>
            <a:pPr algn="l" indent="0" marL="0">
              <a:buNone/>
            </a:pPr>
            <a:r>
              <a:rPr lang="en-US" sz="2000" dirty="0">
                <a:solidFill>
                  <a:schemeClr val="accent1"/>
                </a:solidFill>
              </a:rPr>
              <a:t>Why tower growth is slowing, and the business ideas with the most potential to transform the company</a:t>
            </a:r>
            <a:endParaRPr lang="en-US" sz="2000" dirty="0"/>
          </a:p>
        </p:txBody>
      </p:sp>
      <p:sp>
        <p:nvSpPr>
          <p:cNvPr id="4" name="Tower circle"/>
          <p:cNvSpPr/>
          <p:nvPr/>
        </p:nvSpPr>
        <p:spPr>
          <a:xfrm>
            <a:off x="731520" y="822960"/>
            <a:ext cx="914400" cy="914400"/>
          </a:xfrm>
          <a:prstGeom prst="ellipse">
            <a:avLst/>
          </a:prstGeom>
          <a:solidFill>
            <a:srgbClr val="F4A300"/>
          </a:solidFill>
          <a:ln w="12700">
            <a:solidFill>
              <a:srgbClr val="F4A300"/>
            </a:solidFill>
            <a:prstDash val="solid"/>
          </a:ln>
        </p:spPr>
      </p:sp>
      <p:pic>
        <p:nvPicPr>
          <p:cNvPr id="5" name="Tower icon" descr="Tower">    </p:cNvPr>
          <p:cNvPicPr>
            <a:picLocks noChangeAspect="1"/>
          </p:cNvPicPr>
          <p:nvPr/>
        </p:nvPicPr>
        <p:blipFill>
          <a:blip r:embed="rId1"/>
          <a:stretch>
            <a:fillRect/>
          </a:stretch>
        </p:blipFill>
        <p:spPr>
          <a:xfrm>
            <a:off x="960120" y="1051560"/>
            <a:ext cx="457200" cy="457200"/>
          </a:xfrm>
          <a:prstGeom prst="rect">
            <a:avLst/>
          </a:prstGeom>
        </p:spPr>
      </p:pic>
      <p:sp>
        <p:nvSpPr>
          <p:cNvPr id="6" name="Text 3"/>
          <p:cNvSpPr txBox="1"/>
          <p:nvPr/>
        </p:nvSpPr>
        <p:spPr>
          <a:xfrm>
            <a:off x="731520" y="5943600"/>
            <a:ext cx="10515600" cy="365760"/>
          </a:xfrm>
          <a:prstGeom prst="rect">
            <a:avLst/>
          </a:prstGeom>
          <a:noFill/>
          <a:ln/>
        </p:spPr>
        <p:txBody>
          <a:bodyPr wrap="square" lIns="0" tIns="0" rIns="0" bIns="0" rtlCol="0" anchor="t"/>
          <a:lstStyle/>
          <a:p>
            <a:pPr indent="0" marL="0">
              <a:buNone/>
            </a:pPr>
            <a:r>
              <a:rPr lang="en-US" sz="1400" dirty="0">
                <a:solidFill>
                  <a:schemeClr val="accent5"/>
                </a:solidFill>
              </a:rPr>
              <a:t>Strategy study  |  Reference company: SBA Communications (~44k sites, ~US$ 2.85B revenue)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Executive summary</a:t>
            </a:r>
            <a:endParaRPr lang="en-US" sz="2800" dirty="0"/>
          </a:p>
        </p:txBody>
      </p:sp>
      <p:sp>
        <p:nvSpPr>
          <p:cNvPr id="3" name="Summary card 1"/>
          <p:cNvSpPr/>
          <p:nvPr/>
        </p:nvSpPr>
        <p:spPr>
          <a:xfrm>
            <a:off x="548640" y="1417320"/>
            <a:ext cx="2606040" cy="4023360"/>
          </a:xfrm>
          <a:prstGeom prst="roundRect">
            <a:avLst>
              <a:gd name="adj" fmla="val 4211"/>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4" name="The engine is slowing circle"/>
          <p:cNvSpPr/>
          <p:nvPr/>
        </p:nvSpPr>
        <p:spPr>
          <a:xfrm>
            <a:off x="822960" y="1691640"/>
            <a:ext cx="731520" cy="731520"/>
          </a:xfrm>
          <a:prstGeom prst="ellipse">
            <a:avLst/>
          </a:prstGeom>
          <a:solidFill>
            <a:srgbClr val="14213D"/>
          </a:solidFill>
          <a:ln w="12700">
            <a:solidFill>
              <a:srgbClr val="14213D"/>
            </a:solidFill>
            <a:prstDash val="solid"/>
          </a:ln>
        </p:spPr>
      </p:sp>
      <p:pic>
        <p:nvPicPr>
          <p:cNvPr id="5" name="The engine is slowing icon" descr="The engine is slowing">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822960" y="2651760"/>
            <a:ext cx="2103120" cy="73152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The engine is slowing</a:t>
            </a:r>
            <a:endParaRPr lang="en-US" sz="1800" dirty="0"/>
          </a:p>
        </p:txBody>
      </p:sp>
      <p:sp>
        <p:nvSpPr>
          <p:cNvPr id="7" name="Text 4"/>
          <p:cNvSpPr txBox="1"/>
          <p:nvPr/>
        </p:nvSpPr>
        <p:spPr>
          <a:xfrm>
            <a:off x="822960" y="3429000"/>
            <a:ext cx="2103120" cy="2286000"/>
          </a:xfrm>
          <a:prstGeom prst="rect">
            <a:avLst/>
          </a:prstGeom>
          <a:noFill/>
          <a:ln/>
        </p:spPr>
        <p:txBody>
          <a:bodyPr wrap="square" lIns="0" tIns="0" rIns="0" bIns="0" rtlCol="0" anchor="t"/>
          <a:lstStyle/>
          <a:p>
            <a:pPr indent="0" marL="0">
              <a:buNone/>
            </a:pPr>
            <a:r>
              <a:rPr lang="en-US" sz="1400" dirty="0">
                <a:solidFill>
                  <a:schemeClr val="tx1"/>
                </a:solidFill>
              </a:rPr>
              <a:t>Carrier consolidation, RAN sharing, the end of the 5G capex wave and tenant defaults have cut organic tower growth to low single digits.</a:t>
            </a:r>
            <a:endParaRPr lang="en-US" sz="1400" dirty="0"/>
          </a:p>
        </p:txBody>
      </p:sp>
      <p:sp>
        <p:nvSpPr>
          <p:cNvPr id="8" name="Summary card 2"/>
          <p:cNvSpPr/>
          <p:nvPr/>
        </p:nvSpPr>
        <p:spPr>
          <a:xfrm>
            <a:off x="3364992" y="1417320"/>
            <a:ext cx="2606040" cy="4023360"/>
          </a:xfrm>
          <a:prstGeom prst="roundRect">
            <a:avLst>
              <a:gd name="adj" fmla="val 4211"/>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9" name="5G did not kill the tower circle"/>
          <p:cNvSpPr/>
          <p:nvPr/>
        </p:nvSpPr>
        <p:spPr>
          <a:xfrm>
            <a:off x="3639312" y="1691640"/>
            <a:ext cx="731520" cy="731520"/>
          </a:xfrm>
          <a:prstGeom prst="ellipse">
            <a:avLst/>
          </a:prstGeom>
          <a:solidFill>
            <a:srgbClr val="14213D"/>
          </a:solidFill>
          <a:ln w="12700">
            <a:solidFill>
              <a:srgbClr val="14213D"/>
            </a:solidFill>
            <a:prstDash val="solid"/>
          </a:ln>
        </p:spPr>
      </p:sp>
      <p:pic>
        <p:nvPicPr>
          <p:cNvPr id="10" name="5G did not kill the tower icon" descr="5G did not kill the tower">    </p:cNvPr>
          <p:cNvPicPr>
            <a:picLocks noChangeAspect="1"/>
          </p:cNvPicPr>
          <p:nvPr/>
        </p:nvPicPr>
        <p:blipFill>
          <a:blip r:embed="rId2"/>
          <a:stretch>
            <a:fillRect/>
          </a:stretch>
        </p:blipFill>
        <p:spPr>
          <a:xfrm>
            <a:off x="3822192" y="1874520"/>
            <a:ext cx="365760" cy="365760"/>
          </a:xfrm>
          <a:prstGeom prst="rect">
            <a:avLst/>
          </a:prstGeom>
        </p:spPr>
      </p:pic>
      <p:sp>
        <p:nvSpPr>
          <p:cNvPr id="11" name="Text 7"/>
          <p:cNvSpPr txBox="1"/>
          <p:nvPr/>
        </p:nvSpPr>
        <p:spPr>
          <a:xfrm>
            <a:off x="3639312" y="2651760"/>
            <a:ext cx="2103120" cy="73152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5G did not kill the tower</a:t>
            </a:r>
            <a:endParaRPr lang="en-US" sz="1800" dirty="0"/>
          </a:p>
        </p:txBody>
      </p:sp>
      <p:sp>
        <p:nvSpPr>
          <p:cNvPr id="12" name="Text 8"/>
          <p:cNvSpPr txBox="1"/>
          <p:nvPr/>
        </p:nvSpPr>
        <p:spPr>
          <a:xfrm>
            <a:off x="3639312" y="3429000"/>
            <a:ext cx="2103120" cy="2286000"/>
          </a:xfrm>
          <a:prstGeom prst="rect">
            <a:avLst/>
          </a:prstGeom>
          <a:noFill/>
          <a:ln/>
        </p:spPr>
        <p:txBody>
          <a:bodyPr wrap="square" lIns="0" tIns="0" rIns="0" bIns="0" rtlCol="0" anchor="t"/>
          <a:lstStyle/>
          <a:p>
            <a:pPr indent="0" marL="0">
              <a:buNone/>
            </a:pPr>
            <a:r>
              <a:rPr lang="en-US" sz="1400" dirty="0">
                <a:solidFill>
                  <a:schemeClr val="tx1"/>
                </a:solidFill>
              </a:rPr>
              <a:t>Mid-band 5G runs on existing macro sites. But new demand is moving to energy, indoor, edge compute and non-telecom users.</a:t>
            </a:r>
            <a:endParaRPr lang="en-US" sz="1400" dirty="0"/>
          </a:p>
        </p:txBody>
      </p:sp>
      <p:sp>
        <p:nvSpPr>
          <p:cNvPr id="13" name="Summary card 3"/>
          <p:cNvSpPr/>
          <p:nvPr/>
        </p:nvSpPr>
        <p:spPr>
          <a:xfrm>
            <a:off x="6181344" y="1417320"/>
            <a:ext cx="2606040" cy="4023360"/>
          </a:xfrm>
          <a:prstGeom prst="roundRect">
            <a:avLst>
              <a:gd name="adj" fmla="val 4211"/>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14" name="The bar is high circle"/>
          <p:cNvSpPr/>
          <p:nvPr/>
        </p:nvSpPr>
        <p:spPr>
          <a:xfrm>
            <a:off x="6455664" y="1691640"/>
            <a:ext cx="731520" cy="731520"/>
          </a:xfrm>
          <a:prstGeom prst="ellipse">
            <a:avLst/>
          </a:prstGeom>
          <a:solidFill>
            <a:srgbClr val="14213D"/>
          </a:solidFill>
          <a:ln w="12700">
            <a:solidFill>
              <a:srgbClr val="14213D"/>
            </a:solidFill>
            <a:prstDash val="solid"/>
          </a:ln>
        </p:spPr>
      </p:sp>
      <p:pic>
        <p:nvPicPr>
          <p:cNvPr id="15" name="The bar is high icon" descr="The bar is high">    </p:cNvPr>
          <p:cNvPicPr>
            <a:picLocks noChangeAspect="1"/>
          </p:cNvPicPr>
          <p:nvPr/>
        </p:nvPicPr>
        <p:blipFill>
          <a:blip r:embed="rId3"/>
          <a:stretch>
            <a:fillRect/>
          </a:stretch>
        </p:blipFill>
        <p:spPr>
          <a:xfrm>
            <a:off x="6638544" y="1874520"/>
            <a:ext cx="365760" cy="365760"/>
          </a:xfrm>
          <a:prstGeom prst="rect">
            <a:avLst/>
          </a:prstGeom>
        </p:spPr>
      </p:pic>
      <p:sp>
        <p:nvSpPr>
          <p:cNvPr id="16" name="Text 11"/>
          <p:cNvSpPr txBox="1"/>
          <p:nvPr/>
        </p:nvSpPr>
        <p:spPr>
          <a:xfrm>
            <a:off x="6455664" y="2651760"/>
            <a:ext cx="2103120" cy="73152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The bar is high</a:t>
            </a:r>
            <a:endParaRPr lang="en-US" sz="1800" dirty="0"/>
          </a:p>
        </p:txBody>
      </p:sp>
      <p:sp>
        <p:nvSpPr>
          <p:cNvPr id="17" name="Text 12"/>
          <p:cNvSpPr txBox="1"/>
          <p:nvPr/>
        </p:nvSpPr>
        <p:spPr>
          <a:xfrm>
            <a:off x="6455664" y="3429000"/>
            <a:ext cx="2103120" cy="2286000"/>
          </a:xfrm>
          <a:prstGeom prst="rect">
            <a:avLst/>
          </a:prstGeom>
          <a:noFill/>
          <a:ln/>
        </p:spPr>
        <p:txBody>
          <a:bodyPr wrap="square" lIns="0" tIns="0" rIns="0" bIns="0" rtlCol="0" anchor="t"/>
          <a:lstStyle/>
          <a:p>
            <a:pPr indent="0" marL="0">
              <a:buNone/>
            </a:pPr>
            <a:r>
              <a:rPr lang="en-US" sz="1400" dirty="0">
                <a:solidFill>
                  <a:schemeClr val="tx1"/>
                </a:solidFill>
              </a:rPr>
              <a:t>To become the main growth engine, a new business needs ~US$ 0.5B revenue by year 5 and tower-like margins over time.</a:t>
            </a:r>
            <a:endParaRPr lang="en-US" sz="1400" dirty="0"/>
          </a:p>
        </p:txBody>
      </p:sp>
      <p:sp>
        <p:nvSpPr>
          <p:cNvPr id="18" name="Summary card 4"/>
          <p:cNvSpPr/>
          <p:nvPr/>
        </p:nvSpPr>
        <p:spPr>
          <a:xfrm>
            <a:off x="8997696" y="1417320"/>
            <a:ext cx="2606040" cy="4023360"/>
          </a:xfrm>
          <a:prstGeom prst="roundRect">
            <a:avLst>
              <a:gd name="adj" fmla="val 4211"/>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19" name="Seven ideas stand out circle"/>
          <p:cNvSpPr/>
          <p:nvPr/>
        </p:nvSpPr>
        <p:spPr>
          <a:xfrm>
            <a:off x="9272016" y="1691640"/>
            <a:ext cx="731520" cy="731520"/>
          </a:xfrm>
          <a:prstGeom prst="ellipse">
            <a:avLst/>
          </a:prstGeom>
          <a:solidFill>
            <a:srgbClr val="14213D"/>
          </a:solidFill>
          <a:ln w="12700">
            <a:solidFill>
              <a:srgbClr val="14213D"/>
            </a:solidFill>
            <a:prstDash val="solid"/>
          </a:ln>
        </p:spPr>
      </p:sp>
      <p:pic>
        <p:nvPicPr>
          <p:cNvPr id="20" name="Seven ideas stand out icon" descr="Seven ideas stand out">    </p:cNvPr>
          <p:cNvPicPr>
            <a:picLocks noChangeAspect="1"/>
          </p:cNvPicPr>
          <p:nvPr/>
        </p:nvPicPr>
        <p:blipFill>
          <a:blip r:embed="rId4"/>
          <a:stretch>
            <a:fillRect/>
          </a:stretch>
        </p:blipFill>
        <p:spPr>
          <a:xfrm>
            <a:off x="9454896" y="1874520"/>
            <a:ext cx="365760" cy="365760"/>
          </a:xfrm>
          <a:prstGeom prst="rect">
            <a:avLst/>
          </a:prstGeom>
        </p:spPr>
      </p:pic>
      <p:sp>
        <p:nvSpPr>
          <p:cNvPr id="21" name="Text 15"/>
          <p:cNvSpPr txBox="1"/>
          <p:nvPr/>
        </p:nvSpPr>
        <p:spPr>
          <a:xfrm>
            <a:off x="9272016" y="2651760"/>
            <a:ext cx="2103120" cy="73152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Seven ideas stand out</a:t>
            </a:r>
            <a:endParaRPr lang="en-US" sz="1800" dirty="0"/>
          </a:p>
        </p:txBody>
      </p:sp>
      <p:sp>
        <p:nvSpPr>
          <p:cNvPr id="22" name="Text 16"/>
          <p:cNvSpPr txBox="1"/>
          <p:nvPr/>
        </p:nvSpPr>
        <p:spPr>
          <a:xfrm>
            <a:off x="9272016" y="3429000"/>
            <a:ext cx="2103120" cy="2286000"/>
          </a:xfrm>
          <a:prstGeom prst="rect">
            <a:avLst/>
          </a:prstGeom>
          <a:noFill/>
          <a:ln/>
        </p:spPr>
        <p:txBody>
          <a:bodyPr wrap="square" lIns="0" tIns="0" rIns="0" bIns="0" rtlCol="0" anchor="t"/>
          <a:lstStyle/>
          <a:p>
            <a:pPr indent="0" marL="0">
              <a:buNone/>
            </a:pPr>
            <a:r>
              <a:rPr lang="en-US" sz="1400" dirty="0">
                <a:solidFill>
                  <a:schemeClr val="tx1"/>
                </a:solidFill>
              </a:rPr>
              <a:t>Two to start now, two to build a pipeline for, three to hold as strategic options. All reuse the tower playbook on a new asset.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Why tower growth is slowing</a:t>
            </a:r>
            <a:endParaRPr lang="en-US" sz="4000" dirty="0"/>
          </a:p>
        </p:txBody>
      </p:sp>
      <p:sp>
        <p:nvSpPr>
          <p:cNvPr id="3" name="Text 0"/>
          <p:cNvSpPr/>
          <p:nvPr>
            <p:ph idx="101" type="body" hasCustomPrompt="1"/>
          </p:nvPr>
        </p:nvSpPr>
        <p:spPr>
          <a:xfrm>
            <a:off x="731520" y="3749040"/>
            <a:ext cx="10515600" cy="822960"/>
          </a:xfrm>
          <a:prstGeom prst="rect">
            <a:avLst/>
          </a:prstGeom>
          <a:noFill/>
          <a:ln/>
        </p:spPr>
        <p:txBody>
          <a:bodyPr wrap="square" rtlCol="0" anchor="t"/>
          <a:lstStyle/>
          <a:p>
            <a:pPr algn="l" indent="0" marL="0">
              <a:buNone/>
            </a:pPr>
            <a:r>
              <a:rPr lang="en-US" sz="1800" dirty="0">
                <a:solidFill>
                  <a:schemeClr val="accent5"/>
                </a:solidFill>
              </a:rPr>
              <a:t>Part 1  |  The model, what carriers buy, and the headwinds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Shared steel became a 67% margin business</a:t>
            </a:r>
            <a:endParaRPr lang="en-US" sz="2800" dirty="0"/>
          </a:p>
        </p:txBody>
      </p:sp>
      <p:graphicFrame>
        <p:nvGraphicFramePr>
          <p:cNvPr id="3" name="Chart 0" descr=""/>
          <p:cNvGraphicFramePr/>
          <p:nvPr/>
        </p:nvGraphicFramePr>
        <p:xfrm>
          <a:off x="548640" y="1371600"/>
          <a:ext cx="4937760" cy="4480560"/>
        </p:xfrm>
        <a:graphic xmlns:a="http://schemas.openxmlformats.org/drawingml/2006/main">
          <a:graphicData uri="http://schemas.openxmlformats.org/drawingml/2006/chart">
            <c:chart xmlns:c="http://schemas.openxmlformats.org/drawingml/2006/chart" r:id="rId1"/>
          </a:graphicData>
        </a:graphic>
      </p:graphicFrame>
      <p:sp>
        <p:nvSpPr>
          <p:cNvPr id="4" name="Driver marker 1"/>
          <p:cNvSpPr/>
          <p:nvPr/>
        </p:nvSpPr>
        <p:spPr>
          <a:xfrm>
            <a:off x="5943600" y="1417320"/>
            <a:ext cx="384048" cy="384048"/>
          </a:xfrm>
          <a:prstGeom prst="ellipse">
            <a:avLst/>
          </a:prstGeom>
          <a:solidFill>
            <a:srgbClr val="14213D"/>
          </a:solidFill>
          <a:ln w="12700">
            <a:solidFill>
              <a:srgbClr val="14213D"/>
            </a:solidFill>
            <a:prstDash val="solid"/>
          </a:ln>
        </p:spPr>
      </p:sp>
      <p:sp>
        <p:nvSpPr>
          <p:cNvPr id="5" name="Text 2"/>
          <p:cNvSpPr txBox="1"/>
          <p:nvPr/>
        </p:nvSpPr>
        <p:spPr>
          <a:xfrm>
            <a:off x="5943600" y="141732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6" name="Text 3"/>
          <p:cNvSpPr txBox="1"/>
          <p:nvPr/>
        </p:nvSpPr>
        <p:spPr>
          <a:xfrm>
            <a:off x="6492240" y="1371600"/>
            <a:ext cx="5120640" cy="731520"/>
          </a:xfrm>
          <a:prstGeom prst="rect">
            <a:avLst/>
          </a:prstGeom>
          <a:noFill/>
          <a:ln/>
        </p:spPr>
        <p:txBody>
          <a:bodyPr wrap="square" lIns="0" tIns="0" rIns="0" bIns="0" rtlCol="0" anchor="t"/>
          <a:lstStyle/>
          <a:p>
            <a:pPr indent="0" marL="0">
              <a:buNone/>
            </a:pPr>
            <a:r>
              <a:rPr lang="en-US" sz="1400" b="1" dirty="0">
                <a:solidFill>
                  <a:schemeClr val="tx2"/>
                </a:solidFill>
              </a:rPr>
              <a:t>Near-zero marginal cost</a:t>
            </a:r>
            <a:endParaRPr lang="en-US" sz="1400" dirty="0"/>
          </a:p>
          <a:p>
            <a:pPr indent="0" marL="0">
              <a:buNone/>
            </a:pPr>
            <a:r>
              <a:rPr lang="en-US" sz="1400" dirty="0">
                <a:solidFill>
                  <a:schemeClr val="tx1"/>
                </a:solidFill>
              </a:rPr>
              <a:t>A second or third tenant adds rent with almost no added cost</a:t>
            </a:r>
            <a:endParaRPr lang="en-US" sz="1400" dirty="0"/>
          </a:p>
        </p:txBody>
      </p:sp>
      <p:sp>
        <p:nvSpPr>
          <p:cNvPr id="7" name="Driver marker 2"/>
          <p:cNvSpPr/>
          <p:nvPr/>
        </p:nvSpPr>
        <p:spPr>
          <a:xfrm>
            <a:off x="5943600" y="2176272"/>
            <a:ext cx="384048" cy="384048"/>
          </a:xfrm>
          <a:prstGeom prst="ellipse">
            <a:avLst/>
          </a:prstGeom>
          <a:solidFill>
            <a:srgbClr val="14213D"/>
          </a:solidFill>
          <a:ln w="12700">
            <a:solidFill>
              <a:srgbClr val="14213D"/>
            </a:solidFill>
            <a:prstDash val="solid"/>
          </a:ln>
        </p:spPr>
      </p:sp>
      <p:sp>
        <p:nvSpPr>
          <p:cNvPr id="8" name="Text 5"/>
          <p:cNvSpPr txBox="1"/>
          <p:nvPr/>
        </p:nvSpPr>
        <p:spPr>
          <a:xfrm>
            <a:off x="5943600" y="2176272"/>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9" name="Text 6"/>
          <p:cNvSpPr txBox="1"/>
          <p:nvPr/>
        </p:nvSpPr>
        <p:spPr>
          <a:xfrm>
            <a:off x="6492240" y="2130552"/>
            <a:ext cx="5120640" cy="731520"/>
          </a:xfrm>
          <a:prstGeom prst="rect">
            <a:avLst/>
          </a:prstGeom>
          <a:noFill/>
          <a:ln/>
        </p:spPr>
        <p:txBody>
          <a:bodyPr wrap="square" lIns="0" tIns="0" rIns="0" bIns="0" rtlCol="0" anchor="t"/>
          <a:lstStyle/>
          <a:p>
            <a:pPr indent="0" marL="0">
              <a:buNone/>
            </a:pPr>
            <a:r>
              <a:rPr lang="en-US" sz="1400" b="1" dirty="0">
                <a:solidFill>
                  <a:schemeClr val="tx2"/>
                </a:solidFill>
              </a:rPr>
              <a:t>Long contracts</a:t>
            </a:r>
            <a:endParaRPr lang="en-US" sz="1400" dirty="0"/>
          </a:p>
          <a:p>
            <a:pPr indent="0" marL="0">
              <a:buNone/>
            </a:pPr>
            <a:r>
              <a:rPr lang="en-US" sz="1400" dirty="0">
                <a:solidFill>
                  <a:schemeClr val="tx1"/>
                </a:solidFill>
              </a:rPr>
              <a:t>10 to 15 years with automatic escalators and high exit penalties</a:t>
            </a:r>
            <a:endParaRPr lang="en-US" sz="1400" dirty="0"/>
          </a:p>
        </p:txBody>
      </p:sp>
      <p:sp>
        <p:nvSpPr>
          <p:cNvPr id="10" name="Driver marker 3"/>
          <p:cNvSpPr/>
          <p:nvPr/>
        </p:nvSpPr>
        <p:spPr>
          <a:xfrm>
            <a:off x="5943600" y="2935224"/>
            <a:ext cx="384048" cy="384048"/>
          </a:xfrm>
          <a:prstGeom prst="ellipse">
            <a:avLst/>
          </a:prstGeom>
          <a:solidFill>
            <a:srgbClr val="14213D"/>
          </a:solidFill>
          <a:ln w="12700">
            <a:solidFill>
              <a:srgbClr val="14213D"/>
            </a:solidFill>
            <a:prstDash val="solid"/>
          </a:ln>
        </p:spPr>
      </p:sp>
      <p:sp>
        <p:nvSpPr>
          <p:cNvPr id="11" name="Text 8"/>
          <p:cNvSpPr txBox="1"/>
          <p:nvPr/>
        </p:nvSpPr>
        <p:spPr>
          <a:xfrm>
            <a:off x="5943600" y="2935224"/>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12" name="Text 9"/>
          <p:cNvSpPr txBox="1"/>
          <p:nvPr/>
        </p:nvSpPr>
        <p:spPr>
          <a:xfrm>
            <a:off x="6492240" y="2889504"/>
            <a:ext cx="5120640" cy="731520"/>
          </a:xfrm>
          <a:prstGeom prst="rect">
            <a:avLst/>
          </a:prstGeom>
          <a:noFill/>
          <a:ln/>
        </p:spPr>
        <p:txBody>
          <a:bodyPr wrap="square" lIns="0" tIns="0" rIns="0" bIns="0" rtlCol="0" anchor="t"/>
          <a:lstStyle/>
          <a:p>
            <a:pPr indent="0" marL="0">
              <a:buNone/>
            </a:pPr>
            <a:r>
              <a:rPr lang="en-US" sz="1400" b="1" dirty="0">
                <a:solidFill>
                  <a:schemeClr val="tx2"/>
                </a:solidFill>
              </a:rPr>
              <a:t>High switching cost</a:t>
            </a:r>
            <a:endParaRPr lang="en-US" sz="1400" dirty="0"/>
          </a:p>
          <a:p>
            <a:pPr indent="0" marL="0">
              <a:buNone/>
            </a:pPr>
            <a:r>
              <a:rPr lang="en-US" sz="1400" dirty="0">
                <a:solidFill>
                  <a:schemeClr val="tx1"/>
                </a:solidFill>
              </a:rPr>
              <a:t>Moving means new permits, works and downtime; zoning blocks rivals</a:t>
            </a:r>
            <a:endParaRPr lang="en-US" sz="1400" dirty="0"/>
          </a:p>
        </p:txBody>
      </p:sp>
      <p:sp>
        <p:nvSpPr>
          <p:cNvPr id="13" name="Driver marker 4"/>
          <p:cNvSpPr/>
          <p:nvPr/>
        </p:nvSpPr>
        <p:spPr>
          <a:xfrm>
            <a:off x="5943600" y="3694176"/>
            <a:ext cx="384048" cy="384048"/>
          </a:xfrm>
          <a:prstGeom prst="ellipse">
            <a:avLst/>
          </a:prstGeom>
          <a:solidFill>
            <a:srgbClr val="14213D"/>
          </a:solidFill>
          <a:ln w="12700">
            <a:solidFill>
              <a:srgbClr val="14213D"/>
            </a:solidFill>
            <a:prstDash val="solid"/>
          </a:ln>
        </p:spPr>
      </p:sp>
      <p:sp>
        <p:nvSpPr>
          <p:cNvPr id="14" name="Text 11"/>
          <p:cNvSpPr txBox="1"/>
          <p:nvPr/>
        </p:nvSpPr>
        <p:spPr>
          <a:xfrm>
            <a:off x="5943600" y="3694176"/>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15" name="Text 12"/>
          <p:cNvSpPr txBox="1"/>
          <p:nvPr/>
        </p:nvSpPr>
        <p:spPr>
          <a:xfrm>
            <a:off x="6492240" y="3648456"/>
            <a:ext cx="5120640" cy="731520"/>
          </a:xfrm>
          <a:prstGeom prst="rect">
            <a:avLst/>
          </a:prstGeom>
          <a:noFill/>
          <a:ln/>
        </p:spPr>
        <p:txBody>
          <a:bodyPr wrap="square" lIns="0" tIns="0" rIns="0" bIns="0" rtlCol="0" anchor="t"/>
          <a:lstStyle/>
          <a:p>
            <a:pPr indent="0" marL="0">
              <a:buNone/>
            </a:pPr>
            <a:r>
              <a:rPr lang="en-US" sz="1400" b="1" dirty="0">
                <a:solidFill>
                  <a:schemeClr val="tx2"/>
                </a:solidFill>
              </a:rPr>
              <a:t>Low maintenance capex</a:t>
            </a:r>
            <a:endParaRPr lang="en-US" sz="1400" dirty="0"/>
          </a:p>
          <a:p>
            <a:pPr indent="0" marL="0">
              <a:buNone/>
            </a:pPr>
            <a:r>
              <a:rPr lang="en-US" sz="1400" dirty="0">
                <a:solidFill>
                  <a:schemeClr val="tx1"/>
                </a:solidFill>
              </a:rPr>
              <a:t>Steel lasts decades; the electronics belong to the tenant</a:t>
            </a:r>
            <a:endParaRPr lang="en-US" sz="1400" dirty="0"/>
          </a:p>
        </p:txBody>
      </p:sp>
      <p:sp>
        <p:nvSpPr>
          <p:cNvPr id="16" name="Driver marker 5"/>
          <p:cNvSpPr/>
          <p:nvPr/>
        </p:nvSpPr>
        <p:spPr>
          <a:xfrm>
            <a:off x="5943600" y="4453128"/>
            <a:ext cx="384048" cy="384048"/>
          </a:xfrm>
          <a:prstGeom prst="ellipse">
            <a:avLst/>
          </a:prstGeom>
          <a:solidFill>
            <a:srgbClr val="14213D"/>
          </a:solidFill>
          <a:ln w="12700">
            <a:solidFill>
              <a:srgbClr val="14213D"/>
            </a:solidFill>
            <a:prstDash val="solid"/>
          </a:ln>
        </p:spPr>
      </p:sp>
      <p:sp>
        <p:nvSpPr>
          <p:cNvPr id="17" name="Text 14"/>
          <p:cNvSpPr txBox="1"/>
          <p:nvPr/>
        </p:nvSpPr>
        <p:spPr>
          <a:xfrm>
            <a:off x="5943600" y="4453128"/>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5</a:t>
            </a:r>
            <a:endParaRPr lang="en-US" sz="1400" dirty="0"/>
          </a:p>
        </p:txBody>
      </p:sp>
      <p:sp>
        <p:nvSpPr>
          <p:cNvPr id="18" name="Text 15"/>
          <p:cNvSpPr txBox="1"/>
          <p:nvPr/>
        </p:nvSpPr>
        <p:spPr>
          <a:xfrm>
            <a:off x="6492240" y="4407408"/>
            <a:ext cx="5120640" cy="731520"/>
          </a:xfrm>
          <a:prstGeom prst="rect">
            <a:avLst/>
          </a:prstGeom>
          <a:noFill/>
          <a:ln/>
        </p:spPr>
        <p:txBody>
          <a:bodyPr wrap="square" lIns="0" tIns="0" rIns="0" bIns="0" rtlCol="0" anchor="t"/>
          <a:lstStyle/>
          <a:p>
            <a:pPr indent="0" marL="0">
              <a:buNone/>
            </a:pPr>
            <a:r>
              <a:rPr lang="en-US" sz="1400" b="1" dirty="0">
                <a:solidFill>
                  <a:schemeClr val="tx2"/>
                </a:solidFill>
              </a:rPr>
              <a:t>Scale was bought</a:t>
            </a:r>
            <a:endParaRPr lang="en-US" sz="1400" dirty="0"/>
          </a:p>
          <a:p>
            <a:pPr indent="0" marL="0">
              <a:buNone/>
            </a:pPr>
            <a:r>
              <a:rPr lang="en-US" sz="1400" dirty="0">
                <a:solidFill>
                  <a:schemeClr val="tx1"/>
                </a:solidFill>
              </a:rPr>
              <a:t>Carriers sold their towers: Verizon 11.4k (2015), AT&amp;T 9.1k (2013), Telxius ~31k (2021)</a:t>
            </a:r>
            <a:endParaRPr lang="en-US" sz="1400" dirty="0"/>
          </a:p>
        </p:txBody>
      </p:sp>
      <p:sp>
        <p:nvSpPr>
          <p:cNvPr id="19" name="Driver marker 6"/>
          <p:cNvSpPr/>
          <p:nvPr/>
        </p:nvSpPr>
        <p:spPr>
          <a:xfrm>
            <a:off x="5943600" y="5212080"/>
            <a:ext cx="384048" cy="384048"/>
          </a:xfrm>
          <a:prstGeom prst="ellipse">
            <a:avLst/>
          </a:prstGeom>
          <a:solidFill>
            <a:srgbClr val="14213D"/>
          </a:solidFill>
          <a:ln w="12700">
            <a:solidFill>
              <a:srgbClr val="14213D"/>
            </a:solidFill>
            <a:prstDash val="solid"/>
          </a:ln>
        </p:spPr>
      </p:sp>
      <p:sp>
        <p:nvSpPr>
          <p:cNvPr id="20" name="Text 17"/>
          <p:cNvSpPr txBox="1"/>
          <p:nvPr/>
        </p:nvSpPr>
        <p:spPr>
          <a:xfrm>
            <a:off x="5943600" y="521208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6</a:t>
            </a:r>
            <a:endParaRPr lang="en-US" sz="1400" dirty="0"/>
          </a:p>
        </p:txBody>
      </p:sp>
      <p:sp>
        <p:nvSpPr>
          <p:cNvPr id="21" name="Text 18"/>
          <p:cNvSpPr txBox="1"/>
          <p:nvPr/>
        </p:nvSpPr>
        <p:spPr>
          <a:xfrm>
            <a:off x="6492240" y="5166360"/>
            <a:ext cx="5120640" cy="731520"/>
          </a:xfrm>
          <a:prstGeom prst="rect">
            <a:avLst/>
          </a:prstGeom>
          <a:noFill/>
          <a:ln/>
        </p:spPr>
        <p:txBody>
          <a:bodyPr wrap="square" lIns="0" tIns="0" rIns="0" bIns="0" rtlCol="0" anchor="t"/>
          <a:lstStyle/>
          <a:p>
            <a:pPr indent="0" marL="0">
              <a:buNone/>
            </a:pPr>
            <a:r>
              <a:rPr lang="en-US" sz="1400" b="1" dirty="0">
                <a:solidFill>
                  <a:schemeClr val="tx2"/>
                </a:solidFill>
              </a:rPr>
              <a:t>Margin came with time</a:t>
            </a:r>
            <a:endParaRPr lang="en-US" sz="1400" dirty="0"/>
          </a:p>
          <a:p>
            <a:pPr indent="0" marL="0">
              <a:buNone/>
            </a:pPr>
            <a:r>
              <a:rPr lang="en-US" sz="1400" dirty="0">
                <a:solidFill>
                  <a:schemeClr val="tx1"/>
                </a:solidFill>
              </a:rPr>
              <a:t>In 2002 American Tower traded below US$ 1; tenancy built today's margin</a:t>
            </a:r>
            <a:endParaRPr lang="en-US" sz="1400" dirty="0"/>
          </a:p>
        </p:txBody>
      </p:sp>
      <p:sp>
        <p:nvSpPr>
          <p:cNvPr id="22" name="Text 19"/>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Sources: tower investing guides; SEC filings of American Tower (2015, 2021); AT&amp;T/Crown Castle deal (2013); American Tower 2025 results (67.0% adj. EBITDA margin).</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Why carriers embraced tower sharing</a:t>
            </a:r>
            <a:endParaRPr lang="en-US" sz="2800" dirty="0"/>
          </a:p>
        </p:txBody>
      </p:sp>
      <p:sp>
        <p:nvSpPr>
          <p:cNvPr id="3" name="Benefit card 1"/>
          <p:cNvSpPr/>
          <p:nvPr/>
        </p:nvSpPr>
        <p:spPr>
          <a:xfrm>
            <a:off x="548640" y="1417320"/>
            <a:ext cx="3520440" cy="2103120"/>
          </a:xfrm>
          <a:prstGeom prst="roundRect">
            <a:avLst>
              <a:gd name="adj" fmla="val 5217"/>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4" name="Unlock capital circle"/>
          <p:cNvSpPr/>
          <p:nvPr/>
        </p:nvSpPr>
        <p:spPr>
          <a:xfrm>
            <a:off x="777240" y="1645920"/>
            <a:ext cx="640080" cy="640080"/>
          </a:xfrm>
          <a:prstGeom prst="ellipse">
            <a:avLst/>
          </a:prstGeom>
          <a:solidFill>
            <a:srgbClr val="2A9D8F"/>
          </a:solidFill>
          <a:ln w="12700">
            <a:solidFill>
              <a:srgbClr val="2A9D8F"/>
            </a:solidFill>
            <a:prstDash val="solid"/>
          </a:ln>
        </p:spPr>
      </p:sp>
      <p:pic>
        <p:nvPicPr>
          <p:cNvPr id="5" name="Unlock capital icon" descr="Unlock capital">    </p:cNvPr>
          <p:cNvPicPr>
            <a:picLocks noChangeAspect="1"/>
          </p:cNvPicPr>
          <p:nvPr/>
        </p:nvPicPr>
        <p:blipFill>
          <a:blip r:embed="rId1"/>
          <a:stretch>
            <a:fillRect/>
          </a:stretch>
        </p:blipFill>
        <p:spPr>
          <a:xfrm>
            <a:off x="937260" y="1805940"/>
            <a:ext cx="320040" cy="320040"/>
          </a:xfrm>
          <a:prstGeom prst="rect">
            <a:avLst/>
          </a:prstGeom>
        </p:spPr>
      </p:pic>
      <p:sp>
        <p:nvSpPr>
          <p:cNvPr id="6" name="Text 3"/>
          <p:cNvSpPr txBox="1"/>
          <p:nvPr/>
        </p:nvSpPr>
        <p:spPr>
          <a:xfrm>
            <a:off x="1554480" y="1691640"/>
            <a:ext cx="237744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Unlock capital</a:t>
            </a:r>
            <a:endParaRPr lang="en-US" sz="1800" dirty="0"/>
          </a:p>
        </p:txBody>
      </p:sp>
      <p:sp>
        <p:nvSpPr>
          <p:cNvPr id="7" name="Text 4"/>
          <p:cNvSpPr txBox="1"/>
          <p:nvPr/>
        </p:nvSpPr>
        <p:spPr>
          <a:xfrm>
            <a:off x="777240" y="2423160"/>
            <a:ext cx="3063240" cy="1005840"/>
          </a:xfrm>
          <a:prstGeom prst="rect">
            <a:avLst/>
          </a:prstGeom>
          <a:noFill/>
          <a:ln/>
        </p:spPr>
        <p:txBody>
          <a:bodyPr wrap="square" lIns="0" tIns="0" rIns="0" bIns="0" rtlCol="0" anchor="t"/>
          <a:lstStyle/>
          <a:p>
            <a:pPr indent="0" marL="0">
              <a:buNone/>
            </a:pPr>
            <a:r>
              <a:rPr lang="en-US" sz="1400" dirty="0">
                <a:solidFill>
                  <a:schemeClr val="tx1"/>
                </a:solidFill>
              </a:rPr>
              <a:t>Selling towers funds spectrum, debt reduction and network upgrades</a:t>
            </a:r>
            <a:endParaRPr lang="en-US" sz="1400" dirty="0"/>
          </a:p>
        </p:txBody>
      </p:sp>
      <p:sp>
        <p:nvSpPr>
          <p:cNvPr id="8" name="Benefit card 2"/>
          <p:cNvSpPr/>
          <p:nvPr/>
        </p:nvSpPr>
        <p:spPr>
          <a:xfrm>
            <a:off x="4297680" y="1417320"/>
            <a:ext cx="3520440" cy="2103120"/>
          </a:xfrm>
          <a:prstGeom prst="roundRect">
            <a:avLst>
              <a:gd name="adj" fmla="val 5217"/>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9" name="Focus on the core circle"/>
          <p:cNvSpPr/>
          <p:nvPr/>
        </p:nvSpPr>
        <p:spPr>
          <a:xfrm>
            <a:off x="4526280" y="1645920"/>
            <a:ext cx="640080" cy="640080"/>
          </a:xfrm>
          <a:prstGeom prst="ellipse">
            <a:avLst/>
          </a:prstGeom>
          <a:solidFill>
            <a:srgbClr val="2A9D8F"/>
          </a:solidFill>
          <a:ln w="12700">
            <a:solidFill>
              <a:srgbClr val="2A9D8F"/>
            </a:solidFill>
            <a:prstDash val="solid"/>
          </a:ln>
        </p:spPr>
      </p:sp>
      <p:pic>
        <p:nvPicPr>
          <p:cNvPr id="10" name="Focus on the core icon" descr="Focus on the core">    </p:cNvPr>
          <p:cNvPicPr>
            <a:picLocks noChangeAspect="1"/>
          </p:cNvPicPr>
          <p:nvPr/>
        </p:nvPicPr>
        <p:blipFill>
          <a:blip r:embed="rId2"/>
          <a:stretch>
            <a:fillRect/>
          </a:stretch>
        </p:blipFill>
        <p:spPr>
          <a:xfrm>
            <a:off x="4686300" y="1805940"/>
            <a:ext cx="320040" cy="320040"/>
          </a:xfrm>
          <a:prstGeom prst="rect">
            <a:avLst/>
          </a:prstGeom>
        </p:spPr>
      </p:pic>
      <p:sp>
        <p:nvSpPr>
          <p:cNvPr id="11" name="Text 7"/>
          <p:cNvSpPr txBox="1"/>
          <p:nvPr/>
        </p:nvSpPr>
        <p:spPr>
          <a:xfrm>
            <a:off x="5303520" y="1691640"/>
            <a:ext cx="237744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Focus on the core</a:t>
            </a:r>
            <a:endParaRPr lang="en-US" sz="1800" dirty="0"/>
          </a:p>
        </p:txBody>
      </p:sp>
      <p:sp>
        <p:nvSpPr>
          <p:cNvPr id="12" name="Text 8"/>
          <p:cNvSpPr txBox="1"/>
          <p:nvPr/>
        </p:nvSpPr>
        <p:spPr>
          <a:xfrm>
            <a:off x="4526280" y="2423160"/>
            <a:ext cx="3063240" cy="1005840"/>
          </a:xfrm>
          <a:prstGeom prst="rect">
            <a:avLst/>
          </a:prstGeom>
          <a:noFill/>
          <a:ln/>
        </p:spPr>
        <p:txBody>
          <a:bodyPr wrap="square" lIns="0" tIns="0" rIns="0" bIns="0" rtlCol="0" anchor="t"/>
          <a:lstStyle/>
          <a:p>
            <a:pPr indent="0" marL="0">
              <a:buNone/>
            </a:pPr>
            <a:r>
              <a:rPr lang="en-US" sz="1400" dirty="0">
                <a:solidFill>
                  <a:schemeClr val="tx1"/>
                </a:solidFill>
              </a:rPr>
              <a:t>Customers, spectrum and network, not land, permits and power</a:t>
            </a:r>
            <a:endParaRPr lang="en-US" sz="1400" dirty="0"/>
          </a:p>
        </p:txBody>
      </p:sp>
      <p:sp>
        <p:nvSpPr>
          <p:cNvPr id="13" name="Benefit card 3"/>
          <p:cNvSpPr/>
          <p:nvPr/>
        </p:nvSpPr>
        <p:spPr>
          <a:xfrm>
            <a:off x="8046720" y="1417320"/>
            <a:ext cx="3520440" cy="2103120"/>
          </a:xfrm>
          <a:prstGeom prst="roundRect">
            <a:avLst>
              <a:gd name="adj" fmla="val 5217"/>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14" name="Lower cost circle"/>
          <p:cNvSpPr/>
          <p:nvPr/>
        </p:nvSpPr>
        <p:spPr>
          <a:xfrm>
            <a:off x="8275320" y="1645920"/>
            <a:ext cx="640080" cy="640080"/>
          </a:xfrm>
          <a:prstGeom prst="ellipse">
            <a:avLst/>
          </a:prstGeom>
          <a:solidFill>
            <a:srgbClr val="2A9D8F"/>
          </a:solidFill>
          <a:ln w="12700">
            <a:solidFill>
              <a:srgbClr val="2A9D8F"/>
            </a:solidFill>
            <a:prstDash val="solid"/>
          </a:ln>
        </p:spPr>
      </p:sp>
      <p:pic>
        <p:nvPicPr>
          <p:cNvPr id="15" name="Lower cost icon" descr="Lower cost">    </p:cNvPr>
          <p:cNvPicPr>
            <a:picLocks noChangeAspect="1"/>
          </p:cNvPicPr>
          <p:nvPr/>
        </p:nvPicPr>
        <p:blipFill>
          <a:blip r:embed="rId3"/>
          <a:stretch>
            <a:fillRect/>
          </a:stretch>
        </p:blipFill>
        <p:spPr>
          <a:xfrm>
            <a:off x="8435340" y="1805940"/>
            <a:ext cx="320040" cy="320040"/>
          </a:xfrm>
          <a:prstGeom prst="rect">
            <a:avLst/>
          </a:prstGeom>
        </p:spPr>
      </p:pic>
      <p:sp>
        <p:nvSpPr>
          <p:cNvPr id="16" name="Text 11"/>
          <p:cNvSpPr txBox="1"/>
          <p:nvPr/>
        </p:nvSpPr>
        <p:spPr>
          <a:xfrm>
            <a:off x="9052560" y="1691640"/>
            <a:ext cx="237744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Lower cost</a:t>
            </a:r>
            <a:endParaRPr lang="en-US" sz="1800" dirty="0"/>
          </a:p>
        </p:txBody>
      </p:sp>
      <p:sp>
        <p:nvSpPr>
          <p:cNvPr id="17" name="Text 12"/>
          <p:cNvSpPr txBox="1"/>
          <p:nvPr/>
        </p:nvSpPr>
        <p:spPr>
          <a:xfrm>
            <a:off x="8275320" y="2423160"/>
            <a:ext cx="3063240" cy="1005840"/>
          </a:xfrm>
          <a:prstGeom prst="rect">
            <a:avLst/>
          </a:prstGeom>
          <a:noFill/>
          <a:ln/>
        </p:spPr>
        <p:txBody>
          <a:bodyPr wrap="square" lIns="0" tIns="0" rIns="0" bIns="0" rtlCol="0" anchor="t"/>
          <a:lstStyle/>
          <a:p>
            <a:pPr indent="0" marL="0">
              <a:buNone/>
            </a:pPr>
            <a:r>
              <a:rPr lang="en-US" sz="1400" dirty="0">
                <a:solidFill>
                  <a:schemeClr val="tx1"/>
                </a:solidFill>
              </a:rPr>
              <a:t>Energy, ground rent and maintenance split among competitors</a:t>
            </a:r>
            <a:endParaRPr lang="en-US" sz="1400" dirty="0"/>
          </a:p>
        </p:txBody>
      </p:sp>
      <p:sp>
        <p:nvSpPr>
          <p:cNvPr id="18" name="Benefit card 4"/>
          <p:cNvSpPr/>
          <p:nvPr/>
        </p:nvSpPr>
        <p:spPr>
          <a:xfrm>
            <a:off x="548640" y="3749040"/>
            <a:ext cx="3520440" cy="2103120"/>
          </a:xfrm>
          <a:prstGeom prst="roundRect">
            <a:avLst>
              <a:gd name="adj" fmla="val 5217"/>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19" name="Faster rollout circle"/>
          <p:cNvSpPr/>
          <p:nvPr/>
        </p:nvSpPr>
        <p:spPr>
          <a:xfrm>
            <a:off x="777240" y="3977640"/>
            <a:ext cx="640080" cy="640080"/>
          </a:xfrm>
          <a:prstGeom prst="ellipse">
            <a:avLst/>
          </a:prstGeom>
          <a:solidFill>
            <a:srgbClr val="2A9D8F"/>
          </a:solidFill>
          <a:ln w="12700">
            <a:solidFill>
              <a:srgbClr val="2A9D8F"/>
            </a:solidFill>
            <a:prstDash val="solid"/>
          </a:ln>
        </p:spPr>
      </p:sp>
      <p:pic>
        <p:nvPicPr>
          <p:cNvPr id="20" name="Faster rollout icon" descr="Faster rollout">    </p:cNvPr>
          <p:cNvPicPr>
            <a:picLocks noChangeAspect="1"/>
          </p:cNvPicPr>
          <p:nvPr/>
        </p:nvPicPr>
        <p:blipFill>
          <a:blip r:embed="rId4"/>
          <a:stretch>
            <a:fillRect/>
          </a:stretch>
        </p:blipFill>
        <p:spPr>
          <a:xfrm>
            <a:off x="937260" y="4137660"/>
            <a:ext cx="320040" cy="320040"/>
          </a:xfrm>
          <a:prstGeom prst="rect">
            <a:avLst/>
          </a:prstGeom>
        </p:spPr>
      </p:pic>
      <p:sp>
        <p:nvSpPr>
          <p:cNvPr id="21" name="Text 15"/>
          <p:cNvSpPr txBox="1"/>
          <p:nvPr/>
        </p:nvSpPr>
        <p:spPr>
          <a:xfrm>
            <a:off x="1554480" y="4023360"/>
            <a:ext cx="237744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Faster rollout</a:t>
            </a:r>
            <a:endParaRPr lang="en-US" sz="1800" dirty="0"/>
          </a:p>
        </p:txBody>
      </p:sp>
      <p:sp>
        <p:nvSpPr>
          <p:cNvPr id="22" name="Text 16"/>
          <p:cNvSpPr txBox="1"/>
          <p:nvPr/>
        </p:nvSpPr>
        <p:spPr>
          <a:xfrm>
            <a:off x="777240" y="4754880"/>
            <a:ext cx="3063240" cy="1005840"/>
          </a:xfrm>
          <a:prstGeom prst="rect">
            <a:avLst/>
          </a:prstGeom>
          <a:noFill/>
          <a:ln/>
        </p:spPr>
        <p:txBody>
          <a:bodyPr wrap="square" lIns="0" tIns="0" rIns="0" bIns="0" rtlCol="0" anchor="t"/>
          <a:lstStyle/>
          <a:p>
            <a:pPr indent="0" marL="0">
              <a:buNone/>
            </a:pPr>
            <a:r>
              <a:rPr lang="en-US" sz="1400" dirty="0">
                <a:solidFill>
                  <a:schemeClr val="tx1"/>
                </a:solidFill>
              </a:rPr>
              <a:t>Existing sites in weeks instead of months of permits; sharing cuts 5G rollout cost by 40%+</a:t>
            </a:r>
            <a:endParaRPr lang="en-US" sz="1400" dirty="0"/>
          </a:p>
        </p:txBody>
      </p:sp>
      <p:sp>
        <p:nvSpPr>
          <p:cNvPr id="23" name="Benefit card 5"/>
          <p:cNvSpPr/>
          <p:nvPr/>
        </p:nvSpPr>
        <p:spPr>
          <a:xfrm>
            <a:off x="4297680" y="3749040"/>
            <a:ext cx="3520440" cy="2103120"/>
          </a:xfrm>
          <a:prstGeom prst="roundRect">
            <a:avLst>
              <a:gd name="adj" fmla="val 5217"/>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24" name="Better financials circle"/>
          <p:cNvSpPr/>
          <p:nvPr/>
        </p:nvSpPr>
        <p:spPr>
          <a:xfrm>
            <a:off x="4526280" y="3977640"/>
            <a:ext cx="640080" cy="640080"/>
          </a:xfrm>
          <a:prstGeom prst="ellipse">
            <a:avLst/>
          </a:prstGeom>
          <a:solidFill>
            <a:srgbClr val="2A9D8F"/>
          </a:solidFill>
          <a:ln w="12700">
            <a:solidFill>
              <a:srgbClr val="2A9D8F"/>
            </a:solidFill>
            <a:prstDash val="solid"/>
          </a:ln>
        </p:spPr>
      </p:sp>
      <p:pic>
        <p:nvPicPr>
          <p:cNvPr id="25" name="Better financials icon" descr="Better financials">    </p:cNvPr>
          <p:cNvPicPr>
            <a:picLocks noChangeAspect="1"/>
          </p:cNvPicPr>
          <p:nvPr/>
        </p:nvPicPr>
        <p:blipFill>
          <a:blip r:embed="rId5"/>
          <a:stretch>
            <a:fillRect/>
          </a:stretch>
        </p:blipFill>
        <p:spPr>
          <a:xfrm>
            <a:off x="4686300" y="4137660"/>
            <a:ext cx="320040" cy="320040"/>
          </a:xfrm>
          <a:prstGeom prst="rect">
            <a:avLst/>
          </a:prstGeom>
        </p:spPr>
      </p:pic>
      <p:sp>
        <p:nvSpPr>
          <p:cNvPr id="26" name="Text 19"/>
          <p:cNvSpPr txBox="1"/>
          <p:nvPr/>
        </p:nvSpPr>
        <p:spPr>
          <a:xfrm>
            <a:off x="5303520" y="4023360"/>
            <a:ext cx="237744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Better financials</a:t>
            </a:r>
            <a:endParaRPr lang="en-US" sz="1800" dirty="0"/>
          </a:p>
        </p:txBody>
      </p:sp>
      <p:sp>
        <p:nvSpPr>
          <p:cNvPr id="27" name="Text 20"/>
          <p:cNvSpPr txBox="1"/>
          <p:nvPr/>
        </p:nvSpPr>
        <p:spPr>
          <a:xfrm>
            <a:off x="4526280" y="4754880"/>
            <a:ext cx="3063240" cy="1005840"/>
          </a:xfrm>
          <a:prstGeom prst="rect">
            <a:avLst/>
          </a:prstGeom>
          <a:noFill/>
          <a:ln/>
        </p:spPr>
        <p:txBody>
          <a:bodyPr wrap="square" lIns="0" tIns="0" rIns="0" bIns="0" rtlCol="0" anchor="t"/>
          <a:lstStyle/>
          <a:p>
            <a:pPr indent="0" marL="0">
              <a:buNone/>
            </a:pPr>
            <a:r>
              <a:rPr lang="en-US" sz="1400" dirty="0">
                <a:solidFill>
                  <a:schemeClr val="tx1"/>
                </a:solidFill>
              </a:rPr>
              <a:t>Capex turns into opex, sold at high EBITDA multiples</a:t>
            </a:r>
            <a:endParaRPr lang="en-US" sz="1400" dirty="0"/>
          </a:p>
        </p:txBody>
      </p:sp>
      <p:sp>
        <p:nvSpPr>
          <p:cNvPr id="28" name="Benefit card 6"/>
          <p:cNvSpPr/>
          <p:nvPr/>
        </p:nvSpPr>
        <p:spPr>
          <a:xfrm>
            <a:off x="8046720" y="3749040"/>
            <a:ext cx="3520440" cy="2103120"/>
          </a:xfrm>
          <a:prstGeom prst="roundRect">
            <a:avLst>
              <a:gd name="adj" fmla="val 5217"/>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29" name="Regulatory push circle"/>
          <p:cNvSpPr/>
          <p:nvPr/>
        </p:nvSpPr>
        <p:spPr>
          <a:xfrm>
            <a:off x="8275320" y="3977640"/>
            <a:ext cx="640080" cy="640080"/>
          </a:xfrm>
          <a:prstGeom prst="ellipse">
            <a:avLst/>
          </a:prstGeom>
          <a:solidFill>
            <a:srgbClr val="2A9D8F"/>
          </a:solidFill>
          <a:ln w="12700">
            <a:solidFill>
              <a:srgbClr val="2A9D8F"/>
            </a:solidFill>
            <a:prstDash val="solid"/>
          </a:ln>
        </p:spPr>
      </p:sp>
      <p:pic>
        <p:nvPicPr>
          <p:cNvPr id="30" name="Regulatory push icon" descr="Regulatory push">    </p:cNvPr>
          <p:cNvPicPr>
            <a:picLocks noChangeAspect="1"/>
          </p:cNvPicPr>
          <p:nvPr/>
        </p:nvPicPr>
        <p:blipFill>
          <a:blip r:embed="rId6"/>
          <a:stretch>
            <a:fillRect/>
          </a:stretch>
        </p:blipFill>
        <p:spPr>
          <a:xfrm>
            <a:off x="8435340" y="4137660"/>
            <a:ext cx="320040" cy="320040"/>
          </a:xfrm>
          <a:prstGeom prst="rect">
            <a:avLst/>
          </a:prstGeom>
        </p:spPr>
      </p:pic>
      <p:sp>
        <p:nvSpPr>
          <p:cNvPr id="31" name="Text 23"/>
          <p:cNvSpPr txBox="1"/>
          <p:nvPr/>
        </p:nvSpPr>
        <p:spPr>
          <a:xfrm>
            <a:off x="9052560" y="4023360"/>
            <a:ext cx="237744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Regulatory push</a:t>
            </a:r>
            <a:endParaRPr lang="en-US" sz="1800" dirty="0"/>
          </a:p>
        </p:txBody>
      </p:sp>
      <p:sp>
        <p:nvSpPr>
          <p:cNvPr id="32" name="Text 24"/>
          <p:cNvSpPr txBox="1"/>
          <p:nvPr/>
        </p:nvSpPr>
        <p:spPr>
          <a:xfrm>
            <a:off x="8275320" y="4754880"/>
            <a:ext cx="3063240" cy="1005840"/>
          </a:xfrm>
          <a:prstGeom prst="rect">
            <a:avLst/>
          </a:prstGeom>
          <a:noFill/>
          <a:ln/>
        </p:spPr>
        <p:txBody>
          <a:bodyPr wrap="square" lIns="0" tIns="0" rIns="0" bIns="0" rtlCol="0" anchor="t"/>
          <a:lstStyle/>
          <a:p>
            <a:pPr indent="0" marL="0">
              <a:buNone/>
            </a:pPr>
            <a:r>
              <a:rPr lang="en-US" sz="1400" dirty="0">
                <a:solidFill>
                  <a:schemeClr val="tx1"/>
                </a:solidFill>
              </a:rPr>
              <a:t>Mandatory sharing rules and hard-to-permit new towers favor incumbents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Eight forces are slowing tower growth</a:t>
            </a:r>
            <a:endParaRPr lang="en-US" sz="2800" dirty="0"/>
          </a:p>
        </p:txBody>
      </p:sp>
      <p:sp>
        <p:nvSpPr>
          <p:cNvPr id="3" name="Carrier consolidation circle"/>
          <p:cNvSpPr/>
          <p:nvPr/>
        </p:nvSpPr>
        <p:spPr>
          <a:xfrm>
            <a:off x="548640" y="1417320"/>
            <a:ext cx="640080" cy="640080"/>
          </a:xfrm>
          <a:prstGeom prst="ellipse">
            <a:avLst/>
          </a:prstGeom>
          <a:solidFill>
            <a:srgbClr val="C8553D"/>
          </a:solidFill>
          <a:ln w="12700">
            <a:solidFill>
              <a:srgbClr val="C8553D"/>
            </a:solidFill>
            <a:prstDash val="solid"/>
          </a:ln>
        </p:spPr>
      </p:sp>
      <p:pic>
        <p:nvPicPr>
          <p:cNvPr id="4" name="Carrier consolidation icon" descr="Carrier consolidation">    </p:cNvPr>
          <p:cNvPicPr>
            <a:picLocks noChangeAspect="1"/>
          </p:cNvPicPr>
          <p:nvPr/>
        </p:nvPicPr>
        <p:blipFill>
          <a:blip r:embed="rId1"/>
          <a:stretch>
            <a:fillRect/>
          </a:stretch>
        </p:blipFill>
        <p:spPr>
          <a:xfrm>
            <a:off x="708660" y="1577340"/>
            <a:ext cx="320040" cy="320040"/>
          </a:xfrm>
          <a:prstGeom prst="rect">
            <a:avLst/>
          </a:prstGeom>
        </p:spPr>
      </p:pic>
      <p:sp>
        <p:nvSpPr>
          <p:cNvPr id="5" name="Text 2"/>
          <p:cNvSpPr txBox="1"/>
          <p:nvPr/>
        </p:nvSpPr>
        <p:spPr>
          <a:xfrm>
            <a:off x="1371600" y="1371600"/>
            <a:ext cx="4572000" cy="1097280"/>
          </a:xfrm>
          <a:prstGeom prst="rect">
            <a:avLst/>
          </a:prstGeom>
          <a:noFill/>
          <a:ln/>
        </p:spPr>
        <p:txBody>
          <a:bodyPr wrap="square" lIns="0" tIns="0" rIns="0" bIns="0" rtlCol="0" anchor="t"/>
          <a:lstStyle/>
          <a:p>
            <a:pPr indent="0" marL="0">
              <a:buNone/>
            </a:pPr>
            <a:r>
              <a:rPr lang="en-US" sz="1400" b="1" dirty="0">
                <a:solidFill>
                  <a:schemeClr val="tx2"/>
                </a:solidFill>
              </a:rPr>
              <a:t>Carrier consolidation</a:t>
            </a:r>
            <a:endParaRPr lang="en-US" sz="1400" dirty="0"/>
          </a:p>
          <a:p>
            <a:pPr indent="0" marL="0">
              <a:buNone/>
            </a:pPr>
            <a:r>
              <a:rPr lang="en-US" sz="1400" dirty="0">
                <a:solidFill>
                  <a:schemeClr val="tx1"/>
                </a:solidFill>
              </a:rPr>
              <a:t>Fewer carriers means fewer tenants per tower; overlapping sites are shut down</a:t>
            </a:r>
            <a:endParaRPr lang="en-US" sz="1400" dirty="0"/>
          </a:p>
        </p:txBody>
      </p:sp>
      <p:sp>
        <p:nvSpPr>
          <p:cNvPr id="6" name="Active RAN sharing circle"/>
          <p:cNvSpPr/>
          <p:nvPr/>
        </p:nvSpPr>
        <p:spPr>
          <a:xfrm>
            <a:off x="6172200" y="1417320"/>
            <a:ext cx="640080" cy="640080"/>
          </a:xfrm>
          <a:prstGeom prst="ellipse">
            <a:avLst/>
          </a:prstGeom>
          <a:solidFill>
            <a:srgbClr val="C8553D"/>
          </a:solidFill>
          <a:ln w="12700">
            <a:solidFill>
              <a:srgbClr val="C8553D"/>
            </a:solidFill>
            <a:prstDash val="solid"/>
          </a:ln>
        </p:spPr>
      </p:sp>
      <p:pic>
        <p:nvPicPr>
          <p:cNvPr id="7" name="Active RAN sharing icon" descr="Active RAN sharing">    </p:cNvPr>
          <p:cNvPicPr>
            <a:picLocks noChangeAspect="1"/>
          </p:cNvPicPr>
          <p:nvPr/>
        </p:nvPicPr>
        <p:blipFill>
          <a:blip r:embed="rId2"/>
          <a:stretch>
            <a:fillRect/>
          </a:stretch>
        </p:blipFill>
        <p:spPr>
          <a:xfrm>
            <a:off x="6332220" y="1577340"/>
            <a:ext cx="320040" cy="320040"/>
          </a:xfrm>
          <a:prstGeom prst="rect">
            <a:avLst/>
          </a:prstGeom>
        </p:spPr>
      </p:pic>
      <p:sp>
        <p:nvSpPr>
          <p:cNvPr id="8" name="Text 4"/>
          <p:cNvSpPr txBox="1"/>
          <p:nvPr/>
        </p:nvSpPr>
        <p:spPr>
          <a:xfrm>
            <a:off x="6995160" y="1371600"/>
            <a:ext cx="4572000" cy="1097280"/>
          </a:xfrm>
          <a:prstGeom prst="rect">
            <a:avLst/>
          </a:prstGeom>
          <a:noFill/>
          <a:ln/>
        </p:spPr>
        <p:txBody>
          <a:bodyPr wrap="square" lIns="0" tIns="0" rIns="0" bIns="0" rtlCol="0" anchor="t"/>
          <a:lstStyle/>
          <a:p>
            <a:pPr indent="0" marL="0">
              <a:buNone/>
            </a:pPr>
            <a:r>
              <a:rPr lang="en-US" sz="1400" b="1" dirty="0">
                <a:solidFill>
                  <a:schemeClr val="tx2"/>
                </a:solidFill>
              </a:rPr>
              <a:t>Active RAN sharing</a:t>
            </a:r>
            <a:endParaRPr lang="en-US" sz="1400" dirty="0"/>
          </a:p>
          <a:p>
            <a:pPr indent="0" marL="0">
              <a:buNone/>
            </a:pPr>
            <a:r>
              <a:rPr lang="en-US" sz="1400" dirty="0">
                <a:solidFill>
                  <a:schemeClr val="tx1"/>
                </a:solidFill>
              </a:rPr>
              <a:t>Carriers now share radios, not just steel: two operators, one paying site</a:t>
            </a:r>
            <a:endParaRPr lang="en-US" sz="1400" dirty="0"/>
          </a:p>
        </p:txBody>
      </p:sp>
      <p:sp>
        <p:nvSpPr>
          <p:cNvPr id="9" name="End of the 5G capex wave circle"/>
          <p:cNvSpPr/>
          <p:nvPr/>
        </p:nvSpPr>
        <p:spPr>
          <a:xfrm>
            <a:off x="548640" y="2624328"/>
            <a:ext cx="640080" cy="640080"/>
          </a:xfrm>
          <a:prstGeom prst="ellipse">
            <a:avLst/>
          </a:prstGeom>
          <a:solidFill>
            <a:srgbClr val="C8553D"/>
          </a:solidFill>
          <a:ln w="12700">
            <a:solidFill>
              <a:srgbClr val="C8553D"/>
            </a:solidFill>
            <a:prstDash val="solid"/>
          </a:ln>
        </p:spPr>
      </p:sp>
      <p:pic>
        <p:nvPicPr>
          <p:cNvPr id="10" name="End of the 5G capex wave icon" descr="End of the 5G capex wave">    </p:cNvPr>
          <p:cNvPicPr>
            <a:picLocks noChangeAspect="1"/>
          </p:cNvPicPr>
          <p:nvPr/>
        </p:nvPicPr>
        <p:blipFill>
          <a:blip r:embed="rId3"/>
          <a:stretch>
            <a:fillRect/>
          </a:stretch>
        </p:blipFill>
        <p:spPr>
          <a:xfrm>
            <a:off x="708660" y="2784348"/>
            <a:ext cx="320040" cy="320040"/>
          </a:xfrm>
          <a:prstGeom prst="rect">
            <a:avLst/>
          </a:prstGeom>
        </p:spPr>
      </p:pic>
      <p:sp>
        <p:nvSpPr>
          <p:cNvPr id="11" name="Text 6"/>
          <p:cNvSpPr txBox="1"/>
          <p:nvPr/>
        </p:nvSpPr>
        <p:spPr>
          <a:xfrm>
            <a:off x="1371600" y="2578608"/>
            <a:ext cx="4572000" cy="1097280"/>
          </a:xfrm>
          <a:prstGeom prst="rect">
            <a:avLst/>
          </a:prstGeom>
          <a:noFill/>
          <a:ln/>
        </p:spPr>
        <p:txBody>
          <a:bodyPr wrap="square" lIns="0" tIns="0" rIns="0" bIns="0" rtlCol="0" anchor="t"/>
          <a:lstStyle/>
          <a:p>
            <a:pPr indent="0" marL="0">
              <a:buNone/>
            </a:pPr>
            <a:r>
              <a:rPr lang="en-US" sz="1400" b="1" dirty="0">
                <a:solidFill>
                  <a:schemeClr val="tx2"/>
                </a:solidFill>
              </a:rPr>
              <a:t>End of the 5G capex wave</a:t>
            </a:r>
            <a:endParaRPr lang="en-US" sz="1400" dirty="0"/>
          </a:p>
          <a:p>
            <a:pPr indent="0" marL="0">
              <a:buNone/>
            </a:pPr>
            <a:r>
              <a:rPr lang="en-US" sz="1400" dirty="0">
                <a:solidFill>
                  <a:schemeClr val="tx1"/>
                </a:solidFill>
              </a:rPr>
              <a:t>Global telecom capex fell in 2023 and is forecast down ~2% in 2026</a:t>
            </a:r>
            <a:endParaRPr lang="en-US" sz="1400" dirty="0"/>
          </a:p>
        </p:txBody>
      </p:sp>
      <p:sp>
        <p:nvSpPr>
          <p:cNvPr id="12" name="Pricing pressure circle"/>
          <p:cNvSpPr/>
          <p:nvPr/>
        </p:nvSpPr>
        <p:spPr>
          <a:xfrm>
            <a:off x="6172200" y="2624328"/>
            <a:ext cx="640080" cy="640080"/>
          </a:xfrm>
          <a:prstGeom prst="ellipse">
            <a:avLst/>
          </a:prstGeom>
          <a:solidFill>
            <a:srgbClr val="C8553D"/>
          </a:solidFill>
          <a:ln w="12700">
            <a:solidFill>
              <a:srgbClr val="C8553D"/>
            </a:solidFill>
            <a:prstDash val="solid"/>
          </a:ln>
        </p:spPr>
      </p:sp>
      <p:pic>
        <p:nvPicPr>
          <p:cNvPr id="13" name="Pricing pressure icon" descr="Pricing pressure">    </p:cNvPr>
          <p:cNvPicPr>
            <a:picLocks noChangeAspect="1"/>
          </p:cNvPicPr>
          <p:nvPr/>
        </p:nvPicPr>
        <p:blipFill>
          <a:blip r:embed="rId4"/>
          <a:stretch>
            <a:fillRect/>
          </a:stretch>
        </p:blipFill>
        <p:spPr>
          <a:xfrm>
            <a:off x="6332220" y="2784348"/>
            <a:ext cx="320040" cy="320040"/>
          </a:xfrm>
          <a:prstGeom prst="rect">
            <a:avLst/>
          </a:prstGeom>
        </p:spPr>
      </p:pic>
      <p:sp>
        <p:nvSpPr>
          <p:cNvPr id="14" name="Text 8"/>
          <p:cNvSpPr txBox="1"/>
          <p:nvPr/>
        </p:nvSpPr>
        <p:spPr>
          <a:xfrm>
            <a:off x="6995160" y="2578608"/>
            <a:ext cx="4572000" cy="1097280"/>
          </a:xfrm>
          <a:prstGeom prst="rect">
            <a:avLst/>
          </a:prstGeom>
          <a:noFill/>
          <a:ln/>
        </p:spPr>
        <p:txBody>
          <a:bodyPr wrap="square" lIns="0" tIns="0" rIns="0" bIns="0" rtlCol="0" anchor="t"/>
          <a:lstStyle/>
          <a:p>
            <a:pPr indent="0" marL="0">
              <a:buNone/>
            </a:pPr>
            <a:r>
              <a:rPr lang="en-US" sz="1400" b="1" dirty="0">
                <a:solidFill>
                  <a:schemeClr val="tx2"/>
                </a:solidFill>
              </a:rPr>
              <a:t>Pricing pressure</a:t>
            </a:r>
            <a:endParaRPr lang="en-US" sz="1400" dirty="0"/>
          </a:p>
          <a:p>
            <a:pPr indent="0" marL="0">
              <a:buNone/>
            </a:pPr>
            <a:r>
              <a:rPr lang="en-US" sz="1400" dirty="0">
                <a:solidFill>
                  <a:schemeClr val="tx1"/>
                </a:solidFill>
              </a:rPr>
              <a:t>Carriers say site budgets are frozen and push to renegotiate rents and escalators</a:t>
            </a:r>
            <a:endParaRPr lang="en-US" sz="1400" dirty="0"/>
          </a:p>
        </p:txBody>
      </p:sp>
      <p:sp>
        <p:nvSpPr>
          <p:cNvPr id="15" name="Tenant defaults circle"/>
          <p:cNvSpPr/>
          <p:nvPr/>
        </p:nvSpPr>
        <p:spPr>
          <a:xfrm>
            <a:off x="548640" y="3831336"/>
            <a:ext cx="640080" cy="640080"/>
          </a:xfrm>
          <a:prstGeom prst="ellipse">
            <a:avLst/>
          </a:prstGeom>
          <a:solidFill>
            <a:srgbClr val="C8553D"/>
          </a:solidFill>
          <a:ln w="12700">
            <a:solidFill>
              <a:srgbClr val="C8553D"/>
            </a:solidFill>
            <a:prstDash val="solid"/>
          </a:ln>
        </p:spPr>
      </p:sp>
      <p:pic>
        <p:nvPicPr>
          <p:cNvPr id="16" name="Tenant defaults icon" descr="Tenant defaults">    </p:cNvPr>
          <p:cNvPicPr>
            <a:picLocks noChangeAspect="1"/>
          </p:cNvPicPr>
          <p:nvPr/>
        </p:nvPicPr>
        <p:blipFill>
          <a:blip r:embed="rId5"/>
          <a:stretch>
            <a:fillRect/>
          </a:stretch>
        </p:blipFill>
        <p:spPr>
          <a:xfrm>
            <a:off x="708660" y="3991356"/>
            <a:ext cx="320040" cy="320040"/>
          </a:xfrm>
          <a:prstGeom prst="rect">
            <a:avLst/>
          </a:prstGeom>
        </p:spPr>
      </p:pic>
      <p:sp>
        <p:nvSpPr>
          <p:cNvPr id="17" name="Text 10"/>
          <p:cNvSpPr txBox="1"/>
          <p:nvPr/>
        </p:nvSpPr>
        <p:spPr>
          <a:xfrm>
            <a:off x="1371600" y="3785616"/>
            <a:ext cx="4572000" cy="1097280"/>
          </a:xfrm>
          <a:prstGeom prst="rect">
            <a:avLst/>
          </a:prstGeom>
          <a:noFill/>
          <a:ln/>
        </p:spPr>
        <p:txBody>
          <a:bodyPr wrap="square" lIns="0" tIns="0" rIns="0" bIns="0" rtlCol="0" anchor="t"/>
          <a:lstStyle/>
          <a:p>
            <a:pPr indent="0" marL="0">
              <a:buNone/>
            </a:pPr>
            <a:r>
              <a:rPr lang="en-US" sz="1400" b="1" dirty="0">
                <a:solidFill>
                  <a:schemeClr val="tx2"/>
                </a:solidFill>
              </a:rPr>
              <a:t>Tenant defaults</a:t>
            </a:r>
            <a:endParaRPr lang="en-US" sz="1400" dirty="0"/>
          </a:p>
          <a:p>
            <a:pPr indent="0" marL="0">
              <a:buNone/>
            </a:pPr>
            <a:r>
              <a:rPr lang="en-US" sz="1400" dirty="0">
                <a:solidFill>
                  <a:schemeClr val="tx1"/>
                </a:solidFill>
              </a:rPr>
              <a:t>DISH/EchoStar sold its spectrum and stopped paying; towercos are in court</a:t>
            </a:r>
            <a:endParaRPr lang="en-US" sz="1400" dirty="0"/>
          </a:p>
        </p:txBody>
      </p:sp>
      <p:sp>
        <p:nvSpPr>
          <p:cNvPr id="18" name="Higher interest rates circle"/>
          <p:cNvSpPr/>
          <p:nvPr/>
        </p:nvSpPr>
        <p:spPr>
          <a:xfrm>
            <a:off x="6172200" y="3831336"/>
            <a:ext cx="640080" cy="640080"/>
          </a:xfrm>
          <a:prstGeom prst="ellipse">
            <a:avLst/>
          </a:prstGeom>
          <a:solidFill>
            <a:srgbClr val="C8553D"/>
          </a:solidFill>
          <a:ln w="12700">
            <a:solidFill>
              <a:srgbClr val="C8553D"/>
            </a:solidFill>
            <a:prstDash val="solid"/>
          </a:ln>
        </p:spPr>
      </p:sp>
      <p:pic>
        <p:nvPicPr>
          <p:cNvPr id="19" name="Higher interest rates icon" descr="Higher interest rates">    </p:cNvPr>
          <p:cNvPicPr>
            <a:picLocks noChangeAspect="1"/>
          </p:cNvPicPr>
          <p:nvPr/>
        </p:nvPicPr>
        <p:blipFill>
          <a:blip r:embed="rId6"/>
          <a:stretch>
            <a:fillRect/>
          </a:stretch>
        </p:blipFill>
        <p:spPr>
          <a:xfrm>
            <a:off x="6332220" y="3991356"/>
            <a:ext cx="320040" cy="320040"/>
          </a:xfrm>
          <a:prstGeom prst="rect">
            <a:avLst/>
          </a:prstGeom>
        </p:spPr>
      </p:pic>
      <p:sp>
        <p:nvSpPr>
          <p:cNvPr id="20" name="Text 12"/>
          <p:cNvSpPr txBox="1"/>
          <p:nvPr/>
        </p:nvSpPr>
        <p:spPr>
          <a:xfrm>
            <a:off x="6995160" y="3785616"/>
            <a:ext cx="4572000" cy="1097280"/>
          </a:xfrm>
          <a:prstGeom prst="rect">
            <a:avLst/>
          </a:prstGeom>
          <a:noFill/>
          <a:ln/>
        </p:spPr>
        <p:txBody>
          <a:bodyPr wrap="square" lIns="0" tIns="0" rIns="0" bIns="0" rtlCol="0" anchor="t"/>
          <a:lstStyle/>
          <a:p>
            <a:pPr indent="0" marL="0">
              <a:buNone/>
            </a:pPr>
            <a:r>
              <a:rPr lang="en-US" sz="1400" b="1" dirty="0">
                <a:solidFill>
                  <a:schemeClr val="tx2"/>
                </a:solidFill>
              </a:rPr>
              <a:t>Higher interest rates</a:t>
            </a:r>
            <a:endParaRPr lang="en-US" sz="1400" dirty="0"/>
          </a:p>
          <a:p>
            <a:pPr indent="0" marL="0">
              <a:buNone/>
            </a:pPr>
            <a:r>
              <a:rPr lang="en-US" sz="1400" dirty="0">
                <a:solidFill>
                  <a:schemeClr val="tx1"/>
                </a:solidFill>
              </a:rPr>
              <a:t>Leveraged, bond-like businesses lose valuation when rates rise</a:t>
            </a:r>
            <a:endParaRPr lang="en-US" sz="1400" dirty="0"/>
          </a:p>
        </p:txBody>
      </p:sp>
      <p:sp>
        <p:nvSpPr>
          <p:cNvPr id="21" name="Satellite direct-to-device circle"/>
          <p:cNvSpPr/>
          <p:nvPr/>
        </p:nvSpPr>
        <p:spPr>
          <a:xfrm>
            <a:off x="548640" y="5038344"/>
            <a:ext cx="640080" cy="640080"/>
          </a:xfrm>
          <a:prstGeom prst="ellipse">
            <a:avLst/>
          </a:prstGeom>
          <a:solidFill>
            <a:srgbClr val="C8553D"/>
          </a:solidFill>
          <a:ln w="12700">
            <a:solidFill>
              <a:srgbClr val="C8553D"/>
            </a:solidFill>
            <a:prstDash val="solid"/>
          </a:ln>
        </p:spPr>
      </p:sp>
      <p:pic>
        <p:nvPicPr>
          <p:cNvPr id="22" name="Satellite direct-to-device icon" descr="Satellite direct-to-device">    </p:cNvPr>
          <p:cNvPicPr>
            <a:picLocks noChangeAspect="1"/>
          </p:cNvPicPr>
          <p:nvPr/>
        </p:nvPicPr>
        <p:blipFill>
          <a:blip r:embed="rId7"/>
          <a:stretch>
            <a:fillRect/>
          </a:stretch>
        </p:blipFill>
        <p:spPr>
          <a:xfrm>
            <a:off x="708660" y="5198364"/>
            <a:ext cx="320040" cy="320040"/>
          </a:xfrm>
          <a:prstGeom prst="rect">
            <a:avLst/>
          </a:prstGeom>
        </p:spPr>
      </p:pic>
      <p:sp>
        <p:nvSpPr>
          <p:cNvPr id="23" name="Text 14"/>
          <p:cNvSpPr txBox="1"/>
          <p:nvPr/>
        </p:nvSpPr>
        <p:spPr>
          <a:xfrm>
            <a:off x="1371600" y="4992624"/>
            <a:ext cx="4572000" cy="1097280"/>
          </a:xfrm>
          <a:prstGeom prst="rect">
            <a:avLst/>
          </a:prstGeom>
          <a:noFill/>
          <a:ln/>
        </p:spPr>
        <p:txBody>
          <a:bodyPr wrap="square" lIns="0" tIns="0" rIns="0" bIns="0" rtlCol="0" anchor="t"/>
          <a:lstStyle/>
          <a:p>
            <a:pPr indent="0" marL="0">
              <a:buNone/>
            </a:pPr>
            <a:r>
              <a:rPr lang="en-US" sz="1400" b="1" dirty="0">
                <a:solidFill>
                  <a:schemeClr val="tx2"/>
                </a:solidFill>
              </a:rPr>
              <a:t>Satellite direct-to-device</a:t>
            </a:r>
            <a:endParaRPr lang="en-US" sz="1400" dirty="0"/>
          </a:p>
          <a:p>
            <a:pPr indent="0" marL="0">
              <a:buNone/>
            </a:pPr>
            <a:r>
              <a:rPr lang="en-US" sz="1400" dirty="0">
                <a:solidFill>
                  <a:schemeClr val="tx1"/>
                </a:solidFill>
              </a:rPr>
              <a:t>Threatens single-tenant rural towers in the long run</a:t>
            </a:r>
            <a:endParaRPr lang="en-US" sz="1400" dirty="0"/>
          </a:p>
        </p:txBody>
      </p:sp>
      <p:sp>
        <p:nvSpPr>
          <p:cNvPr id="24" name="Fewer portfolios to buy circle"/>
          <p:cNvSpPr/>
          <p:nvPr/>
        </p:nvSpPr>
        <p:spPr>
          <a:xfrm>
            <a:off x="6172200" y="5038344"/>
            <a:ext cx="640080" cy="640080"/>
          </a:xfrm>
          <a:prstGeom prst="ellipse">
            <a:avLst/>
          </a:prstGeom>
          <a:solidFill>
            <a:srgbClr val="C8553D"/>
          </a:solidFill>
          <a:ln w="12700">
            <a:solidFill>
              <a:srgbClr val="C8553D"/>
            </a:solidFill>
            <a:prstDash val="solid"/>
          </a:ln>
        </p:spPr>
      </p:sp>
      <p:pic>
        <p:nvPicPr>
          <p:cNvPr id="25" name="Fewer portfolios to buy icon" descr="Fewer portfolios to buy">    </p:cNvPr>
          <p:cNvPicPr>
            <a:picLocks noChangeAspect="1"/>
          </p:cNvPicPr>
          <p:nvPr/>
        </p:nvPicPr>
        <p:blipFill>
          <a:blip r:embed="rId8"/>
          <a:stretch>
            <a:fillRect/>
          </a:stretch>
        </p:blipFill>
        <p:spPr>
          <a:xfrm>
            <a:off x="6332220" y="5198364"/>
            <a:ext cx="320040" cy="320040"/>
          </a:xfrm>
          <a:prstGeom prst="rect">
            <a:avLst/>
          </a:prstGeom>
        </p:spPr>
      </p:pic>
      <p:sp>
        <p:nvSpPr>
          <p:cNvPr id="26" name="Text 16"/>
          <p:cNvSpPr txBox="1"/>
          <p:nvPr/>
        </p:nvSpPr>
        <p:spPr>
          <a:xfrm>
            <a:off x="6995160" y="4992624"/>
            <a:ext cx="4572000" cy="1097280"/>
          </a:xfrm>
          <a:prstGeom prst="rect">
            <a:avLst/>
          </a:prstGeom>
          <a:noFill/>
          <a:ln/>
        </p:spPr>
        <p:txBody>
          <a:bodyPr wrap="square" lIns="0" tIns="0" rIns="0" bIns="0" rtlCol="0" anchor="t"/>
          <a:lstStyle/>
          <a:p>
            <a:pPr indent="0" marL="0">
              <a:buNone/>
            </a:pPr>
            <a:r>
              <a:rPr lang="en-US" sz="1400" b="1" dirty="0">
                <a:solidFill>
                  <a:schemeClr val="tx2"/>
                </a:solidFill>
              </a:rPr>
              <a:t>Fewer portfolios to buy</a:t>
            </a:r>
            <a:endParaRPr lang="en-US" sz="1400" dirty="0"/>
          </a:p>
          <a:p>
            <a:pPr indent="0" marL="0">
              <a:buNone/>
            </a:pPr>
            <a:r>
              <a:rPr lang="en-US" sz="1400" dirty="0">
                <a:solidFill>
                  <a:schemeClr val="tx1"/>
                </a:solidFill>
              </a:rPr>
              <a:t>Most carrier towers are already sold; M&amp;A-led growth is plateauing</a:t>
            </a:r>
            <a:endParaRPr lang="en-US" sz="1400" dirty="0"/>
          </a:p>
        </p:txBody>
      </p:sp>
      <p:sp>
        <p:nvSpPr>
          <p:cNvPr id="27" name="Text 17"/>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Sources: Dell'Oro (2023 capex); TelecomLead (2026 capex); Teletime (carrier statements); DCD and Bloomberg (DISH litigation); TowerXchange.</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numbers confirm the slowdown</a:t>
            </a:r>
            <a:endParaRPr lang="en-US" sz="2800" dirty="0"/>
          </a:p>
        </p:txBody>
      </p:sp>
      <p:graphicFrame>
        <p:nvGraphicFramePr>
          <p:cNvPr id="3" name="Chart 0" descr=""/>
          <p:cNvGraphicFramePr/>
          <p:nvPr/>
        </p:nvGraphicFramePr>
        <p:xfrm>
          <a:off x="548640" y="1371600"/>
          <a:ext cx="6583680" cy="3383280"/>
        </p:xfrm>
        <a:graphic xmlns:a="http://schemas.openxmlformats.org/drawingml/2006/main">
          <a:graphicData uri="http://schemas.openxmlformats.org/drawingml/2006/chart">
            <c:chart xmlns:c="http://schemas.openxmlformats.org/drawingml/2006/chart" r:id="rId1"/>
          </a:graphicData>
        </a:graphic>
      </p:graphicFrame>
      <p:sp>
        <p:nvSpPr>
          <p:cNvPr id="4" name="S&amp;P comparison card"/>
          <p:cNvSpPr/>
          <p:nvPr/>
        </p:nvSpPr>
        <p:spPr>
          <a:xfrm>
            <a:off x="548640" y="4892040"/>
            <a:ext cx="6583680" cy="1005840"/>
          </a:xfrm>
          <a:prstGeom prst="roundRect">
            <a:avLst>
              <a:gd name="adj" fmla="val 10909"/>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5" name="Text 2"/>
          <p:cNvSpPr txBox="1"/>
          <p:nvPr/>
        </p:nvSpPr>
        <p:spPr>
          <a:xfrm>
            <a:off x="822960" y="4983480"/>
            <a:ext cx="1645920" cy="82296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+49%</a:t>
            </a:r>
            <a:endParaRPr lang="en-US" sz="3200" dirty="0"/>
          </a:p>
        </p:txBody>
      </p:sp>
      <p:sp>
        <p:nvSpPr>
          <p:cNvPr id="6" name="Text 3"/>
          <p:cNvSpPr txBox="1"/>
          <p:nvPr/>
        </p:nvSpPr>
        <p:spPr>
          <a:xfrm>
            <a:off x="2560320" y="4983480"/>
            <a:ext cx="4389120" cy="822960"/>
          </a:xfrm>
          <a:prstGeom prst="rect">
            <a:avLst/>
          </a:prstGeom>
          <a:noFill/>
          <a:ln/>
        </p:spPr>
        <p:txBody>
          <a:bodyPr wrap="square" lIns="0" tIns="0" rIns="0" bIns="0" rtlCol="0" anchor="ctr"/>
          <a:lstStyle/>
          <a:p>
            <a:pPr indent="0" marL="0">
              <a:buNone/>
            </a:pPr>
            <a:r>
              <a:rPr lang="en-US" sz="1400" dirty="0">
                <a:solidFill>
                  <a:schemeClr val="tx1"/>
                </a:solidFill>
              </a:rPr>
              <a:t>S&amp;P 500 over the same period: the tower REITs lagged the market by 50 to 78 points</a:t>
            </a:r>
            <a:endParaRPr lang="en-US" sz="1400" dirty="0"/>
          </a:p>
        </p:txBody>
      </p:sp>
      <p:sp>
        <p:nvSpPr>
          <p:cNvPr id="7" name="Stat card 1"/>
          <p:cNvSpPr/>
          <p:nvPr/>
        </p:nvSpPr>
        <p:spPr>
          <a:xfrm>
            <a:off x="7498080" y="1371600"/>
            <a:ext cx="4114800" cy="1325880"/>
          </a:xfrm>
          <a:prstGeom prst="roundRect">
            <a:avLst>
              <a:gd name="adj" fmla="val 8276"/>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8" name="Text 5"/>
          <p:cNvSpPr txBox="1"/>
          <p:nvPr/>
        </p:nvSpPr>
        <p:spPr>
          <a:xfrm>
            <a:off x="7726680" y="1508760"/>
            <a:ext cx="3657600" cy="54864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~4% to 0.5%</a:t>
            </a:r>
            <a:endParaRPr lang="en-US" sz="3000" dirty="0"/>
          </a:p>
        </p:txBody>
      </p:sp>
      <p:sp>
        <p:nvSpPr>
          <p:cNvPr id="9" name="Text 6"/>
          <p:cNvSpPr txBox="1"/>
          <p:nvPr/>
        </p:nvSpPr>
        <p:spPr>
          <a:xfrm>
            <a:off x="7726680" y="2103120"/>
            <a:ext cx="3657600" cy="548640"/>
          </a:xfrm>
          <a:prstGeom prst="rect">
            <a:avLst/>
          </a:prstGeom>
          <a:noFill/>
          <a:ln/>
        </p:spPr>
        <p:txBody>
          <a:bodyPr wrap="square" lIns="0" tIns="0" rIns="0" bIns="0" rtlCol="0" anchor="t"/>
          <a:lstStyle/>
          <a:p>
            <a:pPr indent="0" marL="0">
              <a:buNone/>
            </a:pPr>
            <a:r>
              <a:rPr lang="en-US" sz="1300" dirty="0">
                <a:solidFill>
                  <a:schemeClr val="tx1"/>
                </a:solidFill>
              </a:rPr>
              <a:t>American Tower 2026 organic growth, before and after removing DISH leases</a:t>
            </a:r>
            <a:endParaRPr lang="en-US" sz="1300" dirty="0"/>
          </a:p>
        </p:txBody>
      </p:sp>
      <p:sp>
        <p:nvSpPr>
          <p:cNvPr id="10" name="Stat card 2"/>
          <p:cNvSpPr/>
          <p:nvPr/>
        </p:nvSpPr>
        <p:spPr>
          <a:xfrm>
            <a:off x="7498080" y="2880360"/>
            <a:ext cx="4114800" cy="1325880"/>
          </a:xfrm>
          <a:prstGeom prst="roundRect">
            <a:avLst>
              <a:gd name="adj" fmla="val 8276"/>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11" name="Text 8"/>
          <p:cNvSpPr txBox="1"/>
          <p:nvPr/>
        </p:nvSpPr>
        <p:spPr>
          <a:xfrm>
            <a:off x="7726680" y="3017520"/>
            <a:ext cx="3657600" cy="54864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US$ 220M</a:t>
            </a:r>
            <a:endParaRPr lang="en-US" sz="3000" dirty="0"/>
          </a:p>
        </p:txBody>
      </p:sp>
      <p:sp>
        <p:nvSpPr>
          <p:cNvPr id="12" name="Text 9"/>
          <p:cNvSpPr txBox="1"/>
          <p:nvPr/>
        </p:nvSpPr>
        <p:spPr>
          <a:xfrm>
            <a:off x="7726680" y="3611880"/>
            <a:ext cx="3657600" cy="548640"/>
          </a:xfrm>
          <a:prstGeom prst="rect">
            <a:avLst/>
          </a:prstGeom>
          <a:noFill/>
          <a:ln/>
        </p:spPr>
        <p:txBody>
          <a:bodyPr wrap="square" lIns="0" tIns="0" rIns="0" bIns="0" rtlCol="0" anchor="t"/>
          <a:lstStyle/>
          <a:p>
            <a:pPr indent="0" marL="0">
              <a:buNone/>
            </a:pPr>
            <a:r>
              <a:rPr lang="en-US" sz="1300" dirty="0">
                <a:solidFill>
                  <a:schemeClr val="tx1"/>
                </a:solidFill>
              </a:rPr>
              <a:t>Crown Castle 2026 revenue hit from DISH terminations</a:t>
            </a:r>
            <a:endParaRPr lang="en-US" sz="1300" dirty="0"/>
          </a:p>
        </p:txBody>
      </p:sp>
      <p:sp>
        <p:nvSpPr>
          <p:cNvPr id="13" name="Stat card 3"/>
          <p:cNvSpPr/>
          <p:nvPr/>
        </p:nvSpPr>
        <p:spPr>
          <a:xfrm>
            <a:off x="7498080" y="4389120"/>
            <a:ext cx="4114800" cy="1325880"/>
          </a:xfrm>
          <a:prstGeom prst="roundRect">
            <a:avLst>
              <a:gd name="adj" fmla="val 8276"/>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14" name="Text 11"/>
          <p:cNvSpPr txBox="1"/>
          <p:nvPr/>
        </p:nvSpPr>
        <p:spPr>
          <a:xfrm>
            <a:off x="7726680" y="4526280"/>
            <a:ext cx="3657600" cy="54864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−2%</a:t>
            </a:r>
            <a:endParaRPr lang="en-US" sz="3000" dirty="0"/>
          </a:p>
        </p:txBody>
      </p:sp>
      <p:sp>
        <p:nvSpPr>
          <p:cNvPr id="15" name="Text 12"/>
          <p:cNvSpPr txBox="1"/>
          <p:nvPr/>
        </p:nvSpPr>
        <p:spPr>
          <a:xfrm>
            <a:off x="7726680" y="5120640"/>
            <a:ext cx="3657600" cy="548640"/>
          </a:xfrm>
          <a:prstGeom prst="rect">
            <a:avLst/>
          </a:prstGeom>
          <a:noFill/>
          <a:ln/>
        </p:spPr>
        <p:txBody>
          <a:bodyPr wrap="square" lIns="0" tIns="0" rIns="0" bIns="0" rtlCol="0" anchor="t"/>
          <a:lstStyle/>
          <a:p>
            <a:pPr indent="0" marL="0">
              <a:buNone/>
            </a:pPr>
            <a:r>
              <a:rPr lang="en-US" sz="1300" dirty="0">
                <a:solidFill>
                  <a:schemeClr val="tx1"/>
                </a:solidFill>
              </a:rPr>
              <a:t>Forecast change in global telecom capex in 2026</a:t>
            </a:r>
            <a:endParaRPr lang="en-US" sz="1300" dirty="0"/>
          </a:p>
        </p:txBody>
      </p:sp>
      <p:sp>
        <p:nvSpPr>
          <p:cNvPr id="16" name="Text 13"/>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Sources: Simply Safe Dividends (share prices, 2025); Inside Towers and Wireless Estimator (2026 guidance); TelecomLead (capex).</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5G kept the tower, but new demand moved on</a:t>
            </a:r>
            <a:endParaRPr lang="en-US" sz="2800" dirty="0"/>
          </a:p>
        </p:txBody>
      </p:sp>
      <p:sp>
        <p:nvSpPr>
          <p:cNvPr id="3" name="What 5G did panel"/>
          <p:cNvSpPr/>
          <p:nvPr/>
        </p:nvSpPr>
        <p:spPr>
          <a:xfrm>
            <a:off x="548640" y="1371600"/>
            <a:ext cx="5120640" cy="4526280"/>
          </a:xfrm>
          <a:prstGeom prst="roundRect">
            <a:avLst>
              <a:gd name="adj" fmla="val 2424"/>
            </a:avLst>
          </a:prstGeom>
          <a:solidFill>
            <a:srgbClr val="14213D"/>
          </a:solidFill>
          <a:ln w="12700">
            <a:solidFill>
              <a:srgbClr val="14213D"/>
            </a:solidFill>
            <a:prstDash val="solid"/>
          </a:ln>
          <a:effectLst>
            <a:outerShdw sx="100000" sy="100000" kx="0" ky="0" algn="bl" rotWithShape="0" blurRad="76200" dist="25400" dir="5400000">
              <a:srgbClr val="9AA5B1">
                <a:alpha val="25000"/>
              </a:srgbClr>
            </a:outerShdw>
          </a:effectLst>
        </p:spPr>
      </p:sp>
      <p:sp>
        <p:nvSpPr>
          <p:cNvPr id="4" name="Text 2"/>
          <p:cNvSpPr txBox="1"/>
          <p:nvPr/>
        </p:nvSpPr>
        <p:spPr>
          <a:xfrm>
            <a:off x="822960" y="1600200"/>
            <a:ext cx="45720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What actually happened</a:t>
            </a:r>
            <a:endParaRPr lang="en-US" sz="2000" dirty="0"/>
          </a:p>
        </p:txBody>
      </p:sp>
      <p:sp>
        <p:nvSpPr>
          <p:cNvPr id="5" name="Text 3"/>
          <p:cNvSpPr txBox="1"/>
          <p:nvPr/>
        </p:nvSpPr>
        <p:spPr>
          <a:xfrm>
            <a:off x="822960" y="2194560"/>
            <a:ext cx="4572000" cy="3474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Mid-band 5G (C-band) runs on existing macro towers: the last big amendment wave</a:t>
            </a:r>
            <a:endParaRPr lang="en-US" sz="1600" dirty="0"/>
          </a:p>
          <a:p>
            <a:pPr marL="342900" indent="-342900">
              <a:spcAft>
                <a:spcPts val="1000"/>
              </a:spcAft>
              <a:buSzPct val="100000"/>
              <a:buChar char="•"/>
            </a:pPr>
            <a:r>
              <a:rPr lang="en-US" sz="1600" dirty="0">
                <a:solidFill>
                  <a:schemeClr val="bg1"/>
                </a:solidFill>
              </a:rPr>
              <a:t>mmWave and outdoor small cells did not scale as forecast</a:t>
            </a:r>
            <a:endParaRPr lang="en-US" sz="1600" dirty="0"/>
          </a:p>
          <a:p>
            <a:pPr marL="342900" indent="-342900">
              <a:spcAft>
                <a:spcPts val="1000"/>
              </a:spcAft>
              <a:buSzPct val="100000"/>
              <a:buChar char="•"/>
            </a:pPr>
            <a:r>
              <a:rPr lang="en-US" sz="1600" dirty="0">
                <a:solidFill>
                  <a:schemeClr val="bg1"/>
                </a:solidFill>
              </a:rPr>
              <a:t>Crown Castle sold 115k small cells and its fiber for US$ 8.5B to become a pure tower company</a:t>
            </a:r>
            <a:endParaRPr lang="en-US" sz="1600" dirty="0"/>
          </a:p>
        </p:txBody>
      </p:sp>
      <p:sp>
        <p:nvSpPr>
          <p:cNvPr id="6" name="Text 4"/>
          <p:cNvSpPr txBox="1"/>
          <p:nvPr/>
        </p:nvSpPr>
        <p:spPr>
          <a:xfrm>
            <a:off x="6035040" y="1371600"/>
            <a:ext cx="548640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Where new demand is going</a:t>
            </a:r>
            <a:endParaRPr lang="en-US" sz="2000" dirty="0"/>
          </a:p>
        </p:txBody>
      </p:sp>
      <p:sp>
        <p:nvSpPr>
          <p:cNvPr id="7" name="Energy circle"/>
          <p:cNvSpPr/>
          <p:nvPr/>
        </p:nvSpPr>
        <p:spPr>
          <a:xfrm>
            <a:off x="6035040" y="1965960"/>
            <a:ext cx="640080" cy="640080"/>
          </a:xfrm>
          <a:prstGeom prst="ellipse">
            <a:avLst/>
          </a:prstGeom>
          <a:solidFill>
            <a:srgbClr val="F4A300"/>
          </a:solidFill>
          <a:ln w="12700">
            <a:solidFill>
              <a:srgbClr val="F4A300"/>
            </a:solidFill>
            <a:prstDash val="solid"/>
          </a:ln>
        </p:spPr>
      </p:sp>
      <p:pic>
        <p:nvPicPr>
          <p:cNvPr id="8" name="Energy icon" descr="Energy">    </p:cNvPr>
          <p:cNvPicPr>
            <a:picLocks noChangeAspect="1"/>
          </p:cNvPicPr>
          <p:nvPr/>
        </p:nvPicPr>
        <p:blipFill>
          <a:blip r:embed="rId1"/>
          <a:stretch>
            <a:fillRect/>
          </a:stretch>
        </p:blipFill>
        <p:spPr>
          <a:xfrm>
            <a:off x="6195060" y="2125980"/>
            <a:ext cx="320040" cy="320040"/>
          </a:xfrm>
          <a:prstGeom prst="rect">
            <a:avLst/>
          </a:prstGeom>
        </p:spPr>
      </p:pic>
      <p:sp>
        <p:nvSpPr>
          <p:cNvPr id="9" name="Text 6"/>
          <p:cNvSpPr txBox="1"/>
          <p:nvPr/>
        </p:nvSpPr>
        <p:spPr>
          <a:xfrm>
            <a:off x="6858000" y="1947672"/>
            <a:ext cx="4754880" cy="868680"/>
          </a:xfrm>
          <a:prstGeom prst="rect">
            <a:avLst/>
          </a:prstGeom>
          <a:noFill/>
          <a:ln/>
        </p:spPr>
        <p:txBody>
          <a:bodyPr wrap="square" lIns="0" tIns="0" rIns="0" bIns="0" rtlCol="0" anchor="t"/>
          <a:lstStyle/>
          <a:p>
            <a:pPr indent="0" marL="0">
              <a:buNone/>
            </a:pPr>
            <a:r>
              <a:rPr lang="en-US" sz="1400" b="1" dirty="0">
                <a:solidFill>
                  <a:schemeClr val="tx2"/>
                </a:solidFill>
              </a:rPr>
              <a:t>Energy</a:t>
            </a:r>
            <a:endParaRPr lang="en-US" sz="1400" dirty="0"/>
          </a:p>
          <a:p>
            <a:pPr indent="0" marL="0">
              <a:buNone/>
            </a:pPr>
            <a:r>
              <a:rPr lang="en-US" sz="1400" dirty="0">
                <a:solidFill>
                  <a:schemeClr val="tx1"/>
                </a:solidFill>
              </a:rPr>
              <a:t>Up to 32% of 5G network cost, from 23% in 4G</a:t>
            </a:r>
            <a:endParaRPr lang="en-US" sz="1400" dirty="0"/>
          </a:p>
        </p:txBody>
      </p:sp>
      <p:sp>
        <p:nvSpPr>
          <p:cNvPr id="10" name="Indoor coverage circle"/>
          <p:cNvSpPr/>
          <p:nvPr/>
        </p:nvSpPr>
        <p:spPr>
          <a:xfrm>
            <a:off x="6035040" y="2953512"/>
            <a:ext cx="640080" cy="640080"/>
          </a:xfrm>
          <a:prstGeom prst="ellipse">
            <a:avLst/>
          </a:prstGeom>
          <a:solidFill>
            <a:srgbClr val="F4A300"/>
          </a:solidFill>
          <a:ln w="12700">
            <a:solidFill>
              <a:srgbClr val="F4A300"/>
            </a:solidFill>
            <a:prstDash val="solid"/>
          </a:ln>
        </p:spPr>
      </p:sp>
      <p:pic>
        <p:nvPicPr>
          <p:cNvPr id="11" name="Indoor coverage icon" descr="Indoor coverage">    </p:cNvPr>
          <p:cNvPicPr>
            <a:picLocks noChangeAspect="1"/>
          </p:cNvPicPr>
          <p:nvPr/>
        </p:nvPicPr>
        <p:blipFill>
          <a:blip r:embed="rId2"/>
          <a:stretch>
            <a:fillRect/>
          </a:stretch>
        </p:blipFill>
        <p:spPr>
          <a:xfrm>
            <a:off x="6195060" y="3113532"/>
            <a:ext cx="320040" cy="320040"/>
          </a:xfrm>
          <a:prstGeom prst="rect">
            <a:avLst/>
          </a:prstGeom>
        </p:spPr>
      </p:pic>
      <p:sp>
        <p:nvSpPr>
          <p:cNvPr id="12" name="Text 8"/>
          <p:cNvSpPr txBox="1"/>
          <p:nvPr/>
        </p:nvSpPr>
        <p:spPr>
          <a:xfrm>
            <a:off x="6858000" y="2935224"/>
            <a:ext cx="4754880" cy="868680"/>
          </a:xfrm>
          <a:prstGeom prst="rect">
            <a:avLst/>
          </a:prstGeom>
          <a:noFill/>
          <a:ln/>
        </p:spPr>
        <p:txBody>
          <a:bodyPr wrap="square" lIns="0" tIns="0" rIns="0" bIns="0" rtlCol="0" anchor="t"/>
          <a:lstStyle/>
          <a:p>
            <a:pPr indent="0" marL="0">
              <a:buNone/>
            </a:pPr>
            <a:r>
              <a:rPr lang="en-US" sz="1400" b="1" dirty="0">
                <a:solidFill>
                  <a:schemeClr val="tx2"/>
                </a:solidFill>
              </a:rPr>
              <a:t>Indoor coverage</a:t>
            </a:r>
            <a:endParaRPr lang="en-US" sz="1400" dirty="0"/>
          </a:p>
          <a:p>
            <a:pPr indent="0" marL="0">
              <a:buNone/>
            </a:pPr>
            <a:r>
              <a:rPr lang="en-US" sz="1400" dirty="0">
                <a:solidFill>
                  <a:schemeClr val="tx1"/>
                </a:solidFill>
              </a:rPr>
              <a:t>In-building wireless: ~US$ 25B (2026) to ~US$ 48B (2032)</a:t>
            </a:r>
            <a:endParaRPr lang="en-US" sz="1400" dirty="0"/>
          </a:p>
        </p:txBody>
      </p:sp>
      <p:sp>
        <p:nvSpPr>
          <p:cNvPr id="13" name="Edge and AI at sites circle"/>
          <p:cNvSpPr/>
          <p:nvPr/>
        </p:nvSpPr>
        <p:spPr>
          <a:xfrm>
            <a:off x="6035040" y="3941064"/>
            <a:ext cx="640080" cy="640080"/>
          </a:xfrm>
          <a:prstGeom prst="ellipse">
            <a:avLst/>
          </a:prstGeom>
          <a:solidFill>
            <a:srgbClr val="F4A300"/>
          </a:solidFill>
          <a:ln w="12700">
            <a:solidFill>
              <a:srgbClr val="F4A300"/>
            </a:solidFill>
            <a:prstDash val="solid"/>
          </a:ln>
        </p:spPr>
      </p:sp>
      <p:pic>
        <p:nvPicPr>
          <p:cNvPr id="14" name="Edge and AI at sites icon" descr="Edge and AI at sites">    </p:cNvPr>
          <p:cNvPicPr>
            <a:picLocks noChangeAspect="1"/>
          </p:cNvPicPr>
          <p:nvPr/>
        </p:nvPicPr>
        <p:blipFill>
          <a:blip r:embed="rId3"/>
          <a:stretch>
            <a:fillRect/>
          </a:stretch>
        </p:blipFill>
        <p:spPr>
          <a:xfrm>
            <a:off x="6195060" y="4101084"/>
            <a:ext cx="320040" cy="320040"/>
          </a:xfrm>
          <a:prstGeom prst="rect">
            <a:avLst/>
          </a:prstGeom>
        </p:spPr>
      </p:pic>
      <p:sp>
        <p:nvSpPr>
          <p:cNvPr id="15" name="Text 10"/>
          <p:cNvSpPr txBox="1"/>
          <p:nvPr/>
        </p:nvSpPr>
        <p:spPr>
          <a:xfrm>
            <a:off x="6858000" y="3922776"/>
            <a:ext cx="4754880" cy="868680"/>
          </a:xfrm>
          <a:prstGeom prst="rect">
            <a:avLst/>
          </a:prstGeom>
          <a:noFill/>
          <a:ln/>
        </p:spPr>
        <p:txBody>
          <a:bodyPr wrap="square" lIns="0" tIns="0" rIns="0" bIns="0" rtlCol="0" anchor="t"/>
          <a:lstStyle/>
          <a:p>
            <a:pPr indent="0" marL="0">
              <a:buNone/>
            </a:pPr>
            <a:r>
              <a:rPr lang="en-US" sz="1400" b="1" dirty="0">
                <a:solidFill>
                  <a:schemeClr val="tx2"/>
                </a:solidFill>
              </a:rPr>
              <a:t>Edge and AI at sites</a:t>
            </a:r>
            <a:endParaRPr lang="en-US" sz="1400" dirty="0"/>
          </a:p>
          <a:p>
            <a:pPr indent="0" marL="0">
              <a:buNone/>
            </a:pPr>
            <a:r>
              <a:rPr lang="en-US" sz="1400" dirty="0">
                <a:solidFill>
                  <a:schemeClr val="tx1"/>
                </a:solidFill>
              </a:rPr>
              <a:t>AI-RAN: US$ 200B+ cumulative by 2030; T-Mobile retrofitting 13k sites</a:t>
            </a:r>
            <a:endParaRPr lang="en-US" sz="1400" dirty="0"/>
          </a:p>
        </p:txBody>
      </p:sp>
      <p:sp>
        <p:nvSpPr>
          <p:cNvPr id="16" name="Satellite integration circle"/>
          <p:cNvSpPr/>
          <p:nvPr/>
        </p:nvSpPr>
        <p:spPr>
          <a:xfrm>
            <a:off x="6035040" y="4928616"/>
            <a:ext cx="640080" cy="640080"/>
          </a:xfrm>
          <a:prstGeom prst="ellipse">
            <a:avLst/>
          </a:prstGeom>
          <a:solidFill>
            <a:srgbClr val="F4A300"/>
          </a:solidFill>
          <a:ln w="12700">
            <a:solidFill>
              <a:srgbClr val="F4A300"/>
            </a:solidFill>
            <a:prstDash val="solid"/>
          </a:ln>
        </p:spPr>
      </p:sp>
      <p:pic>
        <p:nvPicPr>
          <p:cNvPr id="17" name="Satellite integration icon" descr="Satellite integration">    </p:cNvPr>
          <p:cNvPicPr>
            <a:picLocks noChangeAspect="1"/>
          </p:cNvPicPr>
          <p:nvPr/>
        </p:nvPicPr>
        <p:blipFill>
          <a:blip r:embed="rId4"/>
          <a:stretch>
            <a:fillRect/>
          </a:stretch>
        </p:blipFill>
        <p:spPr>
          <a:xfrm>
            <a:off x="6195060" y="5088636"/>
            <a:ext cx="320040" cy="320040"/>
          </a:xfrm>
          <a:prstGeom prst="rect">
            <a:avLst/>
          </a:prstGeom>
        </p:spPr>
      </p:pic>
      <p:sp>
        <p:nvSpPr>
          <p:cNvPr id="18" name="Text 12"/>
          <p:cNvSpPr txBox="1"/>
          <p:nvPr/>
        </p:nvSpPr>
        <p:spPr>
          <a:xfrm>
            <a:off x="6858000" y="4910328"/>
            <a:ext cx="4754880" cy="868680"/>
          </a:xfrm>
          <a:prstGeom prst="rect">
            <a:avLst/>
          </a:prstGeom>
          <a:noFill/>
          <a:ln/>
        </p:spPr>
        <p:txBody>
          <a:bodyPr wrap="square" lIns="0" tIns="0" rIns="0" bIns="0" rtlCol="0" anchor="t"/>
          <a:lstStyle/>
          <a:p>
            <a:pPr indent="0" marL="0">
              <a:buNone/>
            </a:pPr>
            <a:r>
              <a:rPr lang="en-US" sz="1400" b="1" dirty="0">
                <a:solidFill>
                  <a:schemeClr val="tx2"/>
                </a:solidFill>
              </a:rPr>
              <a:t>Satellite integration</a:t>
            </a:r>
            <a:endParaRPr lang="en-US" sz="1400" dirty="0"/>
          </a:p>
          <a:p>
            <a:pPr indent="0" marL="0">
              <a:buNone/>
            </a:pPr>
            <a:r>
              <a:rPr lang="en-US" sz="1400" dirty="0">
                <a:solidFill>
                  <a:schemeClr val="tx1"/>
                </a:solidFill>
              </a:rPr>
              <a:t>LEO direct-to-device needs gateways with land, power and fiber</a:t>
            </a:r>
            <a:endParaRPr lang="en-US" sz="1400" dirty="0"/>
          </a:p>
        </p:txBody>
      </p:sp>
      <p:sp>
        <p:nvSpPr>
          <p:cNvPr id="19" name="Text 13"/>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Sources: GSMA (energy share of TCO); MarketsandMarkets (in-building wireless); Omdia and Nvidia GTC 2026 (AI-RAN); DCD (Crown Castle sale).</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The growth ambition</a:t>
            </a:r>
            <a:endParaRPr lang="en-US" sz="4000" dirty="0"/>
          </a:p>
        </p:txBody>
      </p:sp>
      <p:sp>
        <p:nvSpPr>
          <p:cNvPr id="3" name="Text 0"/>
          <p:cNvSpPr/>
          <p:nvPr>
            <p:ph idx="101" type="body" hasCustomPrompt="1"/>
          </p:nvPr>
        </p:nvSpPr>
        <p:spPr>
          <a:xfrm>
            <a:off x="731520" y="3749040"/>
            <a:ext cx="10515600" cy="822960"/>
          </a:xfrm>
          <a:prstGeom prst="rect">
            <a:avLst/>
          </a:prstGeom>
          <a:noFill/>
          <a:ln/>
        </p:spPr>
        <p:txBody>
          <a:bodyPr wrap="square" rtlCol="0" anchor="t"/>
          <a:lstStyle/>
          <a:p>
            <a:pPr algn="l" indent="0" marL="0">
              <a:buNone/>
            </a:pPr>
            <a:r>
              <a:rPr lang="en-US" sz="1800" dirty="0">
                <a:solidFill>
                  <a:schemeClr val="accent5"/>
                </a:solidFill>
              </a:rPr>
              <a:t>Part 2  |  What a new engine has to deliver</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target rises in steps through year 12</a:t>
            </a:r>
            <a:endParaRPr lang="en-US" sz="2800" dirty="0"/>
          </a:p>
        </p:txBody>
      </p:sp>
      <p:graphicFrame>
        <p:nvGraphicFramePr>
          <p:cNvPr id="3" name="Chart 0" descr=""/>
          <p:cNvGraphicFramePr/>
          <p:nvPr/>
        </p:nvGraphicFramePr>
        <p:xfrm>
          <a:off x="548640" y="13716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Step card 1"/>
          <p:cNvSpPr/>
          <p:nvPr/>
        </p:nvSpPr>
        <p:spPr>
          <a:xfrm>
            <a:off x="7680960" y="1371600"/>
            <a:ext cx="3931920" cy="896112"/>
          </a:xfrm>
          <a:prstGeom prst="roundRect">
            <a:avLst>
              <a:gd name="adj" fmla="val 12245"/>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5" name="Text 2"/>
          <p:cNvSpPr txBox="1"/>
          <p:nvPr/>
        </p:nvSpPr>
        <p:spPr>
          <a:xfrm>
            <a:off x="7863840" y="1463040"/>
            <a:ext cx="3611880" cy="777240"/>
          </a:xfrm>
          <a:prstGeom prst="rect">
            <a:avLst/>
          </a:prstGeom>
          <a:noFill/>
          <a:ln/>
        </p:spPr>
        <p:txBody>
          <a:bodyPr wrap="square" lIns="0" tIns="0" rIns="0" bIns="0" rtlCol="0" anchor="t"/>
          <a:lstStyle/>
          <a:p>
            <a:pPr indent="0" marL="0">
              <a:buNone/>
            </a:pPr>
            <a:r>
              <a:rPr lang="en-US" sz="1300" b="1" dirty="0">
                <a:solidFill>
                  <a:schemeClr val="tx2"/>
                </a:solidFill>
              </a:rPr>
              <a:t>Year 3  |  Traction</a:t>
            </a:r>
            <a:endParaRPr lang="en-US" sz="1300" dirty="0"/>
          </a:p>
          <a:p>
            <a:pPr indent="0" marL="0">
              <a:buNone/>
            </a:pPr>
            <a:r>
              <a:rPr lang="en-US" sz="1300" dirty="0">
                <a:solidFill>
                  <a:schemeClr val="tx1"/>
                </a:solidFill>
              </a:rPr>
              <a:t>~US$ 170M, 25%+ margin, 2+ payers on the same asset</a:t>
            </a:r>
            <a:endParaRPr lang="en-US" sz="1300" dirty="0"/>
          </a:p>
        </p:txBody>
      </p:sp>
      <p:sp>
        <p:nvSpPr>
          <p:cNvPr id="6" name="Step card 2"/>
          <p:cNvSpPr/>
          <p:nvPr/>
        </p:nvSpPr>
        <p:spPr>
          <a:xfrm>
            <a:off x="7680960" y="2395728"/>
            <a:ext cx="3931920" cy="896112"/>
          </a:xfrm>
          <a:prstGeom prst="roundRect">
            <a:avLst>
              <a:gd name="adj" fmla="val 12245"/>
            </a:avLst>
          </a:prstGeom>
          <a:solidFill>
            <a:srgbClr val="14213D"/>
          </a:solidFill>
          <a:ln w="12700">
            <a:solidFill>
              <a:srgbClr val="14213D"/>
            </a:solidFill>
            <a:prstDash val="solid"/>
          </a:ln>
          <a:effectLst>
            <a:outerShdw sx="100000" sy="100000" kx="0" ky="0" algn="bl" rotWithShape="0" blurRad="76200" dist="25400" dir="5400000">
              <a:srgbClr val="9AA5B1">
                <a:alpha val="25000"/>
              </a:srgbClr>
            </a:outerShdw>
          </a:effectLst>
        </p:spPr>
      </p:sp>
      <p:sp>
        <p:nvSpPr>
          <p:cNvPr id="7" name="Text 4"/>
          <p:cNvSpPr txBox="1"/>
          <p:nvPr/>
        </p:nvSpPr>
        <p:spPr>
          <a:xfrm>
            <a:off x="7863840" y="2487168"/>
            <a:ext cx="3611880" cy="777240"/>
          </a:xfrm>
          <a:prstGeom prst="rect">
            <a:avLst/>
          </a:prstGeom>
          <a:noFill/>
          <a:ln/>
        </p:spPr>
        <p:txBody>
          <a:bodyPr wrap="square" lIns="0" tIns="0" rIns="0" bIns="0" rtlCol="0" anchor="t"/>
          <a:lstStyle/>
          <a:p>
            <a:pPr indent="0" marL="0">
              <a:buNone/>
            </a:pPr>
            <a:r>
              <a:rPr lang="en-US" sz="1300" b="1" dirty="0">
                <a:solidFill>
                  <a:schemeClr val="accent1"/>
                </a:solidFill>
              </a:rPr>
              <a:t>Year 5  |  Growth engine</a:t>
            </a:r>
            <a:endParaRPr lang="en-US" sz="1300" dirty="0"/>
          </a:p>
          <a:p>
            <a:pPr indent="0" marL="0">
              <a:buNone/>
            </a:pPr>
            <a:r>
              <a:rPr lang="en-US" sz="1300" dirty="0">
                <a:solidFill>
                  <a:schemeClr val="bg1"/>
                </a:solidFill>
              </a:rPr>
              <a:t>~US$ 510M, 45%+ margin: more new revenue than the core adds</a:t>
            </a:r>
            <a:endParaRPr lang="en-US" sz="1300" dirty="0"/>
          </a:p>
        </p:txBody>
      </p:sp>
      <p:sp>
        <p:nvSpPr>
          <p:cNvPr id="8" name="Step card 3"/>
          <p:cNvSpPr/>
          <p:nvPr/>
        </p:nvSpPr>
        <p:spPr>
          <a:xfrm>
            <a:off x="7680960" y="3419856"/>
            <a:ext cx="3931920" cy="896112"/>
          </a:xfrm>
          <a:prstGeom prst="roundRect">
            <a:avLst>
              <a:gd name="adj" fmla="val 12245"/>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9" name="Text 6"/>
          <p:cNvSpPr txBox="1"/>
          <p:nvPr/>
        </p:nvSpPr>
        <p:spPr>
          <a:xfrm>
            <a:off x="7863840" y="3511296"/>
            <a:ext cx="3611880" cy="777240"/>
          </a:xfrm>
          <a:prstGeom prst="rect">
            <a:avLst/>
          </a:prstGeom>
          <a:noFill/>
          <a:ln/>
        </p:spPr>
        <p:txBody>
          <a:bodyPr wrap="square" lIns="0" tIns="0" rIns="0" bIns="0" rtlCol="0" anchor="t"/>
          <a:lstStyle/>
          <a:p>
            <a:pPr indent="0" marL="0">
              <a:buNone/>
            </a:pPr>
            <a:r>
              <a:rPr lang="en-US" sz="1300" b="1" dirty="0">
                <a:solidFill>
                  <a:schemeClr val="tx2"/>
                </a:solidFill>
              </a:rPr>
              <a:t>Year 8  |  Second pillar</a:t>
            </a:r>
            <a:endParaRPr lang="en-US" sz="1300" dirty="0"/>
          </a:p>
          <a:p>
            <a:pPr indent="0" marL="0">
              <a:buNone/>
            </a:pPr>
            <a:r>
              <a:rPr lang="en-US" sz="1300" dirty="0">
                <a:solidFill>
                  <a:schemeClr val="tx1"/>
                </a:solidFill>
              </a:rPr>
              <a:t>~US$ 1.6B, 55%+ margin, tower-like cash conversion</a:t>
            </a:r>
            <a:endParaRPr lang="en-US" sz="1300" dirty="0"/>
          </a:p>
        </p:txBody>
      </p:sp>
      <p:sp>
        <p:nvSpPr>
          <p:cNvPr id="10" name="Step card 4"/>
          <p:cNvSpPr/>
          <p:nvPr/>
        </p:nvSpPr>
        <p:spPr>
          <a:xfrm>
            <a:off x="7680960" y="4443984"/>
            <a:ext cx="3931920" cy="896112"/>
          </a:xfrm>
          <a:prstGeom prst="roundRect">
            <a:avLst>
              <a:gd name="adj" fmla="val 12245"/>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11" name="Text 8"/>
          <p:cNvSpPr txBox="1"/>
          <p:nvPr/>
        </p:nvSpPr>
        <p:spPr>
          <a:xfrm>
            <a:off x="7863840" y="4535424"/>
            <a:ext cx="3611880" cy="777240"/>
          </a:xfrm>
          <a:prstGeom prst="rect">
            <a:avLst/>
          </a:prstGeom>
          <a:noFill/>
          <a:ln/>
        </p:spPr>
        <p:txBody>
          <a:bodyPr wrap="square" lIns="0" tIns="0" rIns="0" bIns="0" rtlCol="0" anchor="t"/>
          <a:lstStyle/>
          <a:p>
            <a:pPr indent="0" marL="0">
              <a:buNone/>
            </a:pPr>
            <a:r>
              <a:rPr lang="en-US" sz="1300" b="1" dirty="0">
                <a:solidFill>
                  <a:schemeClr val="tx2"/>
                </a:solidFill>
              </a:rPr>
              <a:t>Year 12  |  Parity</a:t>
            </a:r>
            <a:endParaRPr lang="en-US" sz="1300" dirty="0"/>
          </a:p>
          <a:p>
            <a:pPr indent="0" marL="0">
              <a:buNone/>
            </a:pPr>
            <a:r>
              <a:rPr lang="en-US" sz="1300" dirty="0">
                <a:solidFill>
                  <a:schemeClr val="tx1"/>
                </a:solidFill>
              </a:rPr>
              <a:t>~US$ 4.1B, 62 to 65% margin: the main business</a:t>
            </a:r>
            <a:endParaRPr lang="en-US" sz="1300" dirty="0"/>
          </a:p>
        </p:txBody>
      </p:sp>
      <p:sp>
        <p:nvSpPr>
          <p:cNvPr id="12" name="Text 9"/>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Core grows ~3% a year from ~US$ 2.85B (SBA 2026 guidance). Margin targets are EBITDA. Year 5 is the selection gate; later steps measure long-term potential.</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core tension: tower-like margins or real scale</a:t>
            </a:r>
            <a:endParaRPr lang="en-US" sz="2800" dirty="0"/>
          </a:p>
        </p:txBody>
      </p:sp>
      <p:sp>
        <p:nvSpPr>
          <p:cNvPr id="3" name="Ideas that reuse what we have panel"/>
          <p:cNvSpPr/>
          <p:nvPr/>
        </p:nvSpPr>
        <p:spPr>
          <a:xfrm>
            <a:off x="548640" y="1417320"/>
            <a:ext cx="5440680" cy="3566160"/>
          </a:xfrm>
          <a:prstGeom prst="roundRect">
            <a:avLst>
              <a:gd name="adj" fmla="val 3077"/>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4" name="Ideas that reuse what we have circle"/>
          <p:cNvSpPr/>
          <p:nvPr/>
        </p:nvSpPr>
        <p:spPr>
          <a:xfrm>
            <a:off x="868680" y="1691640"/>
            <a:ext cx="731520" cy="731520"/>
          </a:xfrm>
          <a:prstGeom prst="ellipse">
            <a:avLst/>
          </a:prstGeom>
          <a:solidFill>
            <a:srgbClr val="2A9D8F"/>
          </a:solidFill>
          <a:ln w="12700">
            <a:solidFill>
              <a:srgbClr val="2A9D8F"/>
            </a:solidFill>
            <a:prstDash val="solid"/>
          </a:ln>
        </p:spPr>
      </p:sp>
      <p:pic>
        <p:nvPicPr>
          <p:cNvPr id="5" name="Ideas that reuse what we have icon" descr="Ideas that reuse what we have">    </p:cNvPr>
          <p:cNvPicPr>
            <a:picLocks noChangeAspect="1"/>
          </p:cNvPicPr>
          <p:nvPr/>
        </p:nvPicPr>
        <p:blipFill>
          <a:blip r:embed="rId1"/>
          <a:stretch>
            <a:fillRect/>
          </a:stretch>
        </p:blipFill>
        <p:spPr>
          <a:xfrm>
            <a:off x="1051560" y="1874520"/>
            <a:ext cx="365760" cy="365760"/>
          </a:xfrm>
          <a:prstGeom prst="rect">
            <a:avLst/>
          </a:prstGeom>
        </p:spPr>
      </p:pic>
      <p:sp>
        <p:nvSpPr>
          <p:cNvPr id="6" name="Text 3"/>
          <p:cNvSpPr txBox="1"/>
          <p:nvPr/>
        </p:nvSpPr>
        <p:spPr>
          <a:xfrm>
            <a:off x="1828800" y="1783080"/>
            <a:ext cx="393192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Ideas that reuse what we have</a:t>
            </a:r>
            <a:endParaRPr lang="en-US" sz="2000" dirty="0"/>
          </a:p>
        </p:txBody>
      </p:sp>
      <p:sp>
        <p:nvSpPr>
          <p:cNvPr id="7" name="Text 4"/>
          <p:cNvSpPr txBox="1"/>
          <p:nvPr/>
        </p:nvSpPr>
        <p:spPr>
          <a:xfrm>
            <a:off x="868680" y="2697480"/>
            <a:ext cx="484632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Tower-like margins: shared asset, low capex</a:t>
            </a:r>
            <a:endParaRPr lang="en-US" sz="1600" dirty="0"/>
          </a:p>
          <a:p>
            <a:pPr marL="342900" indent="-342900">
              <a:spcAft>
                <a:spcPts val="1000"/>
              </a:spcAft>
              <a:buSzPct val="100000"/>
              <a:buChar char="•"/>
            </a:pPr>
            <a:r>
              <a:rPr lang="en-US" sz="1600" dirty="0">
                <a:solidFill>
                  <a:schemeClr val="tx1"/>
                </a:solidFill>
              </a:rPr>
              <a:t>Fit with our sites, customers and skills</a:t>
            </a:r>
            <a:endParaRPr lang="en-US" sz="1600" dirty="0"/>
          </a:p>
          <a:p>
            <a:pPr marL="342900" indent="-342900">
              <a:spcAft>
                <a:spcPts val="1000"/>
              </a:spcAft>
              <a:buSzPct val="100000"/>
              <a:buChar char="•"/>
            </a:pPr>
            <a:r>
              <a:rPr lang="en-US" sz="1600" dirty="0">
                <a:solidFill>
                  <a:schemeClr val="tx1"/>
                </a:solidFill>
              </a:rPr>
              <a:t>But smaller revenue pools, at least at first</a:t>
            </a:r>
            <a:endParaRPr lang="en-US" sz="1600" dirty="0"/>
          </a:p>
        </p:txBody>
      </p:sp>
      <p:sp>
        <p:nvSpPr>
          <p:cNvPr id="8" name="Ideas that reach scale panel"/>
          <p:cNvSpPr/>
          <p:nvPr/>
        </p:nvSpPr>
        <p:spPr>
          <a:xfrm>
            <a:off x="6217920" y="1417320"/>
            <a:ext cx="5440680" cy="3566160"/>
          </a:xfrm>
          <a:prstGeom prst="roundRect">
            <a:avLst>
              <a:gd name="adj" fmla="val 3077"/>
            </a:avLst>
          </a:prstGeom>
          <a:solidFill>
            <a:srgbClr val="14213D"/>
          </a:solidFill>
          <a:ln w="12700">
            <a:solidFill>
              <a:srgbClr val="14213D"/>
            </a:solidFill>
            <a:prstDash val="solid"/>
          </a:ln>
          <a:effectLst>
            <a:outerShdw sx="100000" sy="100000" kx="0" ky="0" algn="bl" rotWithShape="0" blurRad="76200" dist="25400" dir="5400000">
              <a:srgbClr val="9AA5B1">
                <a:alpha val="25000"/>
              </a:srgbClr>
            </a:outerShdw>
          </a:effectLst>
        </p:spPr>
      </p:sp>
      <p:sp>
        <p:nvSpPr>
          <p:cNvPr id="9" name="Ideas that reach scale circle"/>
          <p:cNvSpPr/>
          <p:nvPr/>
        </p:nvSpPr>
        <p:spPr>
          <a:xfrm>
            <a:off x="6537960" y="1691640"/>
            <a:ext cx="731520" cy="731520"/>
          </a:xfrm>
          <a:prstGeom prst="ellipse">
            <a:avLst/>
          </a:prstGeom>
          <a:solidFill>
            <a:srgbClr val="F4A300"/>
          </a:solidFill>
          <a:ln w="12700">
            <a:solidFill>
              <a:srgbClr val="F4A300"/>
            </a:solidFill>
            <a:prstDash val="solid"/>
          </a:ln>
        </p:spPr>
      </p:sp>
      <p:pic>
        <p:nvPicPr>
          <p:cNvPr id="10" name="Ideas that reach scale icon" descr="Ideas that reach scale">    </p:cNvPr>
          <p:cNvPicPr>
            <a:picLocks noChangeAspect="1"/>
          </p:cNvPicPr>
          <p:nvPr/>
        </p:nvPicPr>
        <p:blipFill>
          <a:blip r:embed="rId2"/>
          <a:stretch>
            <a:fillRect/>
          </a:stretch>
        </p:blipFill>
        <p:spPr>
          <a:xfrm>
            <a:off x="6720840" y="1874520"/>
            <a:ext cx="365760" cy="365760"/>
          </a:xfrm>
          <a:prstGeom prst="rect">
            <a:avLst/>
          </a:prstGeom>
        </p:spPr>
      </p:pic>
      <p:sp>
        <p:nvSpPr>
          <p:cNvPr id="11" name="Text 7"/>
          <p:cNvSpPr txBox="1"/>
          <p:nvPr/>
        </p:nvSpPr>
        <p:spPr>
          <a:xfrm>
            <a:off x="7498080" y="1783080"/>
            <a:ext cx="3931920" cy="54864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Ideas that reach scale</a:t>
            </a:r>
            <a:endParaRPr lang="en-US" sz="2000" dirty="0"/>
          </a:p>
        </p:txBody>
      </p:sp>
      <p:sp>
        <p:nvSpPr>
          <p:cNvPr id="12" name="Text 8"/>
          <p:cNvSpPr txBox="1"/>
          <p:nvPr/>
        </p:nvSpPr>
        <p:spPr>
          <a:xfrm>
            <a:off x="6537960" y="2697480"/>
            <a:ext cx="484632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Large markets: energy, AI compute, carrier real estate</a:t>
            </a:r>
            <a:endParaRPr lang="en-US" sz="1600" dirty="0"/>
          </a:p>
          <a:p>
            <a:pPr marL="342900" indent="-342900">
              <a:spcAft>
                <a:spcPts val="1000"/>
              </a:spcAft>
              <a:buSzPct val="100000"/>
              <a:buChar char="•"/>
            </a:pPr>
            <a:r>
              <a:rPr lang="en-US" sz="1600" dirty="0">
                <a:solidFill>
                  <a:schemeClr val="bg1"/>
                </a:solidFill>
              </a:rPr>
              <a:t>Fast scale through acquisitions</a:t>
            </a:r>
            <a:endParaRPr lang="en-US" sz="1600" dirty="0"/>
          </a:p>
          <a:p>
            <a:pPr marL="342900" indent="-342900">
              <a:spcAft>
                <a:spcPts val="1000"/>
              </a:spcAft>
              <a:buSzPct val="100000"/>
              <a:buChar char="•"/>
            </a:pPr>
            <a:r>
              <a:rPr lang="en-US" sz="1600" dirty="0">
                <a:solidFill>
                  <a:schemeClr val="bg1"/>
                </a:solidFill>
              </a:rPr>
              <a:t>But heavier capital and margins closer to data centers</a:t>
            </a:r>
            <a:endParaRPr lang="en-US" sz="1600" dirty="0"/>
          </a:p>
        </p:txBody>
      </p:sp>
      <p:sp>
        <p:nvSpPr>
          <p:cNvPr id="13" name="Implication banner"/>
          <p:cNvSpPr/>
          <p:nvPr/>
        </p:nvSpPr>
        <p:spPr>
          <a:xfrm>
            <a:off x="548640" y="5212080"/>
            <a:ext cx="11109960" cy="822960"/>
          </a:xfrm>
          <a:prstGeom prst="roundRect">
            <a:avLst>
              <a:gd name="adj" fmla="val 13333"/>
            </a:avLst>
          </a:prstGeom>
          <a:solidFill>
            <a:srgbClr val="F4A300"/>
          </a:solidFill>
          <a:ln w="12700">
            <a:solidFill>
              <a:srgbClr val="F4A300"/>
            </a:solidFill>
            <a:prstDash val="solid"/>
          </a:ln>
          <a:effectLst>
            <a:outerShdw sx="100000" sy="100000" kx="0" ky="0" algn="bl" rotWithShape="0" blurRad="76200" dist="25400" dir="5400000">
              <a:srgbClr val="9AA5B1">
                <a:alpha val="25000"/>
              </a:srgbClr>
            </a:outerShdw>
          </a:effectLst>
        </p:spPr>
      </p:sp>
      <p:sp>
        <p:nvSpPr>
          <p:cNvPr id="14" name="Text 10"/>
          <p:cNvSpPr txBox="1"/>
          <p:nvPr/>
        </p:nvSpPr>
        <p:spPr>
          <a:xfrm>
            <a:off x="822960" y="5303520"/>
            <a:ext cx="10607040" cy="640080"/>
          </a:xfrm>
          <a:prstGeom prst="rect">
            <a:avLst/>
          </a:prstGeom>
          <a:noFill/>
          <a:ln/>
        </p:spPr>
        <p:txBody>
          <a:bodyPr wrap="square" lIns="0" tIns="0" rIns="0" bIns="0" rtlCol="0" anchor="ctr"/>
          <a:lstStyle/>
          <a:p>
            <a:pPr indent="0" marL="0">
              <a:buNone/>
            </a:pPr>
            <a:r>
              <a:rPr lang="en-US" sz="1600" b="1" dirty="0">
                <a:solidFill>
                  <a:schemeClr val="tx2"/>
                </a:solidFill>
              </a:rPr>
              <a:t>The winning models combine both: apply the tower playbook (shared asset, long contracts, acquired scale) to a new asset class.</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515600" cy="1097280"/>
          </a:xfrm>
          <a:prstGeom prst="rect">
            <a:avLst/>
          </a:prstGeom>
          <a:noFill/>
          <a:ln/>
        </p:spPr>
        <p:txBody>
          <a:bodyPr wrap="square"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Ideas with transformative potential</a:t>
            </a:r>
            <a:endParaRPr lang="en-US" sz="4000" dirty="0"/>
          </a:p>
        </p:txBody>
      </p:sp>
      <p:sp>
        <p:nvSpPr>
          <p:cNvPr id="3" name="Text 0"/>
          <p:cNvSpPr/>
          <p:nvPr>
            <p:ph idx="101" type="body" hasCustomPrompt="1"/>
          </p:nvPr>
        </p:nvSpPr>
        <p:spPr>
          <a:xfrm>
            <a:off x="731520" y="3749040"/>
            <a:ext cx="10515600" cy="822960"/>
          </a:xfrm>
          <a:prstGeom prst="rect">
            <a:avLst/>
          </a:prstGeom>
          <a:noFill/>
          <a:ln/>
        </p:spPr>
        <p:txBody>
          <a:bodyPr wrap="square" rtlCol="0" anchor="t"/>
          <a:lstStyle/>
          <a:p>
            <a:pPr algn="l" indent="0" marL="0">
              <a:buNone/>
            </a:pPr>
            <a:r>
              <a:rPr lang="en-US" sz="1800" dirty="0">
                <a:solidFill>
                  <a:schemeClr val="accent5"/>
                </a:solidFill>
              </a:rPr>
              <a:t>Part 3  |  Seven ideas, in order of priority</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Seven ideas, prioritized by potential and fit</a:t>
            </a:r>
            <a:endParaRPr lang="en-US" sz="2800" dirty="0"/>
          </a:p>
        </p:txBody>
      </p:sp>
      <p:sp>
        <p:nvSpPr>
          <p:cNvPr id="3" name="Matrix background"/>
          <p:cNvSpPr/>
          <p:nvPr/>
        </p:nvSpPr>
        <p:spPr>
          <a:xfrm>
            <a:off x="1188720" y="1325880"/>
            <a:ext cx="6583680" cy="4343400"/>
          </a:xfrm>
          <a:prstGeom prst="roundRect">
            <a:avLst>
              <a:gd name="adj" fmla="val 2526"/>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4" name="Matrix horizontal divider"/>
          <p:cNvSpPr/>
          <p:nvPr/>
        </p:nvSpPr>
        <p:spPr>
          <a:xfrm>
            <a:off x="1188720" y="3474720"/>
            <a:ext cx="6583680" cy="0"/>
          </a:xfrm>
          <a:prstGeom prst="line">
            <a:avLst/>
          </a:prstGeom>
          <a:noFill/>
          <a:ln w="12700">
            <a:solidFill>
              <a:srgbClr val="B8C2CC"/>
            </a:solidFill>
            <a:prstDash val="dash"/>
          </a:ln>
        </p:spPr>
      </p:sp>
      <p:sp>
        <p:nvSpPr>
          <p:cNvPr id="5" name="Matrix vertical divider"/>
          <p:cNvSpPr/>
          <p:nvPr/>
        </p:nvSpPr>
        <p:spPr>
          <a:xfrm>
            <a:off x="4480560" y="1325880"/>
            <a:ext cx="0" cy="4343400"/>
          </a:xfrm>
          <a:prstGeom prst="line">
            <a:avLst/>
          </a:prstGeom>
          <a:noFill/>
          <a:ln w="12700">
            <a:solidFill>
              <a:srgbClr val="B8C2CC"/>
            </a:solidFill>
            <a:prstDash val="dash"/>
          </a:ln>
        </p:spPr>
      </p:sp>
      <p:sp>
        <p:nvSpPr>
          <p:cNvPr id="6" name="Text 4"/>
          <p:cNvSpPr txBox="1"/>
          <p:nvPr/>
        </p:nvSpPr>
        <p:spPr>
          <a:xfrm rot="16200000">
            <a:off x="45720" y="3291840"/>
            <a:ext cx="1463040" cy="365760"/>
          </a:xfrm>
          <a:prstGeom prst="rect">
            <a:avLst/>
          </a:prstGeom>
          <a:noFill/>
          <a:ln/>
        </p:spPr>
        <p:txBody>
          <a:bodyPr wrap="square" lIns="0" tIns="0" rIns="0" bIns="0" rtlCol="0" anchor="t"/>
          <a:lstStyle/>
          <a:p>
            <a:pPr algn="ctr" indent="0" marL="0">
              <a:buNone/>
            </a:pPr>
            <a:r>
              <a:rPr lang="en-US" sz="1200" b="1" dirty="0">
                <a:solidFill>
                  <a:schemeClr val="accent3"/>
                </a:solidFill>
              </a:rPr>
              <a:t>Transformative potential</a:t>
            </a:r>
            <a:endParaRPr lang="en-US" sz="1200" dirty="0"/>
          </a:p>
        </p:txBody>
      </p:sp>
      <p:sp>
        <p:nvSpPr>
          <p:cNvPr id="7" name="Text 5"/>
          <p:cNvSpPr txBox="1"/>
          <p:nvPr/>
        </p:nvSpPr>
        <p:spPr>
          <a:xfrm>
            <a:off x="1188720" y="5733288"/>
            <a:ext cx="6583680" cy="274320"/>
          </a:xfrm>
          <a:prstGeom prst="rect">
            <a:avLst/>
          </a:prstGeom>
          <a:noFill/>
          <a:ln/>
        </p:spPr>
        <p:txBody>
          <a:bodyPr wrap="square" lIns="0" tIns="0" rIns="0" bIns="0" rtlCol="0" anchor="t"/>
          <a:lstStyle/>
          <a:p>
            <a:pPr algn="ctr" indent="0" marL="0">
              <a:buNone/>
            </a:pPr>
            <a:r>
              <a:rPr lang="en-US" sz="1200" b="1" dirty="0">
                <a:solidFill>
                  <a:schemeClr val="accent3"/>
                </a:solidFill>
              </a:rPr>
              <a:t>Fit with current assets and customers</a:t>
            </a:r>
            <a:endParaRPr lang="en-US" sz="1200" dirty="0"/>
          </a:p>
        </p:txBody>
      </p:sp>
      <p:sp>
        <p:nvSpPr>
          <p:cNvPr id="8" name="Idea marker 1"/>
          <p:cNvSpPr/>
          <p:nvPr/>
        </p:nvSpPr>
        <p:spPr>
          <a:xfrm>
            <a:off x="6675120" y="2880360"/>
            <a:ext cx="548640" cy="548640"/>
          </a:xfrm>
          <a:prstGeom prst="ellipse">
            <a:avLst/>
          </a:prstGeom>
          <a:solidFill>
            <a:srgbClr val="F4A300"/>
          </a:solidFill>
          <a:ln w="19050">
            <a:solidFill>
              <a:srgbClr val="FFFFFF"/>
            </a:solidFill>
            <a:prstDash val="solid"/>
          </a:ln>
        </p:spPr>
      </p:sp>
      <p:sp>
        <p:nvSpPr>
          <p:cNvPr id="9" name="Text 7"/>
          <p:cNvSpPr txBox="1"/>
          <p:nvPr/>
        </p:nvSpPr>
        <p:spPr>
          <a:xfrm>
            <a:off x="6675120" y="288036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10" name="Idea marker 2"/>
          <p:cNvSpPr/>
          <p:nvPr/>
        </p:nvSpPr>
        <p:spPr>
          <a:xfrm>
            <a:off x="5943600" y="1828800"/>
            <a:ext cx="548640" cy="548640"/>
          </a:xfrm>
          <a:prstGeom prst="ellipse">
            <a:avLst/>
          </a:prstGeom>
          <a:solidFill>
            <a:srgbClr val="F4A300"/>
          </a:solidFill>
          <a:ln w="19050">
            <a:solidFill>
              <a:srgbClr val="FFFFFF"/>
            </a:solidFill>
            <a:prstDash val="solid"/>
          </a:ln>
        </p:spPr>
      </p:sp>
      <p:sp>
        <p:nvSpPr>
          <p:cNvPr id="11" name="Text 9"/>
          <p:cNvSpPr txBox="1"/>
          <p:nvPr/>
        </p:nvSpPr>
        <p:spPr>
          <a:xfrm>
            <a:off x="5943600" y="182880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2" name="Idea marker 3"/>
          <p:cNvSpPr/>
          <p:nvPr/>
        </p:nvSpPr>
        <p:spPr>
          <a:xfrm>
            <a:off x="4937760" y="2514600"/>
            <a:ext cx="548640" cy="548640"/>
          </a:xfrm>
          <a:prstGeom prst="ellipse">
            <a:avLst/>
          </a:prstGeom>
          <a:solidFill>
            <a:srgbClr val="2A9D8F"/>
          </a:solidFill>
          <a:ln w="19050">
            <a:solidFill>
              <a:srgbClr val="FFFFFF"/>
            </a:solidFill>
            <a:prstDash val="solid"/>
          </a:ln>
        </p:spPr>
      </p:sp>
      <p:sp>
        <p:nvSpPr>
          <p:cNvPr id="13" name="Text 11"/>
          <p:cNvSpPr txBox="1"/>
          <p:nvPr/>
        </p:nvSpPr>
        <p:spPr>
          <a:xfrm>
            <a:off x="4937760" y="251460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4" name="Idea marker 4"/>
          <p:cNvSpPr/>
          <p:nvPr/>
        </p:nvSpPr>
        <p:spPr>
          <a:xfrm>
            <a:off x="3291840" y="1645920"/>
            <a:ext cx="548640" cy="548640"/>
          </a:xfrm>
          <a:prstGeom prst="ellipse">
            <a:avLst/>
          </a:prstGeom>
          <a:solidFill>
            <a:srgbClr val="2A9D8F"/>
          </a:solidFill>
          <a:ln w="19050">
            <a:solidFill>
              <a:srgbClr val="FFFFFF"/>
            </a:solidFill>
            <a:prstDash val="solid"/>
          </a:ln>
        </p:spPr>
      </p:sp>
      <p:sp>
        <p:nvSpPr>
          <p:cNvPr id="15" name="Text 13"/>
          <p:cNvSpPr txBox="1"/>
          <p:nvPr/>
        </p:nvSpPr>
        <p:spPr>
          <a:xfrm>
            <a:off x="3291840" y="164592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6" name="Idea marker 5"/>
          <p:cNvSpPr/>
          <p:nvPr/>
        </p:nvSpPr>
        <p:spPr>
          <a:xfrm>
            <a:off x="2468880" y="2331720"/>
            <a:ext cx="548640" cy="548640"/>
          </a:xfrm>
          <a:prstGeom prst="ellipse">
            <a:avLst/>
          </a:prstGeom>
          <a:solidFill>
            <a:srgbClr val="8AA1B8"/>
          </a:solidFill>
          <a:ln w="19050">
            <a:solidFill>
              <a:srgbClr val="FFFFFF"/>
            </a:solidFill>
            <a:prstDash val="solid"/>
          </a:ln>
        </p:spPr>
      </p:sp>
      <p:sp>
        <p:nvSpPr>
          <p:cNvPr id="17" name="Text 15"/>
          <p:cNvSpPr txBox="1"/>
          <p:nvPr/>
        </p:nvSpPr>
        <p:spPr>
          <a:xfrm>
            <a:off x="2468880" y="233172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18" name="Idea marker 6"/>
          <p:cNvSpPr/>
          <p:nvPr/>
        </p:nvSpPr>
        <p:spPr>
          <a:xfrm>
            <a:off x="1828800" y="3063240"/>
            <a:ext cx="548640" cy="548640"/>
          </a:xfrm>
          <a:prstGeom prst="ellipse">
            <a:avLst/>
          </a:prstGeom>
          <a:solidFill>
            <a:srgbClr val="8AA1B8"/>
          </a:solidFill>
          <a:ln w="19050">
            <a:solidFill>
              <a:srgbClr val="FFFFFF"/>
            </a:solidFill>
            <a:prstDash val="solid"/>
          </a:ln>
        </p:spPr>
      </p:sp>
      <p:sp>
        <p:nvSpPr>
          <p:cNvPr id="19" name="Text 17"/>
          <p:cNvSpPr txBox="1"/>
          <p:nvPr/>
        </p:nvSpPr>
        <p:spPr>
          <a:xfrm>
            <a:off x="1828800" y="306324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6</a:t>
            </a:r>
            <a:endParaRPr lang="en-US" sz="1600" dirty="0"/>
          </a:p>
        </p:txBody>
      </p:sp>
      <p:sp>
        <p:nvSpPr>
          <p:cNvPr id="20" name="Idea marker 7"/>
          <p:cNvSpPr/>
          <p:nvPr/>
        </p:nvSpPr>
        <p:spPr>
          <a:xfrm>
            <a:off x="5212080" y="4206240"/>
            <a:ext cx="548640" cy="548640"/>
          </a:xfrm>
          <a:prstGeom prst="ellipse">
            <a:avLst/>
          </a:prstGeom>
          <a:solidFill>
            <a:srgbClr val="8AA1B8"/>
          </a:solidFill>
          <a:ln w="19050">
            <a:solidFill>
              <a:srgbClr val="FFFFFF"/>
            </a:solidFill>
            <a:prstDash val="solid"/>
          </a:ln>
        </p:spPr>
      </p:sp>
      <p:sp>
        <p:nvSpPr>
          <p:cNvPr id="21" name="Text 19"/>
          <p:cNvSpPr txBox="1"/>
          <p:nvPr/>
        </p:nvSpPr>
        <p:spPr>
          <a:xfrm>
            <a:off x="5212080" y="420624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7</a:t>
            </a:r>
            <a:endParaRPr lang="en-US" sz="1600" dirty="0"/>
          </a:p>
        </p:txBody>
      </p:sp>
      <p:sp>
        <p:nvSpPr>
          <p:cNvPr id="22" name="Text 20"/>
          <p:cNvSpPr txBox="1"/>
          <p:nvPr/>
        </p:nvSpPr>
        <p:spPr>
          <a:xfrm>
            <a:off x="8138160" y="1325880"/>
            <a:ext cx="3474720" cy="320040"/>
          </a:xfrm>
          <a:prstGeom prst="rect">
            <a:avLst/>
          </a:prstGeom>
          <a:noFill/>
          <a:ln/>
        </p:spPr>
        <p:txBody>
          <a:bodyPr wrap="square" lIns="0" tIns="0" rIns="0" bIns="0" rtlCol="0" anchor="t"/>
          <a:lstStyle/>
          <a:p>
            <a:pPr indent="0" marL="0">
              <a:buNone/>
            </a:pPr>
            <a:r>
              <a:rPr lang="en-US" sz="1400" b="1" dirty="0">
                <a:solidFill>
                  <a:schemeClr val="accent3"/>
                </a:solidFill>
              </a:rPr>
              <a:t>Start now</a:t>
            </a:r>
            <a:endParaRPr lang="en-US" sz="1400" dirty="0"/>
          </a:p>
        </p:txBody>
      </p:sp>
      <p:sp>
        <p:nvSpPr>
          <p:cNvPr id="23" name="Legend marker 1"/>
          <p:cNvSpPr/>
          <p:nvPr/>
        </p:nvSpPr>
        <p:spPr>
          <a:xfrm>
            <a:off x="8138160" y="1728216"/>
            <a:ext cx="329184" cy="329184"/>
          </a:xfrm>
          <a:prstGeom prst="ellipse">
            <a:avLst/>
          </a:prstGeom>
          <a:solidFill>
            <a:srgbClr val="F4A300"/>
          </a:solidFill>
          <a:ln w="12700">
            <a:solidFill>
              <a:srgbClr val="F4A300"/>
            </a:solidFill>
            <a:prstDash val="solid"/>
          </a:ln>
        </p:spPr>
      </p:sp>
      <p:sp>
        <p:nvSpPr>
          <p:cNvPr id="24" name="Text 22"/>
          <p:cNvSpPr txBox="1"/>
          <p:nvPr/>
        </p:nvSpPr>
        <p:spPr>
          <a:xfrm>
            <a:off x="8138160" y="1728216"/>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1</a:t>
            </a:r>
            <a:endParaRPr lang="en-US" sz="1200" dirty="0"/>
          </a:p>
        </p:txBody>
      </p:sp>
      <p:sp>
        <p:nvSpPr>
          <p:cNvPr id="25" name="Text 23"/>
          <p:cNvSpPr txBox="1"/>
          <p:nvPr/>
        </p:nvSpPr>
        <p:spPr>
          <a:xfrm>
            <a:off x="8595360" y="1691640"/>
            <a:ext cx="3108960" cy="411480"/>
          </a:xfrm>
          <a:prstGeom prst="rect">
            <a:avLst/>
          </a:prstGeom>
          <a:noFill/>
          <a:ln/>
        </p:spPr>
        <p:txBody>
          <a:bodyPr wrap="square" lIns="0" tIns="0" rIns="0" bIns="0" rtlCol="0" anchor="ctr"/>
          <a:lstStyle/>
          <a:p>
            <a:pPr indent="0" marL="0">
              <a:buNone/>
            </a:pPr>
            <a:r>
              <a:rPr lang="en-US" sz="1300" dirty="0">
                <a:solidFill>
                  <a:schemeClr val="tx1"/>
                </a:solidFill>
              </a:rPr>
              <a:t>Site platform: second payer on our sites</a:t>
            </a:r>
            <a:endParaRPr lang="en-US" sz="1300" dirty="0"/>
          </a:p>
        </p:txBody>
      </p:sp>
      <p:sp>
        <p:nvSpPr>
          <p:cNvPr id="26" name="Legend marker 2"/>
          <p:cNvSpPr/>
          <p:nvPr/>
        </p:nvSpPr>
        <p:spPr>
          <a:xfrm>
            <a:off x="8138160" y="2185416"/>
            <a:ext cx="329184" cy="329184"/>
          </a:xfrm>
          <a:prstGeom prst="ellipse">
            <a:avLst/>
          </a:prstGeom>
          <a:solidFill>
            <a:srgbClr val="F4A300"/>
          </a:solidFill>
          <a:ln w="12700">
            <a:solidFill>
              <a:srgbClr val="F4A300"/>
            </a:solidFill>
            <a:prstDash val="solid"/>
          </a:ln>
        </p:spPr>
      </p:sp>
      <p:sp>
        <p:nvSpPr>
          <p:cNvPr id="27" name="Text 25"/>
          <p:cNvSpPr txBox="1"/>
          <p:nvPr/>
        </p:nvSpPr>
        <p:spPr>
          <a:xfrm>
            <a:off x="8138160" y="2185416"/>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2</a:t>
            </a:r>
            <a:endParaRPr lang="en-US" sz="1200" dirty="0"/>
          </a:p>
        </p:txBody>
      </p:sp>
      <p:sp>
        <p:nvSpPr>
          <p:cNvPr id="28" name="Text 26"/>
          <p:cNvSpPr txBox="1"/>
          <p:nvPr/>
        </p:nvSpPr>
        <p:spPr>
          <a:xfrm>
            <a:off x="8595360" y="2148840"/>
            <a:ext cx="3108960" cy="411480"/>
          </a:xfrm>
          <a:prstGeom prst="rect">
            <a:avLst/>
          </a:prstGeom>
          <a:noFill/>
          <a:ln/>
        </p:spPr>
        <p:txBody>
          <a:bodyPr wrap="square" lIns="0" tIns="0" rIns="0" bIns="0" rtlCol="0" anchor="ctr"/>
          <a:lstStyle/>
          <a:p>
            <a:pPr indent="0" marL="0">
              <a:buNone/>
            </a:pPr>
            <a:r>
              <a:rPr lang="en-US" sz="1300" dirty="0">
                <a:solidFill>
                  <a:schemeClr val="tx1"/>
                </a:solidFill>
              </a:rPr>
              <a:t>Energy-as-a-Service with shared batteries</a:t>
            </a:r>
            <a:endParaRPr lang="en-US" sz="1300" dirty="0"/>
          </a:p>
        </p:txBody>
      </p:sp>
      <p:sp>
        <p:nvSpPr>
          <p:cNvPr id="29" name="Text 27"/>
          <p:cNvSpPr txBox="1"/>
          <p:nvPr/>
        </p:nvSpPr>
        <p:spPr>
          <a:xfrm>
            <a:off x="8138160" y="2606040"/>
            <a:ext cx="3474720" cy="320040"/>
          </a:xfrm>
          <a:prstGeom prst="rect">
            <a:avLst/>
          </a:prstGeom>
          <a:noFill/>
          <a:ln/>
        </p:spPr>
        <p:txBody>
          <a:bodyPr wrap="square" lIns="0" tIns="0" rIns="0" bIns="0" rtlCol="0" anchor="t"/>
          <a:lstStyle/>
          <a:p>
            <a:pPr indent="0" marL="0">
              <a:buNone/>
            </a:pPr>
            <a:r>
              <a:rPr lang="en-US" sz="1400" b="1" dirty="0">
                <a:solidFill>
                  <a:schemeClr val="accent3"/>
                </a:solidFill>
              </a:rPr>
              <a:t>Build a pipeline</a:t>
            </a:r>
            <a:endParaRPr lang="en-US" sz="1400" dirty="0"/>
          </a:p>
        </p:txBody>
      </p:sp>
      <p:sp>
        <p:nvSpPr>
          <p:cNvPr id="30" name="Legend marker 3"/>
          <p:cNvSpPr/>
          <p:nvPr/>
        </p:nvSpPr>
        <p:spPr>
          <a:xfrm>
            <a:off x="8138160" y="3008376"/>
            <a:ext cx="329184" cy="329184"/>
          </a:xfrm>
          <a:prstGeom prst="ellipse">
            <a:avLst/>
          </a:prstGeom>
          <a:solidFill>
            <a:srgbClr val="2A9D8F"/>
          </a:solidFill>
          <a:ln w="12700">
            <a:solidFill>
              <a:srgbClr val="2A9D8F"/>
            </a:solidFill>
            <a:prstDash val="solid"/>
          </a:ln>
        </p:spPr>
      </p:sp>
      <p:sp>
        <p:nvSpPr>
          <p:cNvPr id="31" name="Text 29"/>
          <p:cNvSpPr txBox="1"/>
          <p:nvPr/>
        </p:nvSpPr>
        <p:spPr>
          <a:xfrm>
            <a:off x="8138160" y="3008376"/>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3</a:t>
            </a:r>
            <a:endParaRPr lang="en-US" sz="1200" dirty="0"/>
          </a:p>
        </p:txBody>
      </p:sp>
      <p:sp>
        <p:nvSpPr>
          <p:cNvPr id="32" name="Text 30"/>
          <p:cNvSpPr txBox="1"/>
          <p:nvPr/>
        </p:nvSpPr>
        <p:spPr>
          <a:xfrm>
            <a:off x="8595360" y="2971800"/>
            <a:ext cx="3108960" cy="411480"/>
          </a:xfrm>
          <a:prstGeom prst="rect">
            <a:avLst/>
          </a:prstGeom>
          <a:noFill/>
          <a:ln/>
        </p:spPr>
        <p:txBody>
          <a:bodyPr wrap="square" lIns="0" tIns="0" rIns="0" bIns="0" rtlCol="0" anchor="ctr"/>
          <a:lstStyle/>
          <a:p>
            <a:pPr indent="0" marL="0">
              <a:buNone/>
            </a:pPr>
            <a:r>
              <a:rPr lang="en-US" sz="1300" dirty="0">
                <a:solidFill>
                  <a:schemeClr val="tx1"/>
                </a:solidFill>
              </a:rPr>
              <a:t>Carrier real-estate sale-leaseback (HubCo)</a:t>
            </a:r>
            <a:endParaRPr lang="en-US" sz="1300" dirty="0"/>
          </a:p>
        </p:txBody>
      </p:sp>
      <p:sp>
        <p:nvSpPr>
          <p:cNvPr id="33" name="Legend marker 4"/>
          <p:cNvSpPr/>
          <p:nvPr/>
        </p:nvSpPr>
        <p:spPr>
          <a:xfrm>
            <a:off x="8138160" y="3465576"/>
            <a:ext cx="329184" cy="329184"/>
          </a:xfrm>
          <a:prstGeom prst="ellipse">
            <a:avLst/>
          </a:prstGeom>
          <a:solidFill>
            <a:srgbClr val="2A9D8F"/>
          </a:solidFill>
          <a:ln w="12700">
            <a:solidFill>
              <a:srgbClr val="2A9D8F"/>
            </a:solidFill>
            <a:prstDash val="solid"/>
          </a:ln>
        </p:spPr>
      </p:sp>
      <p:sp>
        <p:nvSpPr>
          <p:cNvPr id="34" name="Text 32"/>
          <p:cNvSpPr txBox="1"/>
          <p:nvPr/>
        </p:nvSpPr>
        <p:spPr>
          <a:xfrm>
            <a:off x="8138160" y="3465576"/>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4</a:t>
            </a:r>
            <a:endParaRPr lang="en-US" sz="1200" dirty="0"/>
          </a:p>
        </p:txBody>
      </p:sp>
      <p:sp>
        <p:nvSpPr>
          <p:cNvPr id="35" name="Text 33"/>
          <p:cNvSpPr txBox="1"/>
          <p:nvPr/>
        </p:nvSpPr>
        <p:spPr>
          <a:xfrm>
            <a:off x="8595360" y="3429000"/>
            <a:ext cx="3108960" cy="411480"/>
          </a:xfrm>
          <a:prstGeom prst="rect">
            <a:avLst/>
          </a:prstGeom>
          <a:noFill/>
          <a:ln/>
        </p:spPr>
        <p:txBody>
          <a:bodyPr wrap="square" lIns="0" tIns="0" rIns="0" bIns="0" rtlCol="0" anchor="ctr"/>
          <a:lstStyle/>
          <a:p>
            <a:pPr indent="0" marL="0">
              <a:buNone/>
            </a:pPr>
            <a:r>
              <a:rPr lang="en-US" sz="1300" dirty="0">
                <a:solidFill>
                  <a:schemeClr val="tx1"/>
                </a:solidFill>
              </a:rPr>
              <a:t>Powered land for AI and the grid</a:t>
            </a:r>
            <a:endParaRPr lang="en-US" sz="1300" dirty="0"/>
          </a:p>
        </p:txBody>
      </p:sp>
      <p:sp>
        <p:nvSpPr>
          <p:cNvPr id="36" name="Text 34"/>
          <p:cNvSpPr txBox="1"/>
          <p:nvPr/>
        </p:nvSpPr>
        <p:spPr>
          <a:xfrm>
            <a:off x="8138160" y="3886200"/>
            <a:ext cx="3474720" cy="320040"/>
          </a:xfrm>
          <a:prstGeom prst="rect">
            <a:avLst/>
          </a:prstGeom>
          <a:noFill/>
          <a:ln/>
        </p:spPr>
        <p:txBody>
          <a:bodyPr wrap="square" lIns="0" tIns="0" rIns="0" bIns="0" rtlCol="0" anchor="t"/>
          <a:lstStyle/>
          <a:p>
            <a:pPr indent="0" marL="0">
              <a:buNone/>
            </a:pPr>
            <a:r>
              <a:rPr lang="en-US" sz="1400" b="1" dirty="0">
                <a:solidFill>
                  <a:schemeClr val="accent3"/>
                </a:solidFill>
              </a:rPr>
              <a:t>Strategic options</a:t>
            </a:r>
            <a:endParaRPr lang="en-US" sz="1400" dirty="0"/>
          </a:p>
        </p:txBody>
      </p:sp>
      <p:sp>
        <p:nvSpPr>
          <p:cNvPr id="37" name="Legend marker 5"/>
          <p:cNvSpPr/>
          <p:nvPr/>
        </p:nvSpPr>
        <p:spPr>
          <a:xfrm>
            <a:off x="8138160" y="4288536"/>
            <a:ext cx="329184" cy="329184"/>
          </a:xfrm>
          <a:prstGeom prst="ellipse">
            <a:avLst/>
          </a:prstGeom>
          <a:solidFill>
            <a:srgbClr val="8AA1B8"/>
          </a:solidFill>
          <a:ln w="12700">
            <a:solidFill>
              <a:srgbClr val="8AA1B8"/>
            </a:solidFill>
            <a:prstDash val="solid"/>
          </a:ln>
        </p:spPr>
      </p:sp>
      <p:sp>
        <p:nvSpPr>
          <p:cNvPr id="38" name="Text 36"/>
          <p:cNvSpPr txBox="1"/>
          <p:nvPr/>
        </p:nvSpPr>
        <p:spPr>
          <a:xfrm>
            <a:off x="8138160" y="4288536"/>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5</a:t>
            </a:r>
            <a:endParaRPr lang="en-US" sz="1200" dirty="0"/>
          </a:p>
        </p:txBody>
      </p:sp>
      <p:sp>
        <p:nvSpPr>
          <p:cNvPr id="39" name="Text 37"/>
          <p:cNvSpPr txBox="1"/>
          <p:nvPr/>
        </p:nvSpPr>
        <p:spPr>
          <a:xfrm>
            <a:off x="8595360" y="4251960"/>
            <a:ext cx="3108960" cy="411480"/>
          </a:xfrm>
          <a:prstGeom prst="rect">
            <a:avLst/>
          </a:prstGeom>
          <a:noFill/>
          <a:ln/>
        </p:spPr>
        <p:txBody>
          <a:bodyPr wrap="square" lIns="0" tIns="0" rIns="0" bIns="0" rtlCol="0" anchor="ctr"/>
          <a:lstStyle/>
          <a:p>
            <a:pPr indent="0" marL="0">
              <a:buNone/>
            </a:pPr>
            <a:r>
              <a:rPr lang="en-US" sz="1300" dirty="0">
                <a:solidFill>
                  <a:schemeClr val="tx1"/>
                </a:solidFill>
              </a:rPr>
              <a:t>Acquire a multi-tenant platform</a:t>
            </a:r>
            <a:endParaRPr lang="en-US" sz="1300" dirty="0"/>
          </a:p>
        </p:txBody>
      </p:sp>
      <p:sp>
        <p:nvSpPr>
          <p:cNvPr id="40" name="Legend marker 6"/>
          <p:cNvSpPr/>
          <p:nvPr/>
        </p:nvSpPr>
        <p:spPr>
          <a:xfrm>
            <a:off x="8138160" y="4745736"/>
            <a:ext cx="329184" cy="329184"/>
          </a:xfrm>
          <a:prstGeom prst="ellipse">
            <a:avLst/>
          </a:prstGeom>
          <a:solidFill>
            <a:srgbClr val="8AA1B8"/>
          </a:solidFill>
          <a:ln w="12700">
            <a:solidFill>
              <a:srgbClr val="8AA1B8"/>
            </a:solidFill>
            <a:prstDash val="solid"/>
          </a:ln>
        </p:spPr>
      </p:sp>
      <p:sp>
        <p:nvSpPr>
          <p:cNvPr id="41" name="Text 39"/>
          <p:cNvSpPr txBox="1"/>
          <p:nvPr/>
        </p:nvSpPr>
        <p:spPr>
          <a:xfrm>
            <a:off x="8138160" y="4745736"/>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6</a:t>
            </a:r>
            <a:endParaRPr lang="en-US" sz="1200" dirty="0"/>
          </a:p>
        </p:txBody>
      </p:sp>
      <p:sp>
        <p:nvSpPr>
          <p:cNvPr id="42" name="Text 40"/>
          <p:cNvSpPr txBox="1"/>
          <p:nvPr/>
        </p:nvSpPr>
        <p:spPr>
          <a:xfrm>
            <a:off x="8595360" y="4709160"/>
            <a:ext cx="3108960" cy="411480"/>
          </a:xfrm>
          <a:prstGeom prst="rect">
            <a:avLst/>
          </a:prstGeom>
          <a:noFill/>
          <a:ln/>
        </p:spPr>
        <p:txBody>
          <a:bodyPr wrap="square" lIns="0" tIns="0" rIns="0" bIns="0" rtlCol="0" anchor="ctr"/>
          <a:lstStyle/>
          <a:p>
            <a:pPr indent="0" marL="0">
              <a:buNone/>
            </a:pPr>
            <a:r>
              <a:rPr lang="en-US" sz="1300" dirty="0">
                <a:solidFill>
                  <a:schemeClr val="tx1"/>
                </a:solidFill>
              </a:rPr>
              <a:t>Edge and AI-RAN compute hubs</a:t>
            </a:r>
            <a:endParaRPr lang="en-US" sz="1300" dirty="0"/>
          </a:p>
        </p:txBody>
      </p:sp>
      <p:sp>
        <p:nvSpPr>
          <p:cNvPr id="43" name="Legend marker 7"/>
          <p:cNvSpPr/>
          <p:nvPr/>
        </p:nvSpPr>
        <p:spPr>
          <a:xfrm>
            <a:off x="8138160" y="5202936"/>
            <a:ext cx="329184" cy="329184"/>
          </a:xfrm>
          <a:prstGeom prst="ellipse">
            <a:avLst/>
          </a:prstGeom>
          <a:solidFill>
            <a:srgbClr val="8AA1B8"/>
          </a:solidFill>
          <a:ln w="12700">
            <a:solidFill>
              <a:srgbClr val="8AA1B8"/>
            </a:solidFill>
            <a:prstDash val="solid"/>
          </a:ln>
        </p:spPr>
      </p:sp>
      <p:sp>
        <p:nvSpPr>
          <p:cNvPr id="44" name="Text 42"/>
          <p:cNvSpPr txBox="1"/>
          <p:nvPr/>
        </p:nvSpPr>
        <p:spPr>
          <a:xfrm>
            <a:off x="8138160" y="5202936"/>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7</a:t>
            </a:r>
            <a:endParaRPr lang="en-US" sz="1200" dirty="0"/>
          </a:p>
        </p:txBody>
      </p:sp>
      <p:sp>
        <p:nvSpPr>
          <p:cNvPr id="45" name="Text 43"/>
          <p:cNvSpPr txBox="1"/>
          <p:nvPr/>
        </p:nvSpPr>
        <p:spPr>
          <a:xfrm>
            <a:off x="8595360" y="5166360"/>
            <a:ext cx="3108960" cy="411480"/>
          </a:xfrm>
          <a:prstGeom prst="rect">
            <a:avLst/>
          </a:prstGeom>
          <a:noFill/>
          <a:ln/>
        </p:spPr>
        <p:txBody>
          <a:bodyPr wrap="square" lIns="0" tIns="0" rIns="0" bIns="0" rtlCol="0" anchor="ctr"/>
          <a:lstStyle/>
          <a:p>
            <a:pPr indent="0" marL="0">
              <a:buNone/>
            </a:pPr>
            <a:r>
              <a:rPr lang="en-US" sz="1300" dirty="0">
                <a:solidFill>
                  <a:schemeClr val="tx1"/>
                </a:solidFill>
              </a:rPr>
              <a:t>Neutral satellite gateways</a:t>
            </a:r>
            <a:endParaRPr lang="en-US" sz="1300" dirty="0"/>
          </a:p>
        </p:txBody>
      </p:sp>
      <p:sp>
        <p:nvSpPr>
          <p:cNvPr id="46" name="Text 44"/>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Priority reflects the potential to scale, closeness to the core and the strength of the tower-like economics, as tested in three rounds of structured review.</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Idea 1: Our sites as a multi-industry platform</a:t>
            </a:r>
            <a:endParaRPr lang="en-US" sz="2800" dirty="0"/>
          </a:p>
        </p:txBody>
      </p:sp>
      <p:sp>
        <p:nvSpPr>
          <p:cNvPr id="3" name="Idea description panel"/>
          <p:cNvSpPr/>
          <p:nvPr/>
        </p:nvSpPr>
        <p:spPr>
          <a:xfrm>
            <a:off x="548640" y="1325880"/>
            <a:ext cx="6903720" cy="4617720"/>
          </a:xfrm>
          <a:prstGeom prst="roundRect">
            <a:avLst>
              <a:gd name="adj" fmla="val 2376"/>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4" name="Idea 1: Our sites as a multi-industry platform circle"/>
          <p:cNvSpPr/>
          <p:nvPr/>
        </p:nvSpPr>
        <p:spPr>
          <a:xfrm>
            <a:off x="822960" y="1554480"/>
            <a:ext cx="777240" cy="777240"/>
          </a:xfrm>
          <a:prstGeom prst="ellipse">
            <a:avLst/>
          </a:prstGeom>
          <a:solidFill>
            <a:srgbClr val="F4A300"/>
          </a:solidFill>
          <a:ln w="12700">
            <a:solidFill>
              <a:srgbClr val="F4A300"/>
            </a:solidFill>
            <a:prstDash val="solid"/>
          </a:ln>
        </p:spPr>
      </p:sp>
      <p:pic>
        <p:nvPicPr>
          <p:cNvPr id="5" name="Idea 1: Our sites as a multi-industry platform icon" descr="Idea 1: Our sites as a multi-industry platform">    </p:cNvPr>
          <p:cNvPicPr>
            <a:picLocks noChangeAspect="1"/>
          </p:cNvPicPr>
          <p:nvPr/>
        </p:nvPicPr>
        <p:blipFill>
          <a:blip r:embed="rId1"/>
          <a:stretch>
            <a:fillRect/>
          </a:stretch>
        </p:blipFill>
        <p:spPr>
          <a:xfrm>
            <a:off x="1017270" y="1748790"/>
            <a:ext cx="388620" cy="388620"/>
          </a:xfrm>
          <a:prstGeom prst="rect">
            <a:avLst/>
          </a:prstGeom>
        </p:spPr>
      </p:pic>
      <p:sp>
        <p:nvSpPr>
          <p:cNvPr id="6" name="Text 3"/>
          <p:cNvSpPr txBox="1"/>
          <p:nvPr/>
        </p:nvSpPr>
        <p:spPr>
          <a:xfrm>
            <a:off x="1783080" y="1600200"/>
            <a:ext cx="5394960" cy="731520"/>
          </a:xfrm>
          <a:prstGeom prst="rect">
            <a:avLst/>
          </a:prstGeom>
          <a:noFill/>
          <a:ln/>
        </p:spPr>
        <p:txBody>
          <a:bodyPr wrap="square" lIns="0" tIns="0" rIns="0" bIns="0" rtlCol="0" anchor="t"/>
          <a:lstStyle/>
          <a:p>
            <a:pPr indent="0" marL="0">
              <a:buNone/>
            </a:pPr>
            <a:r>
              <a:rPr lang="en-US" sz="1300" b="1" dirty="0">
                <a:solidFill>
                  <a:schemeClr val="accent3"/>
                </a:solidFill>
              </a:rPr>
              <a:t>Idea 1  |  Start now</a:t>
            </a:r>
            <a:endParaRPr lang="en-US" sz="1300" dirty="0"/>
          </a:p>
          <a:p>
            <a:pPr indent="0" marL="0">
              <a:buNone/>
            </a:pPr>
            <a:r>
              <a:rPr lang="en-US" sz="1800" b="1" dirty="0">
                <a:solidFill>
                  <a:schemeClr val="tx2"/>
                </a:solidFill>
              </a:rPr>
              <a:t>What it is</a:t>
            </a:r>
            <a:endParaRPr lang="en-US" sz="1300" dirty="0"/>
          </a:p>
        </p:txBody>
      </p:sp>
      <p:sp>
        <p:nvSpPr>
          <p:cNvPr id="7" name="Text 4"/>
          <p:cNvSpPr txBox="1"/>
          <p:nvPr/>
        </p:nvSpPr>
        <p:spPr>
          <a:xfrm>
            <a:off x="822960" y="2514600"/>
            <a:ext cx="6400800" cy="1417320"/>
          </a:xfrm>
          <a:prstGeom prst="rect">
            <a:avLst/>
          </a:prstGeom>
          <a:noFill/>
          <a:ln/>
        </p:spPr>
        <p:txBody>
          <a:bodyPr wrap="square" lIns="0" tIns="0" rIns="0" bIns="0" rtlCol="0" anchor="t"/>
          <a:lstStyle/>
          <a:p>
            <a:pPr indent="0" marL="0">
              <a:buNone/>
            </a:pPr>
            <a:r>
              <a:rPr lang="en-US" sz="1500" dirty="0">
                <a:solidFill>
                  <a:schemeClr val="tx1"/>
                </a:solidFill>
              </a:rPr>
              <a:t>Sell ground space, structure space and power capacity on our ~44k existing sites to payers that are not mobile carriers, under 10 to 15 year master agreements with escalators. The tenant installs and owns its equipment, exactly as on a tower.</a:t>
            </a:r>
            <a:endParaRPr lang="en-US" sz="1500" dirty="0"/>
          </a:p>
        </p:txBody>
      </p:sp>
      <p:sp>
        <p:nvSpPr>
          <p:cNvPr id="8" name="Text 5"/>
          <p:cNvSpPr txBox="1"/>
          <p:nvPr/>
        </p:nvSpPr>
        <p:spPr>
          <a:xfrm>
            <a:off x="822960" y="3977640"/>
            <a:ext cx="3017520" cy="320040"/>
          </a:xfrm>
          <a:prstGeom prst="rect">
            <a:avLst/>
          </a:prstGeom>
          <a:noFill/>
          <a:ln/>
        </p:spPr>
        <p:txBody>
          <a:bodyPr wrap="square" lIns="0" tIns="0" rIns="0" bIns="0" rtlCol="0" anchor="t"/>
          <a:lstStyle/>
          <a:p>
            <a:pPr indent="0" marL="0">
              <a:buNone/>
            </a:pPr>
            <a:r>
              <a:rPr lang="en-US" sz="1500" b="1" dirty="0">
                <a:solidFill>
                  <a:schemeClr val="tx2"/>
                </a:solidFill>
              </a:rPr>
              <a:t>Who pays</a:t>
            </a:r>
            <a:endParaRPr lang="en-US" sz="1500" dirty="0"/>
          </a:p>
        </p:txBody>
      </p:sp>
      <p:sp>
        <p:nvSpPr>
          <p:cNvPr id="9" name="Text 6"/>
          <p:cNvSpPr txBox="1"/>
          <p:nvPr/>
        </p:nvSpPr>
        <p:spPr>
          <a:xfrm>
            <a:off x="822960" y="4315968"/>
            <a:ext cx="3017520" cy="1554480"/>
          </a:xfrm>
          <a:prstGeom prst="rect">
            <a:avLst/>
          </a:prstGeom>
          <a:noFill/>
          <a:ln/>
        </p:spPr>
        <p:txBody>
          <a:bodyPr wrap="square" lIns="0" tIns="0" rIns="0" bIns="0" rtlCol="0" anchor="t"/>
          <a:lstStyle/>
          <a:p>
            <a:pPr indent="0" marL="0">
              <a:buNone/>
            </a:pPr>
            <a:r>
              <a:rPr lang="en-US" sz="1300" dirty="0">
                <a:solidFill>
                  <a:schemeClr val="tx1"/>
                </a:solidFill>
              </a:rPr>
              <a:t>Utilities (grid automation, smart metering), battery storage developers, private networks (agribusiness, mining, ports), satellite operators</a:t>
            </a:r>
            <a:endParaRPr lang="en-US" sz="1300" dirty="0"/>
          </a:p>
        </p:txBody>
      </p:sp>
      <p:sp>
        <p:nvSpPr>
          <p:cNvPr id="10" name="Text 7"/>
          <p:cNvSpPr txBox="1"/>
          <p:nvPr/>
        </p:nvSpPr>
        <p:spPr>
          <a:xfrm>
            <a:off x="4069080" y="3977640"/>
            <a:ext cx="3108960" cy="320040"/>
          </a:xfrm>
          <a:prstGeom prst="rect">
            <a:avLst/>
          </a:prstGeom>
          <a:noFill/>
          <a:ln/>
        </p:spPr>
        <p:txBody>
          <a:bodyPr wrap="square" lIns="0" tIns="0" rIns="0" bIns="0" rtlCol="0" anchor="t"/>
          <a:lstStyle/>
          <a:p>
            <a:pPr indent="0" marL="0">
              <a:buNone/>
            </a:pPr>
            <a:r>
              <a:rPr lang="en-US" sz="1500" b="1" dirty="0">
                <a:solidFill>
                  <a:schemeClr val="tx2"/>
                </a:solidFill>
              </a:rPr>
              <a:t>How it earns</a:t>
            </a:r>
            <a:endParaRPr lang="en-US" sz="1500" dirty="0"/>
          </a:p>
        </p:txBody>
      </p:sp>
      <p:sp>
        <p:nvSpPr>
          <p:cNvPr id="11" name="Text 8"/>
          <p:cNvSpPr txBox="1"/>
          <p:nvPr/>
        </p:nvSpPr>
        <p:spPr>
          <a:xfrm>
            <a:off x="4069080" y="4315968"/>
            <a:ext cx="3154680" cy="1554480"/>
          </a:xfrm>
          <a:prstGeom prst="rect">
            <a:avLst/>
          </a:prstGeom>
          <a:noFill/>
          <a:ln/>
        </p:spPr>
        <p:txBody>
          <a:bodyPr wrap="square" lIns="0" tIns="0" rIns="0" bIns="0" rtlCol="0" anchor="t"/>
          <a:lstStyle/>
          <a:p>
            <a:pPr indent="0" marL="0">
              <a:buNone/>
            </a:pPr>
            <a:r>
              <a:rPr lang="en-US" sz="1300" dirty="0">
                <a:solidFill>
                  <a:schemeClr val="tx1"/>
                </a:solidFill>
              </a:rPr>
              <a:t>Ground lease and capacity fees per site, power upgrade fees, master agreements by industry</a:t>
            </a:r>
            <a:endParaRPr lang="en-US" sz="1300" dirty="0"/>
          </a:p>
        </p:txBody>
      </p:sp>
      <p:sp>
        <p:nvSpPr>
          <p:cNvPr id="12" name="Why it matters panel"/>
          <p:cNvSpPr/>
          <p:nvPr/>
        </p:nvSpPr>
        <p:spPr>
          <a:xfrm>
            <a:off x="7726680" y="1325880"/>
            <a:ext cx="3931920" cy="4617720"/>
          </a:xfrm>
          <a:prstGeom prst="roundRect">
            <a:avLst>
              <a:gd name="adj" fmla="val 2791"/>
            </a:avLst>
          </a:prstGeom>
          <a:solidFill>
            <a:srgbClr val="14213D"/>
          </a:solidFill>
          <a:ln w="12700">
            <a:solidFill>
              <a:srgbClr val="14213D"/>
            </a:solidFill>
            <a:prstDash val="solid"/>
          </a:ln>
          <a:effectLst>
            <a:outerShdw sx="100000" sy="100000" kx="0" ky="0" algn="bl" rotWithShape="0" blurRad="76200" dist="25400" dir="5400000">
              <a:srgbClr val="9AA5B1">
                <a:alpha val="25000"/>
              </a:srgbClr>
            </a:outerShdw>
          </a:effectLst>
        </p:spPr>
      </p:sp>
      <p:sp>
        <p:nvSpPr>
          <p:cNvPr id="13" name="Text 10"/>
          <p:cNvSpPr txBox="1"/>
          <p:nvPr/>
        </p:nvSpPr>
        <p:spPr>
          <a:xfrm>
            <a:off x="8001000" y="1554480"/>
            <a:ext cx="3383280" cy="365760"/>
          </a:xfrm>
          <a:prstGeom prst="rect">
            <a:avLst/>
          </a:prstGeom>
          <a:noFill/>
          <a:ln/>
        </p:spPr>
        <p:txBody>
          <a:bodyPr wrap="square" lIns="0" tIns="0" rIns="0" bIns="0" rtlCol="0" anchor="t"/>
          <a:lstStyle/>
          <a:p>
            <a:pPr indent="0" marL="0">
              <a:buNone/>
            </a:pPr>
            <a:r>
              <a:rPr lang="en-US" sz="1600" b="1" dirty="0">
                <a:solidFill>
                  <a:schemeClr val="accent1"/>
                </a:solidFill>
              </a:rPr>
              <a:t>Why us</a:t>
            </a:r>
            <a:endParaRPr lang="en-US" sz="1600" dirty="0"/>
          </a:p>
        </p:txBody>
      </p:sp>
      <p:sp>
        <p:nvSpPr>
          <p:cNvPr id="14" name="Text 11"/>
          <p:cNvSpPr txBox="1"/>
          <p:nvPr/>
        </p:nvSpPr>
        <p:spPr>
          <a:xfrm>
            <a:off x="8001000" y="1920240"/>
            <a:ext cx="3429000" cy="1188720"/>
          </a:xfrm>
          <a:prstGeom prst="rect">
            <a:avLst/>
          </a:prstGeom>
          <a:noFill/>
          <a:ln/>
        </p:spPr>
        <p:txBody>
          <a:bodyPr wrap="square" lIns="0" tIns="0" rIns="0" bIns="0" rtlCol="0" anchor="t"/>
          <a:lstStyle/>
          <a:p>
            <a:pPr indent="0" marL="0">
              <a:buNone/>
            </a:pPr>
            <a:r>
              <a:rPr lang="en-US" sz="1300" dirty="0">
                <a:solidFill>
                  <a:schemeClr val="bg1"/>
                </a:solidFill>
              </a:rPr>
              <a:t>Land, permits, access, security and grid connection already paid for and in place across the Americas and Africa</a:t>
            </a:r>
            <a:endParaRPr lang="en-US" sz="1300" dirty="0"/>
          </a:p>
        </p:txBody>
      </p:sp>
      <p:sp>
        <p:nvSpPr>
          <p:cNvPr id="15" name="Text 12"/>
          <p:cNvSpPr txBox="1"/>
          <p:nvPr/>
        </p:nvSpPr>
        <p:spPr>
          <a:xfrm>
            <a:off x="8001000" y="3154680"/>
            <a:ext cx="3383280" cy="365760"/>
          </a:xfrm>
          <a:prstGeom prst="rect">
            <a:avLst/>
          </a:prstGeom>
          <a:noFill/>
          <a:ln/>
        </p:spPr>
        <p:txBody>
          <a:bodyPr wrap="square" lIns="0" tIns="0" rIns="0" bIns="0" rtlCol="0" anchor="t"/>
          <a:lstStyle/>
          <a:p>
            <a:pPr indent="0" marL="0">
              <a:buNone/>
            </a:pPr>
            <a:r>
              <a:rPr lang="en-US" sz="1600" b="1" dirty="0">
                <a:solidFill>
                  <a:schemeClr val="accent1"/>
                </a:solidFill>
              </a:rPr>
              <a:t>Why it can transform</a:t>
            </a:r>
            <a:endParaRPr lang="en-US" sz="1600" dirty="0"/>
          </a:p>
        </p:txBody>
      </p:sp>
      <p:sp>
        <p:nvSpPr>
          <p:cNvPr id="16" name="Text 13"/>
          <p:cNvSpPr txBox="1"/>
          <p:nvPr/>
        </p:nvSpPr>
        <p:spPr>
          <a:xfrm>
            <a:off x="8001000" y="3520440"/>
            <a:ext cx="3429000" cy="1188720"/>
          </a:xfrm>
          <a:prstGeom prst="rect">
            <a:avLst/>
          </a:prstGeom>
          <a:noFill/>
          <a:ln/>
        </p:spPr>
        <p:txBody>
          <a:bodyPr wrap="square" lIns="0" tIns="0" rIns="0" bIns="0" rtlCol="0" anchor="t"/>
          <a:lstStyle/>
          <a:p>
            <a:pPr indent="0" marL="0">
              <a:buNone/>
            </a:pPr>
            <a:r>
              <a:rPr lang="en-US" sz="1300" dirty="0">
                <a:solidFill>
                  <a:schemeClr val="bg1"/>
                </a:solidFill>
              </a:rPr>
              <a:t>Recreates the core economics (a second payer on a paid-for asset) with near-zero capex, and turns satellite from a threat into a tenant</a:t>
            </a:r>
            <a:endParaRPr lang="en-US" sz="1300" dirty="0"/>
          </a:p>
        </p:txBody>
      </p:sp>
      <p:sp>
        <p:nvSpPr>
          <p:cNvPr id="17" name="Text 14"/>
          <p:cNvSpPr txBox="1"/>
          <p:nvPr/>
        </p:nvSpPr>
        <p:spPr>
          <a:xfrm>
            <a:off x="8001000" y="4754880"/>
            <a:ext cx="3383280" cy="365760"/>
          </a:xfrm>
          <a:prstGeom prst="rect">
            <a:avLst/>
          </a:prstGeom>
          <a:noFill/>
          <a:ln/>
        </p:spPr>
        <p:txBody>
          <a:bodyPr wrap="square" lIns="0" tIns="0" rIns="0" bIns="0" rtlCol="0" anchor="t"/>
          <a:lstStyle/>
          <a:p>
            <a:pPr indent="0" marL="0">
              <a:buNone/>
            </a:pPr>
            <a:r>
              <a:rPr lang="en-US" sz="1600" b="1" dirty="0">
                <a:solidFill>
                  <a:schemeClr val="accent1"/>
                </a:solidFill>
              </a:rPr>
              <a:t>First step</a:t>
            </a:r>
            <a:endParaRPr lang="en-US" sz="1600" dirty="0"/>
          </a:p>
        </p:txBody>
      </p:sp>
      <p:sp>
        <p:nvSpPr>
          <p:cNvPr id="18" name="Text 15"/>
          <p:cNvSpPr txBox="1"/>
          <p:nvPr/>
        </p:nvSpPr>
        <p:spPr>
          <a:xfrm>
            <a:off x="8001000" y="5120640"/>
            <a:ext cx="3429000" cy="777240"/>
          </a:xfrm>
          <a:prstGeom prst="rect">
            <a:avLst/>
          </a:prstGeom>
          <a:noFill/>
          <a:ln/>
        </p:spPr>
        <p:txBody>
          <a:bodyPr wrap="square" lIns="0" tIns="0" rIns="0" bIns="0" rtlCol="0" anchor="t"/>
          <a:lstStyle/>
          <a:p>
            <a:pPr indent="0" marL="0">
              <a:buNone/>
            </a:pPr>
            <a:r>
              <a:rPr lang="en-US" sz="1300" dirty="0">
                <a:solidFill>
                  <a:schemeClr val="bg1"/>
                </a:solidFill>
              </a:rPr>
              <a:t>Precedent study, then 3 pilot agreements: a utility, a storage developer, a satellite operator</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Idea 2: Energy-as-a-Service with shared batteries</a:t>
            </a:r>
            <a:endParaRPr lang="en-US" sz="2800" dirty="0"/>
          </a:p>
        </p:txBody>
      </p:sp>
      <p:sp>
        <p:nvSpPr>
          <p:cNvPr id="3" name="Idea description panel"/>
          <p:cNvSpPr/>
          <p:nvPr/>
        </p:nvSpPr>
        <p:spPr>
          <a:xfrm>
            <a:off x="548640" y="1325880"/>
            <a:ext cx="6903720" cy="4617720"/>
          </a:xfrm>
          <a:prstGeom prst="roundRect">
            <a:avLst>
              <a:gd name="adj" fmla="val 2376"/>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4" name="Idea 2: Energy-as-a-Service with shared batteries circle"/>
          <p:cNvSpPr/>
          <p:nvPr/>
        </p:nvSpPr>
        <p:spPr>
          <a:xfrm>
            <a:off x="822960" y="1554480"/>
            <a:ext cx="777240" cy="777240"/>
          </a:xfrm>
          <a:prstGeom prst="ellipse">
            <a:avLst/>
          </a:prstGeom>
          <a:solidFill>
            <a:srgbClr val="F4A300"/>
          </a:solidFill>
          <a:ln w="12700">
            <a:solidFill>
              <a:srgbClr val="F4A300"/>
            </a:solidFill>
            <a:prstDash val="solid"/>
          </a:ln>
        </p:spPr>
      </p:sp>
      <p:pic>
        <p:nvPicPr>
          <p:cNvPr id="5" name="Idea 2: Energy-as-a-Service with shared batteries icon" descr="Idea 2: Energy-as-a-Service with shared batteries">    </p:cNvPr>
          <p:cNvPicPr>
            <a:picLocks noChangeAspect="1"/>
          </p:cNvPicPr>
          <p:nvPr/>
        </p:nvPicPr>
        <p:blipFill>
          <a:blip r:embed="rId1"/>
          <a:stretch>
            <a:fillRect/>
          </a:stretch>
        </p:blipFill>
        <p:spPr>
          <a:xfrm>
            <a:off x="1017270" y="1748790"/>
            <a:ext cx="388620" cy="388620"/>
          </a:xfrm>
          <a:prstGeom prst="rect">
            <a:avLst/>
          </a:prstGeom>
        </p:spPr>
      </p:pic>
      <p:sp>
        <p:nvSpPr>
          <p:cNvPr id="6" name="Text 3"/>
          <p:cNvSpPr txBox="1"/>
          <p:nvPr/>
        </p:nvSpPr>
        <p:spPr>
          <a:xfrm>
            <a:off x="1783080" y="1600200"/>
            <a:ext cx="5394960" cy="731520"/>
          </a:xfrm>
          <a:prstGeom prst="rect">
            <a:avLst/>
          </a:prstGeom>
          <a:noFill/>
          <a:ln/>
        </p:spPr>
        <p:txBody>
          <a:bodyPr wrap="square" lIns="0" tIns="0" rIns="0" bIns="0" rtlCol="0" anchor="t"/>
          <a:lstStyle/>
          <a:p>
            <a:pPr indent="0" marL="0">
              <a:buNone/>
            </a:pPr>
            <a:r>
              <a:rPr lang="en-US" sz="1300" b="1" dirty="0">
                <a:solidFill>
                  <a:schemeClr val="accent3"/>
                </a:solidFill>
              </a:rPr>
              <a:t>Idea 2  |  Start now</a:t>
            </a:r>
            <a:endParaRPr lang="en-US" sz="1300" dirty="0"/>
          </a:p>
          <a:p>
            <a:pPr indent="0" marL="0">
              <a:buNone/>
            </a:pPr>
            <a:r>
              <a:rPr lang="en-US" sz="1800" b="1" dirty="0">
                <a:solidFill>
                  <a:schemeClr val="tx2"/>
                </a:solidFill>
              </a:rPr>
              <a:t>What it is</a:t>
            </a:r>
            <a:endParaRPr lang="en-US" sz="1300" dirty="0"/>
          </a:p>
        </p:txBody>
      </p:sp>
      <p:sp>
        <p:nvSpPr>
          <p:cNvPr id="7" name="Text 4"/>
          <p:cNvSpPr txBox="1"/>
          <p:nvPr/>
        </p:nvSpPr>
        <p:spPr>
          <a:xfrm>
            <a:off x="822960" y="2514600"/>
            <a:ext cx="6400800" cy="1417320"/>
          </a:xfrm>
          <a:prstGeom prst="rect">
            <a:avLst/>
          </a:prstGeom>
          <a:noFill/>
          <a:ln/>
        </p:spPr>
        <p:txBody>
          <a:bodyPr wrap="square" lIns="0" tIns="0" rIns="0" bIns="0" rtlCol="0" anchor="t"/>
          <a:lstStyle/>
          <a:p>
            <a:pPr indent="0" marL="0">
              <a:buNone/>
            </a:pPr>
            <a:r>
              <a:rPr lang="en-US" sz="1500" dirty="0">
                <a:solidFill>
                  <a:schemeClr val="tx1"/>
                </a:solidFill>
              </a:rPr>
              <a:t>Buy the carriers' captive backup batteries and generators (sale-leaseback), upgrade them to lithium and sell backup-as-a-service with an availability SLA. Aggregate tens of thousands of sites into a virtual power plant that sells capacity and grid services.</a:t>
            </a:r>
            <a:endParaRPr lang="en-US" sz="1500" dirty="0"/>
          </a:p>
        </p:txBody>
      </p:sp>
      <p:sp>
        <p:nvSpPr>
          <p:cNvPr id="8" name="Text 5"/>
          <p:cNvSpPr txBox="1"/>
          <p:nvPr/>
        </p:nvSpPr>
        <p:spPr>
          <a:xfrm>
            <a:off x="822960" y="3977640"/>
            <a:ext cx="3017520" cy="320040"/>
          </a:xfrm>
          <a:prstGeom prst="rect">
            <a:avLst/>
          </a:prstGeom>
          <a:noFill/>
          <a:ln/>
        </p:spPr>
        <p:txBody>
          <a:bodyPr wrap="square" lIns="0" tIns="0" rIns="0" bIns="0" rtlCol="0" anchor="t"/>
          <a:lstStyle/>
          <a:p>
            <a:pPr indent="0" marL="0">
              <a:buNone/>
            </a:pPr>
            <a:r>
              <a:rPr lang="en-US" sz="1500" b="1" dirty="0">
                <a:solidFill>
                  <a:schemeClr val="tx2"/>
                </a:solidFill>
              </a:rPr>
              <a:t>Who pays</a:t>
            </a:r>
            <a:endParaRPr lang="en-US" sz="1500" dirty="0"/>
          </a:p>
        </p:txBody>
      </p:sp>
      <p:sp>
        <p:nvSpPr>
          <p:cNvPr id="9" name="Text 6"/>
          <p:cNvSpPr txBox="1"/>
          <p:nvPr/>
        </p:nvSpPr>
        <p:spPr>
          <a:xfrm>
            <a:off x="822960" y="4315968"/>
            <a:ext cx="3017520" cy="1554480"/>
          </a:xfrm>
          <a:prstGeom prst="rect">
            <a:avLst/>
          </a:prstGeom>
          <a:noFill/>
          <a:ln/>
        </p:spPr>
        <p:txBody>
          <a:bodyPr wrap="square" lIns="0" tIns="0" rIns="0" bIns="0" rtlCol="0" anchor="t"/>
          <a:lstStyle/>
          <a:p>
            <a:pPr indent="0" marL="0">
              <a:buNone/>
            </a:pPr>
            <a:r>
              <a:rPr lang="en-US" sz="1300" dirty="0">
                <a:solidFill>
                  <a:schemeClr val="tx1"/>
                </a:solidFill>
              </a:rPr>
              <a:t>Carriers (backup service fee), grid operators and utilities (capacity and ancillary services), storage aggregators</a:t>
            </a:r>
            <a:endParaRPr lang="en-US" sz="1300" dirty="0"/>
          </a:p>
        </p:txBody>
      </p:sp>
      <p:sp>
        <p:nvSpPr>
          <p:cNvPr id="10" name="Text 7"/>
          <p:cNvSpPr txBox="1"/>
          <p:nvPr/>
        </p:nvSpPr>
        <p:spPr>
          <a:xfrm>
            <a:off x="4069080" y="3977640"/>
            <a:ext cx="3108960" cy="320040"/>
          </a:xfrm>
          <a:prstGeom prst="rect">
            <a:avLst/>
          </a:prstGeom>
          <a:noFill/>
          <a:ln/>
        </p:spPr>
        <p:txBody>
          <a:bodyPr wrap="square" lIns="0" tIns="0" rIns="0" bIns="0" rtlCol="0" anchor="t"/>
          <a:lstStyle/>
          <a:p>
            <a:pPr indent="0" marL="0">
              <a:buNone/>
            </a:pPr>
            <a:r>
              <a:rPr lang="en-US" sz="1500" b="1" dirty="0">
                <a:solidFill>
                  <a:schemeClr val="tx2"/>
                </a:solidFill>
              </a:rPr>
              <a:t>How it earns</a:t>
            </a:r>
            <a:endParaRPr lang="en-US" sz="1500" dirty="0"/>
          </a:p>
        </p:txBody>
      </p:sp>
      <p:sp>
        <p:nvSpPr>
          <p:cNvPr id="11" name="Text 8"/>
          <p:cNvSpPr txBox="1"/>
          <p:nvPr/>
        </p:nvSpPr>
        <p:spPr>
          <a:xfrm>
            <a:off x="4069080" y="4315968"/>
            <a:ext cx="3154680" cy="1554480"/>
          </a:xfrm>
          <a:prstGeom prst="rect">
            <a:avLst/>
          </a:prstGeom>
          <a:noFill/>
          <a:ln/>
        </p:spPr>
        <p:txBody>
          <a:bodyPr wrap="square" lIns="0" tIns="0" rIns="0" bIns="0" rtlCol="0" anchor="t"/>
          <a:lstStyle/>
          <a:p>
            <a:pPr indent="0" marL="0">
              <a:buNone/>
            </a:pPr>
            <a:r>
              <a:rPr lang="en-US" sz="1300" dirty="0">
                <a:solidFill>
                  <a:schemeClr val="tx1"/>
                </a:solidFill>
              </a:rPr>
              <a:t>10-year backup-as-a-service fee per site, 7 to 15 year capacity contracts, grid services revenue</a:t>
            </a:r>
            <a:endParaRPr lang="en-US" sz="1300" dirty="0"/>
          </a:p>
        </p:txBody>
      </p:sp>
      <p:sp>
        <p:nvSpPr>
          <p:cNvPr id="12" name="Why it matters panel"/>
          <p:cNvSpPr/>
          <p:nvPr/>
        </p:nvSpPr>
        <p:spPr>
          <a:xfrm>
            <a:off x="7726680" y="1325880"/>
            <a:ext cx="3931920" cy="4617720"/>
          </a:xfrm>
          <a:prstGeom prst="roundRect">
            <a:avLst>
              <a:gd name="adj" fmla="val 2791"/>
            </a:avLst>
          </a:prstGeom>
          <a:solidFill>
            <a:srgbClr val="14213D"/>
          </a:solidFill>
          <a:ln w="12700">
            <a:solidFill>
              <a:srgbClr val="14213D"/>
            </a:solidFill>
            <a:prstDash val="solid"/>
          </a:ln>
          <a:effectLst>
            <a:outerShdw sx="100000" sy="100000" kx="0" ky="0" algn="bl" rotWithShape="0" blurRad="76200" dist="25400" dir="5400000">
              <a:srgbClr val="9AA5B1">
                <a:alpha val="25000"/>
              </a:srgbClr>
            </a:outerShdw>
          </a:effectLst>
        </p:spPr>
      </p:sp>
      <p:sp>
        <p:nvSpPr>
          <p:cNvPr id="13" name="Text 10"/>
          <p:cNvSpPr txBox="1"/>
          <p:nvPr/>
        </p:nvSpPr>
        <p:spPr>
          <a:xfrm>
            <a:off x="8001000" y="1554480"/>
            <a:ext cx="3383280" cy="365760"/>
          </a:xfrm>
          <a:prstGeom prst="rect">
            <a:avLst/>
          </a:prstGeom>
          <a:noFill/>
          <a:ln/>
        </p:spPr>
        <p:txBody>
          <a:bodyPr wrap="square" lIns="0" tIns="0" rIns="0" bIns="0" rtlCol="0" anchor="t"/>
          <a:lstStyle/>
          <a:p>
            <a:pPr indent="0" marL="0">
              <a:buNone/>
            </a:pPr>
            <a:r>
              <a:rPr lang="en-US" sz="1600" b="1" dirty="0">
                <a:solidFill>
                  <a:schemeClr val="accent1"/>
                </a:solidFill>
              </a:rPr>
              <a:t>Why us</a:t>
            </a:r>
            <a:endParaRPr lang="en-US" sz="1600" dirty="0"/>
          </a:p>
        </p:txBody>
      </p:sp>
      <p:sp>
        <p:nvSpPr>
          <p:cNvPr id="14" name="Text 11"/>
          <p:cNvSpPr txBox="1"/>
          <p:nvPr/>
        </p:nvSpPr>
        <p:spPr>
          <a:xfrm>
            <a:off x="8001000" y="1920240"/>
            <a:ext cx="3429000" cy="1188720"/>
          </a:xfrm>
          <a:prstGeom prst="rect">
            <a:avLst/>
          </a:prstGeom>
          <a:noFill/>
          <a:ln/>
        </p:spPr>
        <p:txBody>
          <a:bodyPr wrap="square" lIns="0" tIns="0" rIns="0" bIns="0" rtlCol="0" anchor="t"/>
          <a:lstStyle/>
          <a:p>
            <a:pPr indent="0" marL="0">
              <a:buNone/>
            </a:pPr>
            <a:r>
              <a:rPr lang="en-US" sz="1300" dirty="0">
                <a:solidFill>
                  <a:schemeClr val="bg1"/>
                </a:solidFill>
              </a:rPr>
              <a:t>We already manage power at scale on every site and have master agreements with every carrier</a:t>
            </a:r>
            <a:endParaRPr lang="en-US" sz="1300" dirty="0"/>
          </a:p>
        </p:txBody>
      </p:sp>
      <p:sp>
        <p:nvSpPr>
          <p:cNvPr id="15" name="Text 12"/>
          <p:cNvSpPr txBox="1"/>
          <p:nvPr/>
        </p:nvSpPr>
        <p:spPr>
          <a:xfrm>
            <a:off x="8001000" y="3154680"/>
            <a:ext cx="3383280" cy="365760"/>
          </a:xfrm>
          <a:prstGeom prst="rect">
            <a:avLst/>
          </a:prstGeom>
          <a:noFill/>
          <a:ln/>
        </p:spPr>
        <p:txBody>
          <a:bodyPr wrap="square" lIns="0" tIns="0" rIns="0" bIns="0" rtlCol="0" anchor="t"/>
          <a:lstStyle/>
          <a:p>
            <a:pPr indent="0" marL="0">
              <a:buNone/>
            </a:pPr>
            <a:r>
              <a:rPr lang="en-US" sz="1600" b="1" dirty="0">
                <a:solidFill>
                  <a:schemeClr val="accent1"/>
                </a:solidFill>
              </a:rPr>
              <a:t>Why it can transform</a:t>
            </a:r>
            <a:endParaRPr lang="en-US" sz="1600" dirty="0"/>
          </a:p>
        </p:txBody>
      </p:sp>
      <p:sp>
        <p:nvSpPr>
          <p:cNvPr id="16" name="Text 13"/>
          <p:cNvSpPr txBox="1"/>
          <p:nvPr/>
        </p:nvSpPr>
        <p:spPr>
          <a:xfrm>
            <a:off x="8001000" y="3520440"/>
            <a:ext cx="3429000" cy="1188720"/>
          </a:xfrm>
          <a:prstGeom prst="rect">
            <a:avLst/>
          </a:prstGeom>
          <a:noFill/>
          <a:ln/>
        </p:spPr>
        <p:txBody>
          <a:bodyPr wrap="square" lIns="0" tIns="0" rIns="0" bIns="0" rtlCol="0" anchor="t"/>
          <a:lstStyle/>
          <a:p>
            <a:pPr indent="0" marL="0">
              <a:buNone/>
            </a:pPr>
            <a:r>
              <a:rPr lang="en-US" sz="1300" dirty="0">
                <a:solidFill>
                  <a:schemeClr val="bg1"/>
                </a:solidFill>
              </a:rPr>
              <a:t>Attacks the carriers' biggest controllable cost (energy, up to 32% of 5G network cost) and one of the largest revenue pools tested</a:t>
            </a:r>
            <a:endParaRPr lang="en-US" sz="1300" dirty="0"/>
          </a:p>
        </p:txBody>
      </p:sp>
      <p:sp>
        <p:nvSpPr>
          <p:cNvPr id="17" name="Text 14"/>
          <p:cNvSpPr txBox="1"/>
          <p:nvPr/>
        </p:nvSpPr>
        <p:spPr>
          <a:xfrm>
            <a:off x="8001000" y="4754880"/>
            <a:ext cx="3383280" cy="365760"/>
          </a:xfrm>
          <a:prstGeom prst="rect">
            <a:avLst/>
          </a:prstGeom>
          <a:noFill/>
          <a:ln/>
        </p:spPr>
        <p:txBody>
          <a:bodyPr wrap="square" lIns="0" tIns="0" rIns="0" bIns="0" rtlCol="0" anchor="t"/>
          <a:lstStyle/>
          <a:p>
            <a:pPr indent="0" marL="0">
              <a:buNone/>
            </a:pPr>
            <a:r>
              <a:rPr lang="en-US" sz="1600" b="1" dirty="0">
                <a:solidFill>
                  <a:schemeClr val="accent1"/>
                </a:solidFill>
              </a:rPr>
              <a:t>First step</a:t>
            </a:r>
            <a:endParaRPr lang="en-US" sz="1600" dirty="0"/>
          </a:p>
        </p:txBody>
      </p:sp>
      <p:sp>
        <p:nvSpPr>
          <p:cNvPr id="18" name="Text 15"/>
          <p:cNvSpPr txBox="1"/>
          <p:nvPr/>
        </p:nvSpPr>
        <p:spPr>
          <a:xfrm>
            <a:off x="8001000" y="5120640"/>
            <a:ext cx="3429000" cy="777240"/>
          </a:xfrm>
          <a:prstGeom prst="rect">
            <a:avLst/>
          </a:prstGeom>
          <a:noFill/>
          <a:ln/>
        </p:spPr>
        <p:txBody>
          <a:bodyPr wrap="square" lIns="0" tIns="0" rIns="0" bIns="0" rtlCol="0" anchor="t"/>
          <a:lstStyle/>
          <a:p>
            <a:pPr indent="0" marL="0">
              <a:buNone/>
            </a:pPr>
            <a:r>
              <a:rPr lang="en-US" sz="1300" dirty="0">
                <a:solidFill>
                  <a:schemeClr val="bg1"/>
                </a:solidFill>
              </a:rPr>
              <a:t>Pilot with one carrier in one market: buy the backup fleet of ~500 sites and register it as a grid resource</a:t>
            </a:r>
            <a:endParaRPr lang="en-US" sz="1300" dirty="0"/>
          </a:p>
        </p:txBody>
      </p:sp>
      <p:sp>
        <p:nvSpPr>
          <p:cNvPr id="19" name="Text 16"/>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 GSMA, 5G-era mobile network cost evolution (energy share of TCO).</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Idea 3: Carrier real-estate sale-leaseback (HubCo)</a:t>
            </a:r>
            <a:endParaRPr lang="en-US" sz="2800" dirty="0"/>
          </a:p>
        </p:txBody>
      </p:sp>
      <p:sp>
        <p:nvSpPr>
          <p:cNvPr id="3" name="Idea description panel"/>
          <p:cNvSpPr/>
          <p:nvPr/>
        </p:nvSpPr>
        <p:spPr>
          <a:xfrm>
            <a:off x="548640" y="1325880"/>
            <a:ext cx="6903720" cy="4617720"/>
          </a:xfrm>
          <a:prstGeom prst="roundRect">
            <a:avLst>
              <a:gd name="adj" fmla="val 2376"/>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4" name="Idea 3: Carrier real-estate sale-leaseback (HubCo) circle"/>
          <p:cNvSpPr/>
          <p:nvPr/>
        </p:nvSpPr>
        <p:spPr>
          <a:xfrm>
            <a:off x="822960" y="1554480"/>
            <a:ext cx="777240" cy="777240"/>
          </a:xfrm>
          <a:prstGeom prst="ellipse">
            <a:avLst/>
          </a:prstGeom>
          <a:solidFill>
            <a:srgbClr val="2A9D8F"/>
          </a:solidFill>
          <a:ln w="12700">
            <a:solidFill>
              <a:srgbClr val="2A9D8F"/>
            </a:solidFill>
            <a:prstDash val="solid"/>
          </a:ln>
        </p:spPr>
      </p:sp>
      <p:pic>
        <p:nvPicPr>
          <p:cNvPr id="5" name="Idea 3: Carrier real-estate sale-leaseback (HubCo) icon" descr="Idea 3: Carrier real-estate sale-leaseback (HubCo)">    </p:cNvPr>
          <p:cNvPicPr>
            <a:picLocks noChangeAspect="1"/>
          </p:cNvPicPr>
          <p:nvPr/>
        </p:nvPicPr>
        <p:blipFill>
          <a:blip r:embed="rId1"/>
          <a:stretch>
            <a:fillRect/>
          </a:stretch>
        </p:blipFill>
        <p:spPr>
          <a:xfrm>
            <a:off x="1017270" y="1748790"/>
            <a:ext cx="388620" cy="388620"/>
          </a:xfrm>
          <a:prstGeom prst="rect">
            <a:avLst/>
          </a:prstGeom>
        </p:spPr>
      </p:pic>
      <p:sp>
        <p:nvSpPr>
          <p:cNvPr id="6" name="Text 3"/>
          <p:cNvSpPr txBox="1"/>
          <p:nvPr/>
        </p:nvSpPr>
        <p:spPr>
          <a:xfrm>
            <a:off x="1783080" y="1600200"/>
            <a:ext cx="5394960" cy="731520"/>
          </a:xfrm>
          <a:prstGeom prst="rect">
            <a:avLst/>
          </a:prstGeom>
          <a:noFill/>
          <a:ln/>
        </p:spPr>
        <p:txBody>
          <a:bodyPr wrap="square" lIns="0" tIns="0" rIns="0" bIns="0" rtlCol="0" anchor="t"/>
          <a:lstStyle/>
          <a:p>
            <a:pPr indent="0" marL="0">
              <a:buNone/>
            </a:pPr>
            <a:r>
              <a:rPr lang="en-US" sz="1300" b="1" dirty="0">
                <a:solidFill>
                  <a:schemeClr val="accent3"/>
                </a:solidFill>
              </a:rPr>
              <a:t>Idea 3  |  Build a pipeline</a:t>
            </a:r>
            <a:endParaRPr lang="en-US" sz="1300" dirty="0"/>
          </a:p>
          <a:p>
            <a:pPr indent="0" marL="0">
              <a:buNone/>
            </a:pPr>
            <a:r>
              <a:rPr lang="en-US" sz="1800" b="1" dirty="0">
                <a:solidFill>
                  <a:schemeClr val="tx2"/>
                </a:solidFill>
              </a:rPr>
              <a:t>What it is</a:t>
            </a:r>
            <a:endParaRPr lang="en-US" sz="1300" dirty="0"/>
          </a:p>
        </p:txBody>
      </p:sp>
      <p:sp>
        <p:nvSpPr>
          <p:cNvPr id="7" name="Text 4"/>
          <p:cNvSpPr txBox="1"/>
          <p:nvPr/>
        </p:nvSpPr>
        <p:spPr>
          <a:xfrm>
            <a:off x="822960" y="2514600"/>
            <a:ext cx="6400800" cy="1417320"/>
          </a:xfrm>
          <a:prstGeom prst="rect">
            <a:avLst/>
          </a:prstGeom>
          <a:noFill/>
          <a:ln/>
        </p:spPr>
        <p:txBody>
          <a:bodyPr wrap="square" lIns="0" tIns="0" rIns="0" bIns="0" rtlCol="0" anchor="t"/>
          <a:lstStyle/>
          <a:p>
            <a:pPr indent="0" marL="0">
              <a:buNone/>
            </a:pPr>
            <a:r>
              <a:rPr lang="en-US" sz="1500" dirty="0">
                <a:solidFill>
                  <a:schemeClr val="tx1"/>
                </a:solidFill>
              </a:rPr>
              <a:t>Buy the carriers' technical buildings (switching centers, aggregation hubs), lease back only the space and power they use for 15 years, and turn the rest into neutral interconnection and edge capacity. Optionally extend the playbook to utility poles and street lighting.</a:t>
            </a:r>
            <a:endParaRPr lang="en-US" sz="1500" dirty="0"/>
          </a:p>
        </p:txBody>
      </p:sp>
      <p:sp>
        <p:nvSpPr>
          <p:cNvPr id="8" name="Text 5"/>
          <p:cNvSpPr txBox="1"/>
          <p:nvPr/>
        </p:nvSpPr>
        <p:spPr>
          <a:xfrm>
            <a:off x="822960" y="3977640"/>
            <a:ext cx="3017520" cy="320040"/>
          </a:xfrm>
          <a:prstGeom prst="rect">
            <a:avLst/>
          </a:prstGeom>
          <a:noFill/>
          <a:ln/>
        </p:spPr>
        <p:txBody>
          <a:bodyPr wrap="square" lIns="0" tIns="0" rIns="0" bIns="0" rtlCol="0" anchor="t"/>
          <a:lstStyle/>
          <a:p>
            <a:pPr indent="0" marL="0">
              <a:buNone/>
            </a:pPr>
            <a:r>
              <a:rPr lang="en-US" sz="1500" b="1" dirty="0">
                <a:solidFill>
                  <a:schemeClr val="tx2"/>
                </a:solidFill>
              </a:rPr>
              <a:t>Who pays</a:t>
            </a:r>
            <a:endParaRPr lang="en-US" sz="1500" dirty="0"/>
          </a:p>
        </p:txBody>
      </p:sp>
      <p:sp>
        <p:nvSpPr>
          <p:cNvPr id="9" name="Text 6"/>
          <p:cNvSpPr txBox="1"/>
          <p:nvPr/>
        </p:nvSpPr>
        <p:spPr>
          <a:xfrm>
            <a:off x="822960" y="4315968"/>
            <a:ext cx="3017520" cy="1554480"/>
          </a:xfrm>
          <a:prstGeom prst="rect">
            <a:avLst/>
          </a:prstGeom>
          <a:noFill/>
          <a:ln/>
        </p:spPr>
        <p:txBody>
          <a:bodyPr wrap="square" lIns="0" tIns="0" rIns="0" bIns="0" rtlCol="0" anchor="t"/>
          <a:lstStyle/>
          <a:p>
            <a:pPr indent="0" marL="0">
              <a:buNone/>
            </a:pPr>
            <a:r>
              <a:rPr lang="en-US" sz="1300" dirty="0">
                <a:solidFill>
                  <a:schemeClr val="tx1"/>
                </a:solidFill>
              </a:rPr>
              <a:t>Selling carrier (anchor lease), other carriers, regional fiber providers, CDNs, cloud and AI inference providers</a:t>
            </a:r>
            <a:endParaRPr lang="en-US" sz="1300" dirty="0"/>
          </a:p>
        </p:txBody>
      </p:sp>
      <p:sp>
        <p:nvSpPr>
          <p:cNvPr id="10" name="Text 7"/>
          <p:cNvSpPr txBox="1"/>
          <p:nvPr/>
        </p:nvSpPr>
        <p:spPr>
          <a:xfrm>
            <a:off x="4069080" y="3977640"/>
            <a:ext cx="3108960" cy="320040"/>
          </a:xfrm>
          <a:prstGeom prst="rect">
            <a:avLst/>
          </a:prstGeom>
          <a:noFill/>
          <a:ln/>
        </p:spPr>
        <p:txBody>
          <a:bodyPr wrap="square" lIns="0" tIns="0" rIns="0" bIns="0" rtlCol="0" anchor="t"/>
          <a:lstStyle/>
          <a:p>
            <a:pPr indent="0" marL="0">
              <a:buNone/>
            </a:pPr>
            <a:r>
              <a:rPr lang="en-US" sz="1500" b="1" dirty="0">
                <a:solidFill>
                  <a:schemeClr val="tx2"/>
                </a:solidFill>
              </a:rPr>
              <a:t>How it earns</a:t>
            </a:r>
            <a:endParaRPr lang="en-US" sz="1500" dirty="0"/>
          </a:p>
        </p:txBody>
      </p:sp>
      <p:sp>
        <p:nvSpPr>
          <p:cNvPr id="11" name="Text 8"/>
          <p:cNvSpPr txBox="1"/>
          <p:nvPr/>
        </p:nvSpPr>
        <p:spPr>
          <a:xfrm>
            <a:off x="4069080" y="4315968"/>
            <a:ext cx="3154680" cy="1554480"/>
          </a:xfrm>
          <a:prstGeom prst="rect">
            <a:avLst/>
          </a:prstGeom>
          <a:noFill/>
          <a:ln/>
        </p:spPr>
        <p:txBody>
          <a:bodyPr wrap="square" lIns="0" tIns="0" rIns="0" bIns="0" rtlCol="0" anchor="t"/>
          <a:lstStyle/>
          <a:p>
            <a:pPr indent="0" marL="0">
              <a:buNone/>
            </a:pPr>
            <a:r>
              <a:rPr lang="en-US" sz="1300" dirty="0">
                <a:solidFill>
                  <a:schemeClr val="tx1"/>
                </a:solidFill>
              </a:rPr>
              <a:t>Rent per kW and per rack, interconnection fees, 15-year anchor lease with escalators</a:t>
            </a:r>
            <a:endParaRPr lang="en-US" sz="1300" dirty="0"/>
          </a:p>
        </p:txBody>
      </p:sp>
      <p:sp>
        <p:nvSpPr>
          <p:cNvPr id="12" name="Why it matters panel"/>
          <p:cNvSpPr/>
          <p:nvPr/>
        </p:nvSpPr>
        <p:spPr>
          <a:xfrm>
            <a:off x="7726680" y="1325880"/>
            <a:ext cx="3931920" cy="4617720"/>
          </a:xfrm>
          <a:prstGeom prst="roundRect">
            <a:avLst>
              <a:gd name="adj" fmla="val 2791"/>
            </a:avLst>
          </a:prstGeom>
          <a:solidFill>
            <a:srgbClr val="14213D"/>
          </a:solidFill>
          <a:ln w="12700">
            <a:solidFill>
              <a:srgbClr val="14213D"/>
            </a:solidFill>
            <a:prstDash val="solid"/>
          </a:ln>
          <a:effectLst>
            <a:outerShdw sx="100000" sy="100000" kx="0" ky="0" algn="bl" rotWithShape="0" blurRad="76200" dist="25400" dir="5400000">
              <a:srgbClr val="9AA5B1">
                <a:alpha val="25000"/>
              </a:srgbClr>
            </a:outerShdw>
          </a:effectLst>
        </p:spPr>
      </p:sp>
      <p:sp>
        <p:nvSpPr>
          <p:cNvPr id="13" name="Text 10"/>
          <p:cNvSpPr txBox="1"/>
          <p:nvPr/>
        </p:nvSpPr>
        <p:spPr>
          <a:xfrm>
            <a:off x="8001000" y="1554480"/>
            <a:ext cx="3383280" cy="365760"/>
          </a:xfrm>
          <a:prstGeom prst="rect">
            <a:avLst/>
          </a:prstGeom>
          <a:noFill/>
          <a:ln/>
        </p:spPr>
        <p:txBody>
          <a:bodyPr wrap="square" lIns="0" tIns="0" rIns="0" bIns="0" rtlCol="0" anchor="t"/>
          <a:lstStyle/>
          <a:p>
            <a:pPr indent="0" marL="0">
              <a:buNone/>
            </a:pPr>
            <a:r>
              <a:rPr lang="en-US" sz="1600" b="1" dirty="0">
                <a:solidFill>
                  <a:schemeClr val="accent1"/>
                </a:solidFill>
              </a:rPr>
              <a:t>Why us</a:t>
            </a:r>
            <a:endParaRPr lang="en-US" sz="1600" dirty="0"/>
          </a:p>
        </p:txBody>
      </p:sp>
      <p:sp>
        <p:nvSpPr>
          <p:cNvPr id="14" name="Text 11"/>
          <p:cNvSpPr txBox="1"/>
          <p:nvPr/>
        </p:nvSpPr>
        <p:spPr>
          <a:xfrm>
            <a:off x="8001000" y="1920240"/>
            <a:ext cx="3429000" cy="1188720"/>
          </a:xfrm>
          <a:prstGeom prst="rect">
            <a:avLst/>
          </a:prstGeom>
          <a:noFill/>
          <a:ln/>
        </p:spPr>
        <p:txBody>
          <a:bodyPr wrap="square" lIns="0" tIns="0" rIns="0" bIns="0" rtlCol="0" anchor="t"/>
          <a:lstStyle/>
          <a:p>
            <a:pPr indent="0" marL="0">
              <a:buNone/>
            </a:pPr>
            <a:r>
              <a:rPr lang="en-US" sz="1300" dirty="0">
                <a:solidFill>
                  <a:schemeClr val="bg1"/>
                </a:solidFill>
              </a:rPr>
              <a:t>Sale-leaseback is our core skill; SBA just did it with Millicom (~7.1k towers, ~US$ 1B) and holds the relationship</a:t>
            </a:r>
            <a:endParaRPr lang="en-US" sz="1300" dirty="0"/>
          </a:p>
        </p:txBody>
      </p:sp>
      <p:sp>
        <p:nvSpPr>
          <p:cNvPr id="15" name="Text 12"/>
          <p:cNvSpPr txBox="1"/>
          <p:nvPr/>
        </p:nvSpPr>
        <p:spPr>
          <a:xfrm>
            <a:off x="8001000" y="3154680"/>
            <a:ext cx="3383280" cy="365760"/>
          </a:xfrm>
          <a:prstGeom prst="rect">
            <a:avLst/>
          </a:prstGeom>
          <a:noFill/>
          <a:ln/>
        </p:spPr>
        <p:txBody>
          <a:bodyPr wrap="square" lIns="0" tIns="0" rIns="0" bIns="0" rtlCol="0" anchor="t"/>
          <a:lstStyle/>
          <a:p>
            <a:pPr indent="0" marL="0">
              <a:buNone/>
            </a:pPr>
            <a:r>
              <a:rPr lang="en-US" sz="1600" b="1" dirty="0">
                <a:solidFill>
                  <a:schemeClr val="accent1"/>
                </a:solidFill>
              </a:rPr>
              <a:t>Why it can transform</a:t>
            </a:r>
            <a:endParaRPr lang="en-US" sz="1600" dirty="0"/>
          </a:p>
        </p:txBody>
      </p:sp>
      <p:sp>
        <p:nvSpPr>
          <p:cNvPr id="16" name="Text 13"/>
          <p:cNvSpPr txBox="1"/>
          <p:nvPr/>
        </p:nvSpPr>
        <p:spPr>
          <a:xfrm>
            <a:off x="8001000" y="3520440"/>
            <a:ext cx="3429000" cy="1188720"/>
          </a:xfrm>
          <a:prstGeom prst="rect">
            <a:avLst/>
          </a:prstGeom>
          <a:noFill/>
          <a:ln/>
        </p:spPr>
        <p:txBody>
          <a:bodyPr wrap="square" lIns="0" tIns="0" rIns="0" bIns="0" rtlCol="0" anchor="t"/>
          <a:lstStyle/>
          <a:p>
            <a:pPr indent="0" marL="0">
              <a:buNone/>
            </a:pPr>
            <a:r>
              <a:rPr lang="en-US" sz="1300" dirty="0">
                <a:solidFill>
                  <a:schemeClr val="bg1"/>
                </a:solidFill>
              </a:rPr>
              <a:t>The same move that built tower scale, applied to a new captive asset that carriers want to monetize as networks virtualize</a:t>
            </a:r>
            <a:endParaRPr lang="en-US" sz="1300" dirty="0"/>
          </a:p>
        </p:txBody>
      </p:sp>
      <p:sp>
        <p:nvSpPr>
          <p:cNvPr id="17" name="Text 14"/>
          <p:cNvSpPr txBox="1"/>
          <p:nvPr/>
        </p:nvSpPr>
        <p:spPr>
          <a:xfrm>
            <a:off x="8001000" y="4754880"/>
            <a:ext cx="3383280" cy="365760"/>
          </a:xfrm>
          <a:prstGeom prst="rect">
            <a:avLst/>
          </a:prstGeom>
          <a:noFill/>
          <a:ln/>
        </p:spPr>
        <p:txBody>
          <a:bodyPr wrap="square" lIns="0" tIns="0" rIns="0" bIns="0" rtlCol="0" anchor="t"/>
          <a:lstStyle/>
          <a:p>
            <a:pPr indent="0" marL="0">
              <a:buNone/>
            </a:pPr>
            <a:r>
              <a:rPr lang="en-US" sz="1600" b="1" dirty="0">
                <a:solidFill>
                  <a:schemeClr val="accent1"/>
                </a:solidFill>
              </a:rPr>
              <a:t>First step</a:t>
            </a:r>
            <a:endParaRPr lang="en-US" sz="1600" dirty="0"/>
          </a:p>
        </p:txBody>
      </p:sp>
      <p:sp>
        <p:nvSpPr>
          <p:cNvPr id="18" name="Text 15"/>
          <p:cNvSpPr txBox="1"/>
          <p:nvPr/>
        </p:nvSpPr>
        <p:spPr>
          <a:xfrm>
            <a:off x="8001000" y="5120640"/>
            <a:ext cx="3429000" cy="777240"/>
          </a:xfrm>
          <a:prstGeom prst="rect">
            <a:avLst/>
          </a:prstGeom>
          <a:noFill/>
          <a:ln/>
        </p:spPr>
        <p:txBody>
          <a:bodyPr wrap="square" lIns="0" tIns="0" rIns="0" bIns="0" rtlCol="0" anchor="t"/>
          <a:lstStyle/>
          <a:p>
            <a:pPr indent="0" marL="0">
              <a:buNone/>
            </a:pPr>
            <a:r>
              <a:rPr lang="en-US" sz="1300" dirty="0">
                <a:solidFill>
                  <a:schemeClr val="bg1"/>
                </a:solidFill>
              </a:rPr>
              <a:t>Map captive building portfolios with existing carrier partners and price one portfolio, starting with Millicom</a:t>
            </a:r>
            <a:endParaRPr lang="en-US" sz="1300" dirty="0"/>
          </a:p>
        </p:txBody>
      </p:sp>
      <p:sp>
        <p:nvSpPr>
          <p:cNvPr id="19" name="Text 16"/>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Sources: SBA 2025 filings (Millicom transaction); American Tower/CoreSite and Telxius precedents.</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Idea 4: Powered land for AI and the grid</a:t>
            </a:r>
            <a:endParaRPr lang="en-US" sz="2800" dirty="0"/>
          </a:p>
        </p:txBody>
      </p:sp>
      <p:sp>
        <p:nvSpPr>
          <p:cNvPr id="3" name="Idea description panel"/>
          <p:cNvSpPr/>
          <p:nvPr/>
        </p:nvSpPr>
        <p:spPr>
          <a:xfrm>
            <a:off x="548640" y="1325880"/>
            <a:ext cx="6903720" cy="4617720"/>
          </a:xfrm>
          <a:prstGeom prst="roundRect">
            <a:avLst>
              <a:gd name="adj" fmla="val 2376"/>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4" name="Idea 4: Powered land for AI and the grid circle"/>
          <p:cNvSpPr/>
          <p:nvPr/>
        </p:nvSpPr>
        <p:spPr>
          <a:xfrm>
            <a:off x="822960" y="1554480"/>
            <a:ext cx="777240" cy="777240"/>
          </a:xfrm>
          <a:prstGeom prst="ellipse">
            <a:avLst/>
          </a:prstGeom>
          <a:solidFill>
            <a:srgbClr val="2A9D8F"/>
          </a:solidFill>
          <a:ln w="12700">
            <a:solidFill>
              <a:srgbClr val="2A9D8F"/>
            </a:solidFill>
            <a:prstDash val="solid"/>
          </a:ln>
        </p:spPr>
      </p:sp>
      <p:pic>
        <p:nvPicPr>
          <p:cNvPr id="5" name="Idea 4: Powered land for AI and the grid icon" descr="Idea 4: Powered land for AI and the grid">    </p:cNvPr>
          <p:cNvPicPr>
            <a:picLocks noChangeAspect="1"/>
          </p:cNvPicPr>
          <p:nvPr/>
        </p:nvPicPr>
        <p:blipFill>
          <a:blip r:embed="rId1"/>
          <a:stretch>
            <a:fillRect/>
          </a:stretch>
        </p:blipFill>
        <p:spPr>
          <a:xfrm>
            <a:off x="1017270" y="1748790"/>
            <a:ext cx="388620" cy="388620"/>
          </a:xfrm>
          <a:prstGeom prst="rect">
            <a:avLst/>
          </a:prstGeom>
        </p:spPr>
      </p:pic>
      <p:sp>
        <p:nvSpPr>
          <p:cNvPr id="6" name="Text 3"/>
          <p:cNvSpPr txBox="1"/>
          <p:nvPr/>
        </p:nvSpPr>
        <p:spPr>
          <a:xfrm>
            <a:off x="1783080" y="1600200"/>
            <a:ext cx="5394960" cy="731520"/>
          </a:xfrm>
          <a:prstGeom prst="rect">
            <a:avLst/>
          </a:prstGeom>
          <a:noFill/>
          <a:ln/>
        </p:spPr>
        <p:txBody>
          <a:bodyPr wrap="square" lIns="0" tIns="0" rIns="0" bIns="0" rtlCol="0" anchor="t"/>
          <a:lstStyle/>
          <a:p>
            <a:pPr indent="0" marL="0">
              <a:buNone/>
            </a:pPr>
            <a:r>
              <a:rPr lang="en-US" sz="1300" b="1" dirty="0">
                <a:solidFill>
                  <a:schemeClr val="accent3"/>
                </a:solidFill>
              </a:rPr>
              <a:t>Idea 4  |  Build a pipeline</a:t>
            </a:r>
            <a:endParaRPr lang="en-US" sz="1300" dirty="0"/>
          </a:p>
          <a:p>
            <a:pPr indent="0" marL="0">
              <a:buNone/>
            </a:pPr>
            <a:r>
              <a:rPr lang="en-US" sz="1800" b="1" dirty="0">
                <a:solidFill>
                  <a:schemeClr val="tx2"/>
                </a:solidFill>
              </a:rPr>
              <a:t>What it is</a:t>
            </a:r>
            <a:endParaRPr lang="en-US" sz="1300" dirty="0"/>
          </a:p>
        </p:txBody>
      </p:sp>
      <p:sp>
        <p:nvSpPr>
          <p:cNvPr id="7" name="Text 4"/>
          <p:cNvSpPr txBox="1"/>
          <p:nvPr/>
        </p:nvSpPr>
        <p:spPr>
          <a:xfrm>
            <a:off x="822960" y="2514600"/>
            <a:ext cx="6400800" cy="1417320"/>
          </a:xfrm>
          <a:prstGeom prst="rect">
            <a:avLst/>
          </a:prstGeom>
          <a:noFill/>
          <a:ln/>
        </p:spPr>
        <p:txBody>
          <a:bodyPr wrap="square" lIns="0" tIns="0" rIns="0" bIns="0" rtlCol="0" anchor="t"/>
          <a:lstStyle/>
          <a:p>
            <a:pPr indent="0" marL="0">
              <a:buNone/>
            </a:pPr>
            <a:r>
              <a:rPr lang="en-US" sz="1500" dirty="0">
                <a:solidFill>
                  <a:schemeClr val="tx1"/>
                </a:solidFill>
              </a:rPr>
              <a:t>Acquire captive grid connections and powered land, and lease megawatts of connected capacity to several tenants: data centers, grid batteries and electric fleet depots. Deliver land, power, basic cooling, security and fiber; tenants bring their own equipment.</a:t>
            </a:r>
            <a:endParaRPr lang="en-US" sz="1500" dirty="0"/>
          </a:p>
        </p:txBody>
      </p:sp>
      <p:sp>
        <p:nvSpPr>
          <p:cNvPr id="8" name="Text 5"/>
          <p:cNvSpPr txBox="1"/>
          <p:nvPr/>
        </p:nvSpPr>
        <p:spPr>
          <a:xfrm>
            <a:off x="822960" y="3977640"/>
            <a:ext cx="3017520" cy="320040"/>
          </a:xfrm>
          <a:prstGeom prst="rect">
            <a:avLst/>
          </a:prstGeom>
          <a:noFill/>
          <a:ln/>
        </p:spPr>
        <p:txBody>
          <a:bodyPr wrap="square" lIns="0" tIns="0" rIns="0" bIns="0" rtlCol="0" anchor="t"/>
          <a:lstStyle/>
          <a:p>
            <a:pPr indent="0" marL="0">
              <a:buNone/>
            </a:pPr>
            <a:r>
              <a:rPr lang="en-US" sz="1500" b="1" dirty="0">
                <a:solidFill>
                  <a:schemeClr val="tx2"/>
                </a:solidFill>
              </a:rPr>
              <a:t>Who pays</a:t>
            </a:r>
            <a:endParaRPr lang="en-US" sz="1500" dirty="0"/>
          </a:p>
        </p:txBody>
      </p:sp>
      <p:sp>
        <p:nvSpPr>
          <p:cNvPr id="9" name="Text 6"/>
          <p:cNvSpPr txBox="1"/>
          <p:nvPr/>
        </p:nvSpPr>
        <p:spPr>
          <a:xfrm>
            <a:off x="822960" y="4315968"/>
            <a:ext cx="3017520" cy="1554480"/>
          </a:xfrm>
          <a:prstGeom prst="rect">
            <a:avLst/>
          </a:prstGeom>
          <a:noFill/>
          <a:ln/>
        </p:spPr>
        <p:txBody>
          <a:bodyPr wrap="square" lIns="0" tIns="0" rIns="0" bIns="0" rtlCol="0" anchor="t"/>
          <a:lstStyle/>
          <a:p>
            <a:pPr indent="0" marL="0">
              <a:buNone/>
            </a:pPr>
            <a:r>
              <a:rPr lang="en-US" sz="1300" dirty="0">
                <a:solidFill>
                  <a:schemeClr val="tx1"/>
                </a:solidFill>
              </a:rPr>
              <a:t>Hyperscalers and AI neoclouds, battery storage developers, electric bus and logistics fleets</a:t>
            </a:r>
            <a:endParaRPr lang="en-US" sz="1300" dirty="0"/>
          </a:p>
        </p:txBody>
      </p:sp>
      <p:sp>
        <p:nvSpPr>
          <p:cNvPr id="10" name="Text 7"/>
          <p:cNvSpPr txBox="1"/>
          <p:nvPr/>
        </p:nvSpPr>
        <p:spPr>
          <a:xfrm>
            <a:off x="4069080" y="3977640"/>
            <a:ext cx="3108960" cy="320040"/>
          </a:xfrm>
          <a:prstGeom prst="rect">
            <a:avLst/>
          </a:prstGeom>
          <a:noFill/>
          <a:ln/>
        </p:spPr>
        <p:txBody>
          <a:bodyPr wrap="square" lIns="0" tIns="0" rIns="0" bIns="0" rtlCol="0" anchor="t"/>
          <a:lstStyle/>
          <a:p>
            <a:pPr indent="0" marL="0">
              <a:buNone/>
            </a:pPr>
            <a:r>
              <a:rPr lang="en-US" sz="1500" b="1" dirty="0">
                <a:solidFill>
                  <a:schemeClr val="tx2"/>
                </a:solidFill>
              </a:rPr>
              <a:t>How it earns</a:t>
            </a:r>
            <a:endParaRPr lang="en-US" sz="1500" dirty="0"/>
          </a:p>
        </p:txBody>
      </p:sp>
      <p:sp>
        <p:nvSpPr>
          <p:cNvPr id="11" name="Text 8"/>
          <p:cNvSpPr txBox="1"/>
          <p:nvPr/>
        </p:nvSpPr>
        <p:spPr>
          <a:xfrm>
            <a:off x="4069080" y="4315968"/>
            <a:ext cx="3154680" cy="1554480"/>
          </a:xfrm>
          <a:prstGeom prst="rect">
            <a:avLst/>
          </a:prstGeom>
          <a:noFill/>
          <a:ln/>
        </p:spPr>
        <p:txBody>
          <a:bodyPr wrap="square" lIns="0" tIns="0" rIns="0" bIns="0" rtlCol="0" anchor="t"/>
          <a:lstStyle/>
          <a:p>
            <a:pPr indent="0" marL="0">
              <a:buNone/>
            </a:pPr>
            <a:r>
              <a:rPr lang="en-US" sz="1300" dirty="0">
                <a:solidFill>
                  <a:schemeClr val="tx1"/>
                </a:solidFill>
              </a:rPr>
              <a:t>Rent per contracted kW over 10 to 15 years, interconnection fees, ground leases</a:t>
            </a:r>
            <a:endParaRPr lang="en-US" sz="1300" dirty="0"/>
          </a:p>
        </p:txBody>
      </p:sp>
      <p:sp>
        <p:nvSpPr>
          <p:cNvPr id="12" name="Why it matters panel"/>
          <p:cNvSpPr/>
          <p:nvPr/>
        </p:nvSpPr>
        <p:spPr>
          <a:xfrm>
            <a:off x="7726680" y="1325880"/>
            <a:ext cx="3931920" cy="4617720"/>
          </a:xfrm>
          <a:prstGeom prst="roundRect">
            <a:avLst>
              <a:gd name="adj" fmla="val 2791"/>
            </a:avLst>
          </a:prstGeom>
          <a:solidFill>
            <a:srgbClr val="14213D"/>
          </a:solidFill>
          <a:ln w="12700">
            <a:solidFill>
              <a:srgbClr val="14213D"/>
            </a:solidFill>
            <a:prstDash val="solid"/>
          </a:ln>
          <a:effectLst>
            <a:outerShdw sx="100000" sy="100000" kx="0" ky="0" algn="bl" rotWithShape="0" blurRad="76200" dist="25400" dir="5400000">
              <a:srgbClr val="9AA5B1">
                <a:alpha val="25000"/>
              </a:srgbClr>
            </a:outerShdw>
          </a:effectLst>
        </p:spPr>
      </p:sp>
      <p:sp>
        <p:nvSpPr>
          <p:cNvPr id="13" name="Text 10"/>
          <p:cNvSpPr txBox="1"/>
          <p:nvPr/>
        </p:nvSpPr>
        <p:spPr>
          <a:xfrm>
            <a:off x="8001000" y="1554480"/>
            <a:ext cx="3383280" cy="365760"/>
          </a:xfrm>
          <a:prstGeom prst="rect">
            <a:avLst/>
          </a:prstGeom>
          <a:noFill/>
          <a:ln/>
        </p:spPr>
        <p:txBody>
          <a:bodyPr wrap="square" lIns="0" tIns="0" rIns="0" bIns="0" rtlCol="0" anchor="t"/>
          <a:lstStyle/>
          <a:p>
            <a:pPr indent="0" marL="0">
              <a:buNone/>
            </a:pPr>
            <a:r>
              <a:rPr lang="en-US" sz="1600" b="1" dirty="0">
                <a:solidFill>
                  <a:schemeClr val="accent1"/>
                </a:solidFill>
              </a:rPr>
              <a:t>Why us</a:t>
            </a:r>
            <a:endParaRPr lang="en-US" sz="1600" dirty="0"/>
          </a:p>
        </p:txBody>
      </p:sp>
      <p:sp>
        <p:nvSpPr>
          <p:cNvPr id="14" name="Text 11"/>
          <p:cNvSpPr txBox="1"/>
          <p:nvPr/>
        </p:nvSpPr>
        <p:spPr>
          <a:xfrm>
            <a:off x="8001000" y="1920240"/>
            <a:ext cx="3429000" cy="1188720"/>
          </a:xfrm>
          <a:prstGeom prst="rect">
            <a:avLst/>
          </a:prstGeom>
          <a:noFill/>
          <a:ln/>
        </p:spPr>
        <p:txBody>
          <a:bodyPr wrap="square" lIns="0" tIns="0" rIns="0" bIns="0" rtlCol="0" anchor="t"/>
          <a:lstStyle/>
          <a:p>
            <a:pPr indent="0" marL="0">
              <a:buNone/>
            </a:pPr>
            <a:r>
              <a:rPr lang="en-US" sz="1300" dirty="0">
                <a:solidFill>
                  <a:schemeClr val="bg1"/>
                </a:solidFill>
              </a:rPr>
              <a:t>Infrastructure M&amp;A, energy management, long-dated capital and a global footprint</a:t>
            </a:r>
            <a:endParaRPr lang="en-US" sz="1300" dirty="0"/>
          </a:p>
        </p:txBody>
      </p:sp>
      <p:sp>
        <p:nvSpPr>
          <p:cNvPr id="15" name="Text 12"/>
          <p:cNvSpPr txBox="1"/>
          <p:nvPr/>
        </p:nvSpPr>
        <p:spPr>
          <a:xfrm>
            <a:off x="8001000" y="3154680"/>
            <a:ext cx="3383280" cy="365760"/>
          </a:xfrm>
          <a:prstGeom prst="rect">
            <a:avLst/>
          </a:prstGeom>
          <a:noFill/>
          <a:ln/>
        </p:spPr>
        <p:txBody>
          <a:bodyPr wrap="square" lIns="0" tIns="0" rIns="0" bIns="0" rtlCol="0" anchor="t"/>
          <a:lstStyle/>
          <a:p>
            <a:pPr indent="0" marL="0">
              <a:buNone/>
            </a:pPr>
            <a:r>
              <a:rPr lang="en-US" sz="1600" b="1" dirty="0">
                <a:solidFill>
                  <a:schemeClr val="accent1"/>
                </a:solidFill>
              </a:rPr>
              <a:t>Why it can transform</a:t>
            </a:r>
            <a:endParaRPr lang="en-US" sz="1600" dirty="0"/>
          </a:p>
        </p:txBody>
      </p:sp>
      <p:sp>
        <p:nvSpPr>
          <p:cNvPr id="16" name="Text 13"/>
          <p:cNvSpPr txBox="1"/>
          <p:nvPr/>
        </p:nvSpPr>
        <p:spPr>
          <a:xfrm>
            <a:off x="8001000" y="3520440"/>
            <a:ext cx="3429000" cy="1188720"/>
          </a:xfrm>
          <a:prstGeom prst="rect">
            <a:avLst/>
          </a:prstGeom>
          <a:noFill/>
          <a:ln/>
        </p:spPr>
        <p:txBody>
          <a:bodyPr wrap="square" lIns="0" tIns="0" rIns="0" bIns="0" rtlCol="0" anchor="t"/>
          <a:lstStyle/>
          <a:p>
            <a:pPr indent="0" marL="0">
              <a:buNone/>
            </a:pPr>
            <a:r>
              <a:rPr lang="en-US" sz="1300" dirty="0">
                <a:solidFill>
                  <a:schemeClr val="bg1"/>
                </a:solidFill>
              </a:rPr>
              <a:t>Grid connections are the new scarce permit, as tower zoning once was; AI demand makes this the largest market tested</a:t>
            </a:r>
            <a:endParaRPr lang="en-US" sz="1300" dirty="0"/>
          </a:p>
        </p:txBody>
      </p:sp>
      <p:sp>
        <p:nvSpPr>
          <p:cNvPr id="17" name="Text 14"/>
          <p:cNvSpPr txBox="1"/>
          <p:nvPr/>
        </p:nvSpPr>
        <p:spPr>
          <a:xfrm>
            <a:off x="8001000" y="4754880"/>
            <a:ext cx="3383280" cy="365760"/>
          </a:xfrm>
          <a:prstGeom prst="rect">
            <a:avLst/>
          </a:prstGeom>
          <a:noFill/>
          <a:ln/>
        </p:spPr>
        <p:txBody>
          <a:bodyPr wrap="square" lIns="0" tIns="0" rIns="0" bIns="0" rtlCol="0" anchor="t"/>
          <a:lstStyle/>
          <a:p>
            <a:pPr indent="0" marL="0">
              <a:buNone/>
            </a:pPr>
            <a:r>
              <a:rPr lang="en-US" sz="1600" b="1" dirty="0">
                <a:solidFill>
                  <a:schemeClr val="accent1"/>
                </a:solidFill>
              </a:rPr>
              <a:t>First step</a:t>
            </a:r>
            <a:endParaRPr lang="en-US" sz="1600" dirty="0"/>
          </a:p>
        </p:txBody>
      </p:sp>
      <p:sp>
        <p:nvSpPr>
          <p:cNvPr id="18" name="Text 15"/>
          <p:cNvSpPr txBox="1"/>
          <p:nvPr/>
        </p:nvSpPr>
        <p:spPr>
          <a:xfrm>
            <a:off x="8001000" y="5120640"/>
            <a:ext cx="3429000" cy="777240"/>
          </a:xfrm>
          <a:prstGeom prst="rect">
            <a:avLst/>
          </a:prstGeom>
          <a:noFill/>
          <a:ln/>
        </p:spPr>
        <p:txBody>
          <a:bodyPr wrap="square" lIns="0" tIns="0" rIns="0" bIns="0" rtlCol="0" anchor="t"/>
          <a:lstStyle/>
          <a:p>
            <a:pPr indent="0" marL="0">
              <a:buNone/>
            </a:pPr>
            <a:r>
              <a:rPr lang="en-US" sz="1300" dirty="0">
                <a:solidFill>
                  <a:schemeClr val="bg1"/>
                </a:solidFill>
              </a:rPr>
              <a:t>Screen 2 to 3 acquirable platforms with contracted capacity, and a joint venture partner for capital</a:t>
            </a:r>
            <a:endParaRPr lang="en-US" sz="1300" dirty="0"/>
          </a:p>
        </p:txBody>
      </p:sp>
      <p:sp>
        <p:nvSpPr>
          <p:cNvPr id="19" name="Text 16"/>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Context: data-center vacancy near record lows and multi-year grid connection queues (preliminary research).</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Strategic options to keep warm</a:t>
            </a:r>
            <a:endParaRPr lang="en-US" sz="2800" dirty="0"/>
          </a:p>
        </p:txBody>
      </p:sp>
      <p:sp>
        <p:nvSpPr>
          <p:cNvPr id="3" name="Option card 5"/>
          <p:cNvSpPr/>
          <p:nvPr/>
        </p:nvSpPr>
        <p:spPr>
          <a:xfrm>
            <a:off x="548640" y="1371600"/>
            <a:ext cx="3520440" cy="4480560"/>
          </a:xfrm>
          <a:prstGeom prst="roundRect">
            <a:avLst>
              <a:gd name="adj" fmla="val 3117"/>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4" name="5. Acquire a multi-tenant platform circle"/>
          <p:cNvSpPr/>
          <p:nvPr/>
        </p:nvSpPr>
        <p:spPr>
          <a:xfrm>
            <a:off x="822960" y="1645920"/>
            <a:ext cx="822960" cy="822960"/>
          </a:xfrm>
          <a:prstGeom prst="ellipse">
            <a:avLst/>
          </a:prstGeom>
          <a:solidFill>
            <a:srgbClr val="8AA1B8"/>
          </a:solidFill>
          <a:ln w="12700">
            <a:solidFill>
              <a:srgbClr val="8AA1B8"/>
            </a:solidFill>
            <a:prstDash val="solid"/>
          </a:ln>
        </p:spPr>
      </p:sp>
      <p:pic>
        <p:nvPicPr>
          <p:cNvPr id="5" name="5. Acquire a multi-tenant platform icon" descr="5. Acquire a multi-tenant platform">    </p:cNvPr>
          <p:cNvPicPr>
            <a:picLocks noChangeAspect="1"/>
          </p:cNvPicPr>
          <p:nvPr/>
        </p:nvPicPr>
        <p:blipFill>
          <a:blip r:embed="rId1"/>
          <a:stretch>
            <a:fillRect/>
          </a:stretch>
        </p:blipFill>
        <p:spPr>
          <a:xfrm>
            <a:off x="1028700" y="1851660"/>
            <a:ext cx="411480" cy="411480"/>
          </a:xfrm>
          <a:prstGeom prst="rect">
            <a:avLst/>
          </a:prstGeom>
        </p:spPr>
      </p:pic>
      <p:sp>
        <p:nvSpPr>
          <p:cNvPr id="6" name="Text 3"/>
          <p:cNvSpPr txBox="1"/>
          <p:nvPr/>
        </p:nvSpPr>
        <p:spPr>
          <a:xfrm>
            <a:off x="822960" y="2697480"/>
            <a:ext cx="3017520" cy="8229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5. Acquire a multi-tenant platform</a:t>
            </a:r>
            <a:endParaRPr lang="en-US" sz="1800" dirty="0"/>
          </a:p>
        </p:txBody>
      </p:sp>
      <p:sp>
        <p:nvSpPr>
          <p:cNvPr id="7" name="Text 4"/>
          <p:cNvSpPr txBox="1"/>
          <p:nvPr/>
        </p:nvSpPr>
        <p:spPr>
          <a:xfrm>
            <a:off x="822960" y="3566160"/>
            <a:ext cx="3017520" cy="2194560"/>
          </a:xfrm>
          <a:prstGeom prst="rect">
            <a:avLst/>
          </a:prstGeom>
          <a:noFill/>
          <a:ln/>
        </p:spPr>
        <p:txBody>
          <a:bodyPr wrap="square" lIns="0" tIns="0" rIns="0" bIns="0" rtlCol="0" anchor="t"/>
          <a:lstStyle/>
          <a:p>
            <a:pPr indent="0" marL="0">
              <a:buNone/>
            </a:pPr>
            <a:r>
              <a:rPr lang="en-US" sz="1400" dirty="0">
                <a:solidFill>
                  <a:schemeClr val="tx1"/>
                </a:solidFill>
              </a:rPr>
              <a:t>Buy a ready-made platform (data center, fiber or indoor network) with existing tenants, as American Tower did with CoreSite. The fastest route to scale.</a:t>
            </a:r>
            <a:endParaRPr lang="en-US" sz="1400" dirty="0"/>
          </a:p>
        </p:txBody>
      </p:sp>
      <p:sp>
        <p:nvSpPr>
          <p:cNvPr id="8" name="Option card 6"/>
          <p:cNvSpPr/>
          <p:nvPr/>
        </p:nvSpPr>
        <p:spPr>
          <a:xfrm>
            <a:off x="4297680" y="1371600"/>
            <a:ext cx="3520440" cy="4480560"/>
          </a:xfrm>
          <a:prstGeom prst="roundRect">
            <a:avLst>
              <a:gd name="adj" fmla="val 3117"/>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9" name="6. Edge and AI-RAN compute hubs circle"/>
          <p:cNvSpPr/>
          <p:nvPr/>
        </p:nvSpPr>
        <p:spPr>
          <a:xfrm>
            <a:off x="4572000" y="1645920"/>
            <a:ext cx="822960" cy="822960"/>
          </a:xfrm>
          <a:prstGeom prst="ellipse">
            <a:avLst/>
          </a:prstGeom>
          <a:solidFill>
            <a:srgbClr val="8AA1B8"/>
          </a:solidFill>
          <a:ln w="12700">
            <a:solidFill>
              <a:srgbClr val="8AA1B8"/>
            </a:solidFill>
            <a:prstDash val="solid"/>
          </a:ln>
        </p:spPr>
      </p:sp>
      <p:pic>
        <p:nvPicPr>
          <p:cNvPr id="10" name="6. Edge and AI-RAN compute hubs icon" descr="6. Edge and AI-RAN compute hubs">    </p:cNvPr>
          <p:cNvPicPr>
            <a:picLocks noChangeAspect="1"/>
          </p:cNvPicPr>
          <p:nvPr/>
        </p:nvPicPr>
        <p:blipFill>
          <a:blip r:embed="rId2"/>
          <a:stretch>
            <a:fillRect/>
          </a:stretch>
        </p:blipFill>
        <p:spPr>
          <a:xfrm>
            <a:off x="4777740" y="1851660"/>
            <a:ext cx="411480" cy="411480"/>
          </a:xfrm>
          <a:prstGeom prst="rect">
            <a:avLst/>
          </a:prstGeom>
        </p:spPr>
      </p:pic>
      <p:sp>
        <p:nvSpPr>
          <p:cNvPr id="11" name="Text 7"/>
          <p:cNvSpPr txBox="1"/>
          <p:nvPr/>
        </p:nvSpPr>
        <p:spPr>
          <a:xfrm>
            <a:off x="4572000" y="2697480"/>
            <a:ext cx="3017520" cy="8229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6. Edge and AI-RAN compute hubs</a:t>
            </a:r>
            <a:endParaRPr lang="en-US" sz="1800" dirty="0"/>
          </a:p>
        </p:txBody>
      </p:sp>
      <p:sp>
        <p:nvSpPr>
          <p:cNvPr id="12" name="Text 8"/>
          <p:cNvSpPr txBox="1"/>
          <p:nvPr/>
        </p:nvSpPr>
        <p:spPr>
          <a:xfrm>
            <a:off x="4572000" y="3566160"/>
            <a:ext cx="3017520" cy="2194560"/>
          </a:xfrm>
          <a:prstGeom prst="rect">
            <a:avLst/>
          </a:prstGeom>
          <a:noFill/>
          <a:ln/>
        </p:spPr>
        <p:txBody>
          <a:bodyPr wrap="square" lIns="0" tIns="0" rIns="0" bIns="0" rtlCol="0" anchor="t"/>
          <a:lstStyle/>
          <a:p>
            <a:pPr indent="0" marL="0">
              <a:buNone/>
            </a:pPr>
            <a:r>
              <a:rPr lang="en-US" sz="1400" dirty="0">
                <a:solidFill>
                  <a:schemeClr val="tx1"/>
                </a:solidFill>
              </a:rPr>
              <a:t>Prefabricated powered pods at aggregation sites for AI inference and AI-RAN, leased per kW. An option on the 6G cycle around 2030.</a:t>
            </a:r>
            <a:endParaRPr lang="en-US" sz="1400" dirty="0"/>
          </a:p>
        </p:txBody>
      </p:sp>
      <p:sp>
        <p:nvSpPr>
          <p:cNvPr id="13" name="Option card 7"/>
          <p:cNvSpPr/>
          <p:nvPr/>
        </p:nvSpPr>
        <p:spPr>
          <a:xfrm>
            <a:off x="8046720" y="1371600"/>
            <a:ext cx="3520440" cy="4480560"/>
          </a:xfrm>
          <a:prstGeom prst="roundRect">
            <a:avLst>
              <a:gd name="adj" fmla="val 3117"/>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14" name="7. Neutral satellite gateways circle"/>
          <p:cNvSpPr/>
          <p:nvPr/>
        </p:nvSpPr>
        <p:spPr>
          <a:xfrm>
            <a:off x="8321040" y="1645920"/>
            <a:ext cx="822960" cy="822960"/>
          </a:xfrm>
          <a:prstGeom prst="ellipse">
            <a:avLst/>
          </a:prstGeom>
          <a:solidFill>
            <a:srgbClr val="8AA1B8"/>
          </a:solidFill>
          <a:ln w="12700">
            <a:solidFill>
              <a:srgbClr val="8AA1B8"/>
            </a:solidFill>
            <a:prstDash val="solid"/>
          </a:ln>
        </p:spPr>
      </p:sp>
      <p:pic>
        <p:nvPicPr>
          <p:cNvPr id="15" name="7. Neutral satellite gateways icon" descr="7. Neutral satellite gateways">    </p:cNvPr>
          <p:cNvPicPr>
            <a:picLocks noChangeAspect="1"/>
          </p:cNvPicPr>
          <p:nvPr/>
        </p:nvPicPr>
        <p:blipFill>
          <a:blip r:embed="rId3"/>
          <a:stretch>
            <a:fillRect/>
          </a:stretch>
        </p:blipFill>
        <p:spPr>
          <a:xfrm>
            <a:off x="8526780" y="1851660"/>
            <a:ext cx="411480" cy="411480"/>
          </a:xfrm>
          <a:prstGeom prst="rect">
            <a:avLst/>
          </a:prstGeom>
        </p:spPr>
      </p:pic>
      <p:sp>
        <p:nvSpPr>
          <p:cNvPr id="16" name="Text 11"/>
          <p:cNvSpPr txBox="1"/>
          <p:nvPr/>
        </p:nvSpPr>
        <p:spPr>
          <a:xfrm>
            <a:off x="8321040" y="2697480"/>
            <a:ext cx="3017520" cy="8229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7. Neutral satellite gateways</a:t>
            </a:r>
            <a:endParaRPr lang="en-US" sz="1800" dirty="0"/>
          </a:p>
        </p:txBody>
      </p:sp>
      <p:sp>
        <p:nvSpPr>
          <p:cNvPr id="17" name="Text 12"/>
          <p:cNvSpPr txBox="1"/>
          <p:nvPr/>
        </p:nvSpPr>
        <p:spPr>
          <a:xfrm>
            <a:off x="8321040" y="3566160"/>
            <a:ext cx="3017520" cy="2194560"/>
          </a:xfrm>
          <a:prstGeom prst="rect">
            <a:avLst/>
          </a:prstGeom>
          <a:noFill/>
          <a:ln/>
        </p:spPr>
        <p:txBody>
          <a:bodyPr wrap="square" lIns="0" tIns="0" rIns="0" bIns="0" rtlCol="0" anchor="t"/>
          <a:lstStyle/>
          <a:p>
            <a:pPr indent="0" marL="0">
              <a:buNone/>
            </a:pPr>
            <a:r>
              <a:rPr lang="en-US" sz="1400" dirty="0">
                <a:solidFill>
                  <a:schemeClr val="tx1"/>
                </a:solidFill>
              </a:rPr>
              <a:t>Shared ground stations for LEO and direct-to-device constellations on large sites, rented per antenna position. A hedge against satellite disruption.</a:t>
            </a:r>
            <a:endParaRPr lang="en-US" sz="1400" dirty="0"/>
          </a:p>
        </p:txBody>
      </p:sp>
      <p:sp>
        <p:nvSpPr>
          <p:cNvPr id="18" name="Text 13"/>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i="1" dirty="0">
                <a:solidFill>
                  <a:schemeClr val="accent3"/>
                </a:solidFill>
              </a:rPr>
              <a:t>Sources: American Tower (CoreSite, 2021); Nokia and Nvidia AI-RAN plans (2026); KSAT and AWS Ground Station as shared-gateway precedents.</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Recommended path</a:t>
            </a:r>
            <a:endParaRPr lang="en-US" sz="2800" dirty="0"/>
          </a:p>
        </p:txBody>
      </p:sp>
      <p:sp>
        <p:nvSpPr>
          <p:cNvPr id="3" name="Phase card 1"/>
          <p:cNvSpPr/>
          <p:nvPr/>
        </p:nvSpPr>
        <p:spPr>
          <a:xfrm>
            <a:off x="548640" y="1417320"/>
            <a:ext cx="3520440" cy="3291840"/>
          </a:xfrm>
          <a:prstGeom prst="roundRect">
            <a:avLst>
              <a:gd name="adj" fmla="val 3333"/>
            </a:avLst>
          </a:prstGeom>
          <a:solidFill>
            <a:srgbClr val="14213D"/>
          </a:solidFill>
          <a:ln w="12700">
            <a:solidFill>
              <a:srgbClr val="14213D"/>
            </a:solidFill>
            <a:prstDash val="solid"/>
          </a:ln>
          <a:effectLst>
            <a:outerShdw sx="100000" sy="100000" kx="0" ky="0" algn="bl" rotWithShape="0" blurRad="76200" dist="25400" dir="5400000">
              <a:srgbClr val="9AA5B1">
                <a:alpha val="25000"/>
              </a:srgbClr>
            </a:outerShdw>
          </a:effectLst>
        </p:spPr>
      </p:sp>
      <p:sp>
        <p:nvSpPr>
          <p:cNvPr id="4" name="Text 2"/>
          <p:cNvSpPr txBox="1"/>
          <p:nvPr/>
        </p:nvSpPr>
        <p:spPr>
          <a:xfrm>
            <a:off x="822960" y="1645920"/>
            <a:ext cx="3017520" cy="365760"/>
          </a:xfrm>
          <a:prstGeom prst="rect">
            <a:avLst/>
          </a:prstGeom>
          <a:noFill/>
          <a:ln/>
        </p:spPr>
        <p:txBody>
          <a:bodyPr wrap="square" lIns="0" tIns="0" rIns="0" bIns="0" rtlCol="0" anchor="t"/>
          <a:lstStyle/>
          <a:p>
            <a:pPr indent="0" marL="0">
              <a:buNone/>
            </a:pPr>
            <a:r>
              <a:rPr lang="en-US" sz="1400" b="1" dirty="0">
                <a:solidFill>
                  <a:schemeClr val="accent5"/>
                </a:solidFill>
              </a:rPr>
              <a:t>0 to 12 months</a:t>
            </a:r>
            <a:endParaRPr lang="en-US" sz="1400" dirty="0"/>
          </a:p>
        </p:txBody>
      </p:sp>
      <p:sp>
        <p:nvSpPr>
          <p:cNvPr id="5" name="Text 3"/>
          <p:cNvSpPr txBox="1"/>
          <p:nvPr/>
        </p:nvSpPr>
        <p:spPr>
          <a:xfrm>
            <a:off x="822960" y="2011680"/>
            <a:ext cx="3017520" cy="64008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Prove</a:t>
            </a:r>
            <a:endParaRPr lang="en-US" sz="2800" dirty="0"/>
          </a:p>
        </p:txBody>
      </p:sp>
      <p:sp>
        <p:nvSpPr>
          <p:cNvPr id="6" name="Text 4"/>
          <p:cNvSpPr txBox="1"/>
          <p:nvPr/>
        </p:nvSpPr>
        <p:spPr>
          <a:xfrm>
            <a:off x="822960" y="2788920"/>
            <a:ext cx="3017520" cy="1783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Site platform: 3 pilot master agreements</a:t>
            </a:r>
            <a:endParaRPr lang="en-US" sz="1500" dirty="0"/>
          </a:p>
          <a:p>
            <a:pPr marL="342900" indent="-342900">
              <a:spcAft>
                <a:spcPts val="1000"/>
              </a:spcAft>
              <a:buSzPct val="100000"/>
              <a:buChar char="•"/>
            </a:pPr>
            <a:r>
              <a:rPr lang="en-US" sz="1500" dirty="0">
                <a:solidFill>
                  <a:schemeClr val="bg1"/>
                </a:solidFill>
              </a:rPr>
              <a:t>Energy-as-a-Service: 500-site pilot</a:t>
            </a:r>
            <a:endParaRPr lang="en-US" sz="1500" dirty="0"/>
          </a:p>
          <a:p>
            <a:pPr marL="342900" indent="-342900">
              <a:spcAft>
                <a:spcPts val="1000"/>
              </a:spcAft>
              <a:buSzPct val="100000"/>
              <a:buChar char="•"/>
            </a:pPr>
            <a:r>
              <a:rPr lang="en-US" sz="1500" dirty="0">
                <a:solidFill>
                  <a:schemeClr val="bg1"/>
                </a:solidFill>
              </a:rPr>
              <a:t>Build the captive-asset map</a:t>
            </a:r>
            <a:endParaRPr lang="en-US" sz="1500" dirty="0"/>
          </a:p>
        </p:txBody>
      </p:sp>
      <p:sp>
        <p:nvSpPr>
          <p:cNvPr id="7" name="Phase arrow 1"/>
          <p:cNvSpPr/>
          <p:nvPr/>
        </p:nvSpPr>
        <p:spPr>
          <a:xfrm>
            <a:off x="4096512" y="2852928"/>
            <a:ext cx="182880" cy="411480"/>
          </a:xfrm>
          <a:prstGeom prst="chevron">
            <a:avLst/>
          </a:prstGeom>
          <a:solidFill>
            <a:srgbClr val="F4A300"/>
          </a:solidFill>
          <a:ln w="12700">
            <a:solidFill>
              <a:srgbClr val="F4A300"/>
            </a:solidFill>
            <a:prstDash val="solid"/>
          </a:ln>
        </p:spPr>
      </p:sp>
      <p:sp>
        <p:nvSpPr>
          <p:cNvPr id="8" name="Phase card 2"/>
          <p:cNvSpPr/>
          <p:nvPr/>
        </p:nvSpPr>
        <p:spPr>
          <a:xfrm>
            <a:off x="4297680" y="1417320"/>
            <a:ext cx="3520440" cy="3291840"/>
          </a:xfrm>
          <a:prstGeom prst="roundRect">
            <a:avLst>
              <a:gd name="adj" fmla="val 3333"/>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9" name="Text 7"/>
          <p:cNvSpPr txBox="1"/>
          <p:nvPr/>
        </p:nvSpPr>
        <p:spPr>
          <a:xfrm>
            <a:off x="4572000" y="1645920"/>
            <a:ext cx="3017520" cy="365760"/>
          </a:xfrm>
          <a:prstGeom prst="rect">
            <a:avLst/>
          </a:prstGeom>
          <a:noFill/>
          <a:ln/>
        </p:spPr>
        <p:txBody>
          <a:bodyPr wrap="square" lIns="0" tIns="0" rIns="0" bIns="0" rtlCol="0" anchor="t"/>
          <a:lstStyle/>
          <a:p>
            <a:pPr indent="0" marL="0">
              <a:buNone/>
            </a:pPr>
            <a:r>
              <a:rPr lang="en-US" sz="1400" b="1" dirty="0">
                <a:solidFill>
                  <a:schemeClr val="accent3"/>
                </a:solidFill>
              </a:rPr>
              <a:t>12 to 36 months</a:t>
            </a:r>
            <a:endParaRPr lang="en-US" sz="1400" dirty="0"/>
          </a:p>
        </p:txBody>
      </p:sp>
      <p:sp>
        <p:nvSpPr>
          <p:cNvPr id="10" name="Text 8"/>
          <p:cNvSpPr txBox="1"/>
          <p:nvPr/>
        </p:nvSpPr>
        <p:spPr>
          <a:xfrm>
            <a:off x="4572000" y="2011680"/>
            <a:ext cx="3017520" cy="64008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Scale</a:t>
            </a:r>
            <a:endParaRPr lang="en-US" sz="2800" dirty="0"/>
          </a:p>
        </p:txBody>
      </p:sp>
      <p:sp>
        <p:nvSpPr>
          <p:cNvPr id="11" name="Text 9"/>
          <p:cNvSpPr txBox="1"/>
          <p:nvPr/>
        </p:nvSpPr>
        <p:spPr>
          <a:xfrm>
            <a:off x="4572000" y="2788920"/>
            <a:ext cx="3017520" cy="1783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Roll out the winning pilots across markets</a:t>
            </a:r>
            <a:endParaRPr lang="en-US" sz="1500" dirty="0"/>
          </a:p>
          <a:p>
            <a:pPr marL="342900" indent="-342900">
              <a:spcAft>
                <a:spcPts val="1000"/>
              </a:spcAft>
              <a:buSzPct val="100000"/>
              <a:buChar char="•"/>
            </a:pPr>
            <a:r>
              <a:rPr lang="en-US" sz="1500" dirty="0">
                <a:solidFill>
                  <a:schemeClr val="tx1"/>
                </a:solidFill>
              </a:rPr>
              <a:t>First HubCo portfolio, starting with Millicom</a:t>
            </a:r>
            <a:endParaRPr lang="en-US" sz="1500" dirty="0"/>
          </a:p>
          <a:p>
            <a:pPr marL="342900" indent="-342900">
              <a:spcAft>
                <a:spcPts val="1000"/>
              </a:spcAft>
              <a:buSzPct val="100000"/>
              <a:buChar char="•"/>
            </a:pPr>
            <a:r>
              <a:rPr lang="en-US" sz="1500" dirty="0">
                <a:solidFill>
                  <a:schemeClr val="tx1"/>
                </a:solidFill>
              </a:rPr>
              <a:t>Partner and capital for powered land</a:t>
            </a:r>
            <a:endParaRPr lang="en-US" sz="1500" dirty="0"/>
          </a:p>
        </p:txBody>
      </p:sp>
      <p:sp>
        <p:nvSpPr>
          <p:cNvPr id="12" name="Phase arrow 2"/>
          <p:cNvSpPr/>
          <p:nvPr/>
        </p:nvSpPr>
        <p:spPr>
          <a:xfrm>
            <a:off x="7845552" y="2852928"/>
            <a:ext cx="182880" cy="411480"/>
          </a:xfrm>
          <a:prstGeom prst="chevron">
            <a:avLst/>
          </a:prstGeom>
          <a:solidFill>
            <a:srgbClr val="F4A300"/>
          </a:solidFill>
          <a:ln w="12700">
            <a:solidFill>
              <a:srgbClr val="F4A300"/>
            </a:solidFill>
            <a:prstDash val="solid"/>
          </a:ln>
        </p:spPr>
      </p:sp>
      <p:sp>
        <p:nvSpPr>
          <p:cNvPr id="13" name="Phase card 3"/>
          <p:cNvSpPr/>
          <p:nvPr/>
        </p:nvSpPr>
        <p:spPr>
          <a:xfrm>
            <a:off x="8046720" y="1417320"/>
            <a:ext cx="3520440" cy="3291840"/>
          </a:xfrm>
          <a:prstGeom prst="roundRect">
            <a:avLst>
              <a:gd name="adj" fmla="val 3333"/>
            </a:avLst>
          </a:prstGeom>
          <a:solidFill>
            <a:srgbClr val="EEF1F5"/>
          </a:solidFill>
          <a:ln w="12700">
            <a:solidFill>
              <a:srgbClr val="EEF1F5"/>
            </a:solidFill>
            <a:prstDash val="solid"/>
          </a:ln>
          <a:effectLst>
            <a:outerShdw sx="100000" sy="100000" kx="0" ky="0" algn="bl" rotWithShape="0" blurRad="76200" dist="25400" dir="5400000">
              <a:srgbClr val="9AA5B1">
                <a:alpha val="25000"/>
              </a:srgbClr>
            </a:outerShdw>
          </a:effectLst>
        </p:spPr>
      </p:sp>
      <p:sp>
        <p:nvSpPr>
          <p:cNvPr id="14" name="Text 12"/>
          <p:cNvSpPr txBox="1"/>
          <p:nvPr/>
        </p:nvSpPr>
        <p:spPr>
          <a:xfrm>
            <a:off x="8321040" y="1645920"/>
            <a:ext cx="3017520" cy="365760"/>
          </a:xfrm>
          <a:prstGeom prst="rect">
            <a:avLst/>
          </a:prstGeom>
          <a:noFill/>
          <a:ln/>
        </p:spPr>
        <p:txBody>
          <a:bodyPr wrap="square" lIns="0" tIns="0" rIns="0" bIns="0" rtlCol="0" anchor="t"/>
          <a:lstStyle/>
          <a:p>
            <a:pPr indent="0" marL="0">
              <a:buNone/>
            </a:pPr>
            <a:r>
              <a:rPr lang="en-US" sz="1400" b="1" dirty="0">
                <a:solidFill>
                  <a:schemeClr val="accent3"/>
                </a:solidFill>
              </a:rPr>
              <a:t>36+ months</a:t>
            </a:r>
            <a:endParaRPr lang="en-US" sz="1400" dirty="0"/>
          </a:p>
        </p:txBody>
      </p:sp>
      <p:sp>
        <p:nvSpPr>
          <p:cNvPr id="15" name="Text 13"/>
          <p:cNvSpPr txBox="1"/>
          <p:nvPr/>
        </p:nvSpPr>
        <p:spPr>
          <a:xfrm>
            <a:off x="8321040" y="2011680"/>
            <a:ext cx="3017520" cy="640080"/>
          </a:xfrm>
          <a:prstGeom prst="rect">
            <a:avLst/>
          </a:prstGeom>
          <a:noFill/>
          <a:ln/>
        </p:spPr>
        <p:txBody>
          <a:bodyPr wrap="square" lIns="0" tIns="0" rIns="0" bIns="0" rtlCol="0" anchor="t"/>
          <a:lstStyle/>
          <a:p>
            <a:pPr indent="0" marL="0">
              <a:buNone/>
            </a:pPr>
            <a:r>
              <a:rPr lang="en-US" sz="2800" b="1" dirty="0">
                <a:solidFill>
                  <a:schemeClr val="tx2"/>
                </a:solidFill>
                <a:latin typeface="Cambria" pitchFamily="34" charset="0"/>
                <a:ea typeface="Cambria" pitchFamily="34" charset="-122"/>
                <a:cs typeface="Cambria" pitchFamily="34" charset="-120"/>
              </a:rPr>
              <a:t>Transform</a:t>
            </a:r>
            <a:endParaRPr lang="en-US" sz="2800" dirty="0"/>
          </a:p>
        </p:txBody>
      </p:sp>
      <p:sp>
        <p:nvSpPr>
          <p:cNvPr id="16" name="Text 14"/>
          <p:cNvSpPr txBox="1"/>
          <p:nvPr/>
        </p:nvSpPr>
        <p:spPr>
          <a:xfrm>
            <a:off x="8321040" y="2788920"/>
            <a:ext cx="3017520" cy="1783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Platform acquisition if the pilots confirm demand</a:t>
            </a:r>
            <a:endParaRPr lang="en-US" sz="1500" dirty="0"/>
          </a:p>
          <a:p>
            <a:pPr marL="342900" indent="-342900">
              <a:spcAft>
                <a:spcPts val="1000"/>
              </a:spcAft>
              <a:buSzPct val="100000"/>
              <a:buChar char="•"/>
            </a:pPr>
            <a:r>
              <a:rPr lang="en-US" sz="1500" dirty="0">
                <a:solidFill>
                  <a:schemeClr val="tx1"/>
                </a:solidFill>
              </a:rPr>
              <a:t>Edge and AI-RAN hubs with the 6G cycle</a:t>
            </a:r>
            <a:endParaRPr lang="en-US" sz="1500" dirty="0"/>
          </a:p>
          <a:p>
            <a:pPr marL="342900" indent="-342900">
              <a:spcAft>
                <a:spcPts val="1000"/>
              </a:spcAft>
              <a:buSzPct val="100000"/>
              <a:buChar char="•"/>
            </a:pPr>
            <a:r>
              <a:rPr lang="en-US" sz="1500" dirty="0">
                <a:solidFill>
                  <a:schemeClr val="tx1"/>
                </a:solidFill>
              </a:rPr>
              <a:t>Satellite gateways as constellations scale</a:t>
            </a:r>
            <a:endParaRPr lang="en-US" sz="1500" dirty="0"/>
          </a:p>
        </p:txBody>
      </p:sp>
      <p:sp>
        <p:nvSpPr>
          <p:cNvPr id="17" name="Gate banner"/>
          <p:cNvSpPr/>
          <p:nvPr/>
        </p:nvSpPr>
        <p:spPr>
          <a:xfrm>
            <a:off x="548640" y="4983480"/>
            <a:ext cx="11109960" cy="914400"/>
          </a:xfrm>
          <a:prstGeom prst="roundRect">
            <a:avLst>
              <a:gd name="adj" fmla="val 12000"/>
            </a:avLst>
          </a:prstGeom>
          <a:solidFill>
            <a:srgbClr val="F4A300"/>
          </a:solidFill>
          <a:ln w="12700">
            <a:solidFill>
              <a:srgbClr val="F4A300"/>
            </a:solidFill>
            <a:prstDash val="solid"/>
          </a:ln>
          <a:effectLst>
            <a:outerShdw sx="100000" sy="100000" kx="0" ky="0" algn="bl" rotWithShape="0" blurRad="76200" dist="25400" dir="5400000">
              <a:srgbClr val="9AA5B1">
                <a:alpha val="25000"/>
              </a:srgbClr>
            </a:outerShdw>
          </a:effectLst>
        </p:spPr>
      </p:sp>
      <p:sp>
        <p:nvSpPr>
          <p:cNvPr id="18" name="Evidence gate circle"/>
          <p:cNvSpPr/>
          <p:nvPr/>
        </p:nvSpPr>
        <p:spPr>
          <a:xfrm>
            <a:off x="777240" y="5120640"/>
            <a:ext cx="640080" cy="640080"/>
          </a:xfrm>
          <a:prstGeom prst="ellipse">
            <a:avLst/>
          </a:prstGeom>
          <a:solidFill>
            <a:srgbClr val="14213D"/>
          </a:solidFill>
          <a:ln w="12700">
            <a:solidFill>
              <a:srgbClr val="14213D"/>
            </a:solidFill>
            <a:prstDash val="solid"/>
          </a:ln>
        </p:spPr>
      </p:sp>
      <p:pic>
        <p:nvPicPr>
          <p:cNvPr id="19" name="Evidence gate icon" descr="Evidence gate">    </p:cNvPr>
          <p:cNvPicPr>
            <a:picLocks noChangeAspect="1"/>
          </p:cNvPicPr>
          <p:nvPr/>
        </p:nvPicPr>
        <p:blipFill>
          <a:blip r:embed="rId1"/>
          <a:stretch>
            <a:fillRect/>
          </a:stretch>
        </p:blipFill>
        <p:spPr>
          <a:xfrm>
            <a:off x="937260" y="5280660"/>
            <a:ext cx="320040" cy="320040"/>
          </a:xfrm>
          <a:prstGeom prst="rect">
            <a:avLst/>
          </a:prstGeom>
        </p:spPr>
      </p:pic>
      <p:sp>
        <p:nvSpPr>
          <p:cNvPr id="20" name="Text 17"/>
          <p:cNvSpPr txBox="1"/>
          <p:nvPr/>
        </p:nvSpPr>
        <p:spPr>
          <a:xfrm>
            <a:off x="1645920" y="5074920"/>
            <a:ext cx="9784080" cy="731520"/>
          </a:xfrm>
          <a:prstGeom prst="rect">
            <a:avLst/>
          </a:prstGeom>
          <a:noFill/>
          <a:ln/>
        </p:spPr>
        <p:txBody>
          <a:bodyPr wrap="square" lIns="0" tIns="0" rIns="0" bIns="0" rtlCol="0" anchor="ctr"/>
          <a:lstStyle/>
          <a:p>
            <a:pPr indent="0" marL="0">
              <a:buNone/>
            </a:pPr>
            <a:r>
              <a:rPr lang="en-US" sz="1600" b="1" dirty="0">
                <a:solidFill>
                  <a:schemeClr val="tx2"/>
                </a:solidFill>
              </a:rPr>
              <a:t>Each step is gated by real-world evidence: signed pilots, measured margins and a repeatable deployment cost. Large capital only follows proof.</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46304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Apply the tower playbook to a new asset</a:t>
            </a:r>
            <a:endParaRPr lang="en-US" sz="4400" dirty="0"/>
          </a:p>
        </p:txBody>
      </p:sp>
      <p:sp>
        <p:nvSpPr>
          <p:cNvPr id="3" name="Text 0"/>
          <p:cNvSpPr/>
          <p:nvPr>
            <p:ph idx="101" type="body" hasCustomPrompt="1"/>
          </p:nvPr>
        </p:nvSpPr>
        <p:spPr>
          <a:xfrm>
            <a:off x="731520" y="3611880"/>
            <a:ext cx="10515600" cy="1097280"/>
          </a:xfrm>
          <a:prstGeom prst="rect">
            <a:avLst/>
          </a:prstGeom>
          <a:noFill/>
          <a:ln/>
        </p:spPr>
        <p:txBody>
          <a:bodyPr wrap="square" rtlCol="0" anchor="t"/>
          <a:lstStyle/>
          <a:p>
            <a:pPr algn="l" indent="0" marL="0">
              <a:buNone/>
            </a:pPr>
            <a:r>
              <a:rPr lang="en-US" sz="2000" dirty="0">
                <a:solidFill>
                  <a:schemeClr val="accent1"/>
                </a:solidFill>
              </a:rPr>
              <a:t>Shared asset  |  Long contracts  |  Acquired scale</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Sources</a:t>
            </a:r>
            <a:endParaRPr lang="en-US" sz="2800" dirty="0"/>
          </a:p>
        </p:txBody>
      </p:sp>
      <p:sp>
        <p:nvSpPr>
          <p:cNvPr id="3" name="Text 1"/>
          <p:cNvSpPr txBox="1"/>
          <p:nvPr/>
        </p:nvSpPr>
        <p:spPr>
          <a:xfrm>
            <a:off x="548640" y="1371600"/>
            <a:ext cx="11064240" cy="4754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American Tower, Q4 and full-year 2025 results; SEC filings on Verizon (2015) and Telxius (2021) transactions</a:t>
            </a:r>
            <a:endParaRPr lang="en-US" sz="1400" dirty="0"/>
          </a:p>
          <a:p>
            <a:pPr marL="342900" indent="-342900">
              <a:spcAft>
                <a:spcPts val="600"/>
              </a:spcAft>
              <a:buSzPct val="100000"/>
              <a:buChar char="•"/>
            </a:pPr>
            <a:r>
              <a:rPr lang="en-US" sz="1400" dirty="0">
                <a:solidFill>
                  <a:schemeClr val="tx1"/>
                </a:solidFill>
              </a:rPr>
              <a:t>SBA Communications, Q4 2025 results and 2026 outlook; 2025 10-Q; Millicom transaction (2025)</a:t>
            </a:r>
            <a:endParaRPr lang="en-US" sz="1400" dirty="0"/>
          </a:p>
          <a:p>
            <a:pPr marL="342900" indent="-342900">
              <a:spcAft>
                <a:spcPts val="600"/>
              </a:spcAft>
              <a:buSzPct val="100000"/>
              <a:buChar char="•"/>
            </a:pPr>
            <a:r>
              <a:rPr lang="en-US" sz="1400" dirty="0">
                <a:solidFill>
                  <a:schemeClr val="tx1"/>
                </a:solidFill>
              </a:rPr>
              <a:t>Crown Castle: sale of fiber and small cells to Zayo and EQT (DCD, Wireless Estimator, 2025 to 2026)</a:t>
            </a:r>
            <a:endParaRPr lang="en-US" sz="1400" dirty="0"/>
          </a:p>
          <a:p>
            <a:pPr marL="342900" indent="-342900">
              <a:spcAft>
                <a:spcPts val="600"/>
              </a:spcAft>
              <a:buSzPct val="100000"/>
              <a:buChar char="•"/>
            </a:pPr>
            <a:r>
              <a:rPr lang="en-US" sz="1400" dirty="0">
                <a:solidFill>
                  <a:schemeClr val="tx1"/>
                </a:solidFill>
              </a:rPr>
              <a:t>Inside Towers and Wireless Estimator: 2026 tower organic growth and DISH/EchoStar terminations</a:t>
            </a:r>
            <a:endParaRPr lang="en-US" sz="1400" dirty="0"/>
          </a:p>
          <a:p>
            <a:pPr marL="342900" indent="-342900">
              <a:spcAft>
                <a:spcPts val="600"/>
              </a:spcAft>
              <a:buSzPct val="100000"/>
              <a:buChar char="•"/>
            </a:pPr>
            <a:r>
              <a:rPr lang="en-US" sz="1400" dirty="0">
                <a:solidFill>
                  <a:schemeClr val="tx1"/>
                </a:solidFill>
              </a:rPr>
              <a:t>Simply Safe Dividends: tower REIT share performance since 2022; Barclays downgrade (Yahoo Finance)</a:t>
            </a:r>
            <a:endParaRPr lang="en-US" sz="1400" dirty="0"/>
          </a:p>
          <a:p>
            <a:pPr marL="342900" indent="-342900">
              <a:spcAft>
                <a:spcPts val="600"/>
              </a:spcAft>
              <a:buSzPct val="100000"/>
              <a:buChar char="•"/>
            </a:pPr>
            <a:r>
              <a:rPr lang="en-US" sz="1400" dirty="0">
                <a:solidFill>
                  <a:schemeClr val="tx1"/>
                </a:solidFill>
              </a:rPr>
              <a:t>Dell'Oro (telecom capex 2023, RAN market 2026); TelecomLead (2026 capex outlook)</a:t>
            </a:r>
            <a:endParaRPr lang="en-US" sz="1400" dirty="0"/>
          </a:p>
          <a:p>
            <a:pPr marL="342900" indent="-342900">
              <a:spcAft>
                <a:spcPts val="600"/>
              </a:spcAft>
              <a:buSzPct val="100000"/>
              <a:buChar char="•"/>
            </a:pPr>
            <a:r>
              <a:rPr lang="en-US" sz="1400" dirty="0">
                <a:solidFill>
                  <a:schemeClr val="tx1"/>
                </a:solidFill>
              </a:rPr>
              <a:t>GSMA: 5G-era mobile network cost evolution; MarketsandMarkets: in-building wireless market</a:t>
            </a:r>
            <a:endParaRPr lang="en-US" sz="1400" dirty="0"/>
          </a:p>
          <a:p>
            <a:pPr marL="342900" indent="-342900">
              <a:spcAft>
                <a:spcPts val="600"/>
              </a:spcAft>
              <a:buSzPct val="100000"/>
              <a:buChar char="•"/>
            </a:pPr>
            <a:r>
              <a:rPr lang="en-US" sz="1400" dirty="0">
                <a:solidFill>
                  <a:schemeClr val="tx1"/>
                </a:solidFill>
              </a:rPr>
              <a:t>Nvidia GTC 2026 and Nokia AI-RAN announcements; Omdia AI-RAN forecast</a:t>
            </a:r>
            <a:endParaRPr lang="en-US" sz="1400" dirty="0"/>
          </a:p>
          <a:p>
            <a:pPr marL="342900" indent="-342900">
              <a:spcAft>
                <a:spcPts val="600"/>
              </a:spcAft>
              <a:buSzPct val="100000"/>
              <a:buChar char="•"/>
            </a:pPr>
            <a:r>
              <a:rPr lang="en-US" sz="1400" dirty="0">
                <a:solidFill>
                  <a:schemeClr val="tx1"/>
                </a:solidFill>
              </a:rPr>
              <a:t>Norton Rose Fulbright, Capacity and TowerXchange: tower sharing models and sale-leaseback structures</a:t>
            </a:r>
            <a:endParaRPr lang="en-US" sz="1400" dirty="0"/>
          </a:p>
          <a:p>
            <a:pPr marL="342900" indent="-342900">
              <a:spcAft>
                <a:spcPts val="600"/>
              </a:spcAft>
              <a:buSzPct val="100000"/>
              <a:buChar char="•"/>
            </a:pPr>
            <a:r>
              <a:rPr lang="en-US" sz="1400" dirty="0">
                <a:solidFill>
                  <a:schemeClr val="tx1"/>
                </a:solidFill>
              </a:rPr>
              <a:t>Christensen; O'Reilly and Tushman; Zook (Bain); McKinsey business-building research</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Signal Steel">
  <a:themeElements>
    <a:clrScheme name="Signal Steel">
      <a:dk1>
        <a:srgbClr val="1B1F24"/>
      </a:dk1>
      <a:lt1>
        <a:srgbClr val="FFFFFF"/>
      </a:lt1>
      <a:dk2>
        <a:srgbClr val="14213D"/>
      </a:dk2>
      <a:lt2>
        <a:srgbClr val="EEF1F5"/>
      </a:lt2>
      <a:accent1>
        <a:srgbClr val="F4A300"/>
      </a:accent1>
      <a:accent2>
        <a:srgbClr val="2A9D8F"/>
      </a:accent2>
      <a:accent3>
        <a:srgbClr val="5C6B7A"/>
      </a:accent3>
      <a:accent4>
        <a:srgbClr val="C8553D"/>
      </a:accent4>
      <a:accent5>
        <a:srgbClr val="8AA1B8"/>
      </a:accent5>
      <a:accent6>
        <a:srgbClr val="3D5A80"/>
      </a:accent6>
      <a:hlink>
        <a:srgbClr val="2A9D8F"/>
      </a:hlink>
      <a:folHlink>
        <a:srgbClr val="3D5A80"/>
      </a:folHlink>
    </a:clrScheme>
    <a:fontScheme name="Signal Ste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Tower Sharing</dc:title>
  <dc:subject>PptxGenJS Presentation</dc:subject>
  <dc:creator>Business Model Lab</dc:creator>
  <cp:lastModifiedBy>Business Model Lab</cp:lastModifiedBy>
  <cp:revision>1</cp:revision>
  <dcterms:created xsi:type="dcterms:W3CDTF">2026-10-06T12:34:17Z</dcterms:created>
  <dcterms:modified xsi:type="dcterms:W3CDTF">2026-10-06T12:34:17Z</dcterms:modified>
</cp:coreProperties>
</file>